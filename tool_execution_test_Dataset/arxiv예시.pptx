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g"/>
  <Override PartName="/ppt/media/image5.jpg" ContentType="image/jpg"/>
  <Override PartName="/ppt/media/image10.jpg" ContentType="image/jpg"/>
  <Override PartName="/ppt/media/image11.jpg" ContentType="image/jpg"/>
  <Override PartName="/ppt/media/image15.jpg" ContentType="image/jpg"/>
  <Override PartName="/ppt/media/image18.jpg" ContentType="image/jpg"/>
  <Override PartName="/ppt/media/image20.jpg" ContentType="image/jpg"/>
  <Override PartName="/ppt/media/image22.jpg" ContentType="image/jpg"/>
  <Override PartName="/ppt/media/image25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5.jpg" ContentType="image/jpg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3.jpg" ContentType="image/jpg"/>
  <Override PartName="/ppt/media/image56.jpg" ContentType="image/jpg"/>
  <Override PartName="/ppt/media/image57.jpg" ContentType="image/jpg"/>
  <Override PartName="/ppt/media/image58.jpg" ContentType="image/jpg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ppt/media/image68.jpg" ContentType="image/jpg"/>
  <Override PartName="/ppt/media/image69.jpg" ContentType="image/jpg"/>
  <Override PartName="/ppt/media/image70.jpg" ContentType="image/jpg"/>
  <Override PartName="/ppt/media/image71.jpg" ContentType="image/jpg"/>
  <Override PartName="/ppt/media/image72.jpg" ContentType="image/jpg"/>
  <Override PartName="/ppt/media/image73.jpg" ContentType="image/jpg"/>
  <Override PartName="/ppt/media/image74.jpg" ContentType="image/jpg"/>
  <Override PartName="/ppt/media/image75.jpg" ContentType="image/jpg"/>
  <Override PartName="/ppt/media/image76.jpg" ContentType="image/jpg"/>
  <Override PartName="/ppt/media/image77.jpg" ContentType="image/jpg"/>
  <Override PartName="/ppt/media/image78.jpg" ContentType="image/jpg"/>
  <Override PartName="/ppt/media/image79.jpg" ContentType="image/jpg"/>
  <Override PartName="/ppt/media/image81.jpg" ContentType="image/jpg"/>
  <Override PartName="/ppt/media/image82.jpg" ContentType="image/jpg"/>
  <Override PartName="/ppt/media/image83.jpg" ContentType="image/jpg"/>
  <Override PartName="/ppt/media/image84.jpg" ContentType="image/jpg"/>
  <Override PartName="/ppt/media/image85.jpg" ContentType="image/jpg"/>
  <Override PartName="/ppt/media/image86.jpg" ContentType="image/jpg"/>
  <Override PartName="/ppt/media/image87.jpg" ContentType="image/jpg"/>
  <Override PartName="/ppt/media/image88.jpg" ContentType="image/jpg"/>
  <Override PartName="/ppt/media/image90.jpg" ContentType="image/jpg"/>
  <Override PartName="/ppt/media/image91.jpg" ContentType="image/jpg"/>
  <Override PartName="/ppt/media/image92.jpg" ContentType="image/jpg"/>
  <Override PartName="/ppt/media/image94.jpg" ContentType="image/jpg"/>
  <Override PartName="/ppt/media/image97.jpg" ContentType="image/jpg"/>
  <Override PartName="/ppt/media/image98.jpg" ContentType="image/jpg"/>
  <Override PartName="/ppt/media/image99.jpg" ContentType="image/jpg"/>
  <Override PartName="/ppt/media/image100.jpg" ContentType="image/jpg"/>
  <Override PartName="/ppt/media/image101.jpg" ContentType="image/jpg"/>
  <Override PartName="/ppt/media/image102.jpg" ContentType="image/jpg"/>
  <Override PartName="/ppt/media/image103.jpg" ContentType="image/jpg"/>
  <Override PartName="/ppt/media/image104.jpg" ContentType="image/jpg"/>
  <Override PartName="/ppt/media/image105.jpg" ContentType="image/jpg"/>
  <Override PartName="/ppt/media/image106.jpg" ContentType="image/jpg"/>
  <Override PartName="/ppt/media/image107.jpg" ContentType="image/jpg"/>
  <Override PartName="/ppt/media/image108.jpg" ContentType="image/jpg"/>
  <Override PartName="/ppt/media/image109.jpg" ContentType="image/jpg"/>
  <Override PartName="/ppt/media/image110.jpg" ContentType="image/jpg"/>
  <Override PartName="/ppt/media/image111.jpg" ContentType="image/jpg"/>
  <Override PartName="/ppt/media/image112.jpg" ContentType="image/jpg"/>
  <Override PartName="/ppt/media/image113.jpg" ContentType="image/jpg"/>
  <Override PartName="/ppt/media/image114.jpg" ContentType="image/jpg"/>
  <Override PartName="/ppt/media/image115.jpg" ContentType="image/jpg"/>
  <Override PartName="/ppt/media/image116.jpg" ContentType="image/jpg"/>
  <Override PartName="/ppt/media/image117.jpg" ContentType="image/jpg"/>
  <Override PartName="/ppt/media/image118.jpg" ContentType="image/jpg"/>
  <Override PartName="/ppt/media/image119.jpg" ContentType="image/jpg"/>
  <Override PartName="/ppt/media/image120.jpg" ContentType="image/jpg"/>
  <Override PartName="/ppt/notesSlides/notesSlide1.xml" ContentType="application/vnd.openxmlformats-officedocument.presentationml.notesSlide+xml"/>
  <Override PartName="/ppt/media/image122.jpg" ContentType="image/jpg"/>
  <Override PartName="/ppt/media/image123.jpg" ContentType="image/jpg"/>
  <Override PartName="/ppt/media/image124.jpg" ContentType="image/jpg"/>
  <Override PartName="/ppt/media/image125.jpg" ContentType="image/jpg"/>
  <Override PartName="/ppt/media/image12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77" r:id="rId2"/>
    <p:sldId id="278" r:id="rId3"/>
    <p:sldId id="263" r:id="rId4"/>
    <p:sldId id="264" r:id="rId5"/>
    <p:sldId id="272" r:id="rId6"/>
    <p:sldId id="262" r:id="rId7"/>
    <p:sldId id="281" r:id="rId8"/>
    <p:sldId id="267" r:id="rId9"/>
    <p:sldId id="268" r:id="rId10"/>
    <p:sldId id="269" r:id="rId11"/>
    <p:sldId id="271" r:id="rId12"/>
    <p:sldId id="282" r:id="rId13"/>
    <p:sldId id="275" r:id="rId14"/>
    <p:sldId id="276" r:id="rId15"/>
    <p:sldId id="279" r:id="rId16"/>
    <p:sldId id="280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257" r:id="rId42"/>
    <p:sldId id="308" r:id="rId43"/>
    <p:sldId id="265" r:id="rId44"/>
    <p:sldId id="309" r:id="rId45"/>
    <p:sldId id="310" r:id="rId46"/>
    <p:sldId id="311" r:id="rId47"/>
    <p:sldId id="319" r:id="rId48"/>
    <p:sldId id="320" r:id="rId49"/>
    <p:sldId id="273" r:id="rId50"/>
    <p:sldId id="321" r:id="rId51"/>
    <p:sldId id="322" r:id="rId52"/>
    <p:sldId id="323" r:id="rId5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3" autoAdjust="0"/>
    <p:restoredTop sz="94660"/>
  </p:normalViewPr>
  <p:slideViewPr>
    <p:cSldViewPr>
      <p:cViewPr varScale="1">
        <p:scale>
          <a:sx n="104" d="100"/>
          <a:sy n="104" d="100"/>
        </p:scale>
        <p:origin x="4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3344A-DFC7-41F0-9BD5-F28930F620D9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1166A-3671-45E4-8E8C-CD72EC7653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519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345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0"/>
          <p:cNvGrpSpPr/>
          <p:nvPr/>
        </p:nvGrpSpPr>
        <p:grpSpPr>
          <a:xfrm>
            <a:off x="-50400" y="-49800"/>
            <a:ext cx="12292800" cy="6957600"/>
            <a:chOff x="-37800" y="-37350"/>
            <a:chExt cx="9219600" cy="5218200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0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974433" y="714200"/>
            <a:ext cx="10243200" cy="62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704600" y="2259700"/>
            <a:ext cx="8782800" cy="29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/>
            </a:lvl1pPr>
            <a:lvl2pPr marL="1219170" lvl="1" indent="-4402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○"/>
              <a:defRPr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■"/>
              <a:defRPr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●"/>
              <a:defRPr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○"/>
              <a:defRPr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■"/>
              <a:defRPr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●"/>
              <a:defRPr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○"/>
              <a:defRPr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9451700" y="-2159167"/>
            <a:ext cx="4804800" cy="48048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-3759200" y="2645633"/>
            <a:ext cx="8490800" cy="8490800"/>
          </a:xfrm>
          <a:prstGeom prst="ellipse">
            <a:avLst/>
          </a:prstGeom>
          <a:gradFill>
            <a:gsLst>
              <a:gs pos="0">
                <a:srgbClr val="187498">
                  <a:alpha val="4745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33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9740" y="1024890"/>
            <a:ext cx="3083560" cy="350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2465" y="1381823"/>
            <a:ext cx="10516870" cy="3296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308.02312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searchworld.com/innovations/the-human-effect-putting-ai-to-the-storytelling-test" TargetMode="External"/><Relationship Id="rId5" Type="http://schemas.openxmlformats.org/officeDocument/2006/relationships/hyperlink" Target="https://www.bcg.com/publications/2023/how-people-create-and-destroy-value-with-gen-ai" TargetMode="External"/><Relationship Id="rId4" Type="http://schemas.openxmlformats.org/officeDocument/2006/relationships/hyperlink" Target="https://www.bcg.com/publications/2023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10" Type="http://schemas.openxmlformats.org/officeDocument/2006/relationships/image" Target="../media/image34.jpg"/><Relationship Id="rId4" Type="http://schemas.openxmlformats.org/officeDocument/2006/relationships/image" Target="../media/image28.jpg"/><Relationship Id="rId9" Type="http://schemas.openxmlformats.org/officeDocument/2006/relationships/image" Target="../media/image3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13" Type="http://schemas.openxmlformats.org/officeDocument/2006/relationships/image" Target="../media/image52.png"/><Relationship Id="rId18" Type="http://schemas.openxmlformats.org/officeDocument/2006/relationships/image" Target="../media/image57.jpg"/><Relationship Id="rId3" Type="http://schemas.openxmlformats.org/officeDocument/2006/relationships/image" Target="../media/image42.jpg"/><Relationship Id="rId21" Type="http://schemas.openxmlformats.org/officeDocument/2006/relationships/image" Target="../media/image60.jpg"/><Relationship Id="rId7" Type="http://schemas.openxmlformats.org/officeDocument/2006/relationships/image" Target="../media/image46.jpg"/><Relationship Id="rId12" Type="http://schemas.openxmlformats.org/officeDocument/2006/relationships/image" Target="../media/image51.png"/><Relationship Id="rId17" Type="http://schemas.openxmlformats.org/officeDocument/2006/relationships/image" Target="../media/image56.jpg"/><Relationship Id="rId2" Type="http://schemas.openxmlformats.org/officeDocument/2006/relationships/image" Target="../media/image12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jp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jpg"/><Relationship Id="rId19" Type="http://schemas.openxmlformats.org/officeDocument/2006/relationships/image" Target="../media/image58.jpg"/><Relationship Id="rId4" Type="http://schemas.openxmlformats.org/officeDocument/2006/relationships/image" Target="../media/image43.png"/><Relationship Id="rId9" Type="http://schemas.openxmlformats.org/officeDocument/2006/relationships/image" Target="../media/image48.jpg"/><Relationship Id="rId14" Type="http://schemas.openxmlformats.org/officeDocument/2006/relationships/image" Target="../media/image53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image" Target="../media/image61.jpg"/><Relationship Id="rId7" Type="http://schemas.openxmlformats.org/officeDocument/2006/relationships/image" Target="../media/image6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jpg"/><Relationship Id="rId11" Type="http://schemas.openxmlformats.org/officeDocument/2006/relationships/image" Target="../media/image69.jpg"/><Relationship Id="rId5" Type="http://schemas.openxmlformats.org/officeDocument/2006/relationships/image" Target="../media/image63.jpg"/><Relationship Id="rId10" Type="http://schemas.openxmlformats.org/officeDocument/2006/relationships/image" Target="../media/image68.jpg"/><Relationship Id="rId4" Type="http://schemas.openxmlformats.org/officeDocument/2006/relationships/image" Target="../media/image62.jpg"/><Relationship Id="rId9" Type="http://schemas.openxmlformats.org/officeDocument/2006/relationships/image" Target="../media/image6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2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1.jpg"/><Relationship Id="rId5" Type="http://schemas.openxmlformats.org/officeDocument/2006/relationships/image" Target="../media/image80.png"/><Relationship Id="rId4" Type="http://schemas.openxmlformats.org/officeDocument/2006/relationships/image" Target="../media/image79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jpg"/><Relationship Id="rId5" Type="http://schemas.openxmlformats.org/officeDocument/2006/relationships/image" Target="../media/image87.jpg"/><Relationship Id="rId4" Type="http://schemas.openxmlformats.org/officeDocument/2006/relationships/image" Target="../media/image86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4.jpg"/><Relationship Id="rId4" Type="http://schemas.openxmlformats.org/officeDocument/2006/relationships/image" Target="../media/image9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.jpg"/><Relationship Id="rId5" Type="http://schemas.openxmlformats.org/officeDocument/2006/relationships/image" Target="../media/image100.jpg"/><Relationship Id="rId4" Type="http://schemas.openxmlformats.org/officeDocument/2006/relationships/image" Target="../media/image9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3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6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8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9.07118.pdf" TargetMode="External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2" Type="http://schemas.openxmlformats.org/officeDocument/2006/relationships/hyperlink" Target="https://proceedings.neurips.cc/paper_files/paper/2022/file/9d5609613524ecf4f15af0f7b31abca4-Paper-Conference.pdf" TargetMode="Externa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g"/><Relationship Id="rId2" Type="http://schemas.openxmlformats.org/officeDocument/2006/relationships/hyperlink" Target="http://www.aitimes.com/news/articleView.html?idxno=152588" TargetMode="Externa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jpg"/><Relationship Id="rId2" Type="http://schemas.openxmlformats.org/officeDocument/2006/relationships/hyperlink" Target="https://velog.io/%40mmodestaa/InstructGPT-ChatGPT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615" y="6618223"/>
            <a:ext cx="113436" cy="90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-9525"/>
            <a:ext cx="12192000" cy="887730"/>
            <a:chOff x="0" y="-9525"/>
            <a:chExt cx="12192000" cy="887730"/>
          </a:xfrm>
        </p:grpSpPr>
        <p:sp>
          <p:nvSpPr>
            <p:cNvPr id="5" name="object 5"/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6581775" y="4448175"/>
            <a:ext cx="4943475" cy="1571625"/>
          </a:xfrm>
          <a:custGeom>
            <a:avLst/>
            <a:gdLst/>
            <a:ahLst/>
            <a:cxnLst/>
            <a:rect l="l" t="t" r="r" b="b"/>
            <a:pathLst>
              <a:path w="4943475" h="1571625">
                <a:moveTo>
                  <a:pt x="4844796" y="0"/>
                </a:moveTo>
                <a:lnTo>
                  <a:pt x="98678" y="0"/>
                </a:lnTo>
                <a:lnTo>
                  <a:pt x="60275" y="7756"/>
                </a:lnTo>
                <a:lnTo>
                  <a:pt x="28908" y="28908"/>
                </a:lnTo>
                <a:lnTo>
                  <a:pt x="7756" y="60275"/>
                </a:lnTo>
                <a:lnTo>
                  <a:pt x="0" y="98679"/>
                </a:lnTo>
                <a:lnTo>
                  <a:pt x="0" y="1472907"/>
                </a:lnTo>
                <a:lnTo>
                  <a:pt x="7756" y="1511333"/>
                </a:lnTo>
                <a:lnTo>
                  <a:pt x="28908" y="1542711"/>
                </a:lnTo>
                <a:lnTo>
                  <a:pt x="60275" y="1563867"/>
                </a:lnTo>
                <a:lnTo>
                  <a:pt x="98678" y="1571625"/>
                </a:lnTo>
                <a:lnTo>
                  <a:pt x="4844796" y="1571625"/>
                </a:lnTo>
                <a:lnTo>
                  <a:pt x="4883199" y="1563867"/>
                </a:lnTo>
                <a:lnTo>
                  <a:pt x="4914566" y="1542711"/>
                </a:lnTo>
                <a:lnTo>
                  <a:pt x="4935718" y="1511333"/>
                </a:lnTo>
                <a:lnTo>
                  <a:pt x="4943475" y="1472907"/>
                </a:lnTo>
                <a:lnTo>
                  <a:pt x="4943475" y="98679"/>
                </a:lnTo>
                <a:lnTo>
                  <a:pt x="4935718" y="60275"/>
                </a:lnTo>
                <a:lnTo>
                  <a:pt x="4914566" y="28908"/>
                </a:lnTo>
                <a:lnTo>
                  <a:pt x="4883199" y="7756"/>
                </a:lnTo>
                <a:lnTo>
                  <a:pt x="4844796" y="0"/>
                </a:lnTo>
                <a:close/>
              </a:path>
            </a:pathLst>
          </a:custGeom>
          <a:solidFill>
            <a:srgbClr val="EE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72250" y="1800225"/>
            <a:ext cx="4924425" cy="2590800"/>
          </a:xfrm>
          <a:custGeom>
            <a:avLst/>
            <a:gdLst/>
            <a:ahLst/>
            <a:cxnLst/>
            <a:rect l="l" t="t" r="r" b="b"/>
            <a:pathLst>
              <a:path w="4924425" h="2590800">
                <a:moveTo>
                  <a:pt x="4761738" y="0"/>
                </a:moveTo>
                <a:lnTo>
                  <a:pt x="162686" y="0"/>
                </a:lnTo>
                <a:lnTo>
                  <a:pt x="119459" y="5815"/>
                </a:lnTo>
                <a:lnTo>
                  <a:pt x="80602" y="22225"/>
                </a:lnTo>
                <a:lnTo>
                  <a:pt x="47672" y="47672"/>
                </a:lnTo>
                <a:lnTo>
                  <a:pt x="22225" y="80602"/>
                </a:lnTo>
                <a:lnTo>
                  <a:pt x="5815" y="119459"/>
                </a:lnTo>
                <a:lnTo>
                  <a:pt x="0" y="162687"/>
                </a:lnTo>
                <a:lnTo>
                  <a:pt x="0" y="2428113"/>
                </a:lnTo>
                <a:lnTo>
                  <a:pt x="5815" y="2471340"/>
                </a:lnTo>
                <a:lnTo>
                  <a:pt x="22225" y="2510197"/>
                </a:lnTo>
                <a:lnTo>
                  <a:pt x="47672" y="2543127"/>
                </a:lnTo>
                <a:lnTo>
                  <a:pt x="80602" y="2568575"/>
                </a:lnTo>
                <a:lnTo>
                  <a:pt x="119459" y="2584984"/>
                </a:lnTo>
                <a:lnTo>
                  <a:pt x="162686" y="2590800"/>
                </a:lnTo>
                <a:lnTo>
                  <a:pt x="4761738" y="2590800"/>
                </a:lnTo>
                <a:lnTo>
                  <a:pt x="4804965" y="2584984"/>
                </a:lnTo>
                <a:lnTo>
                  <a:pt x="4843822" y="2568575"/>
                </a:lnTo>
                <a:lnTo>
                  <a:pt x="4876752" y="2543127"/>
                </a:lnTo>
                <a:lnTo>
                  <a:pt x="4902200" y="2510197"/>
                </a:lnTo>
                <a:lnTo>
                  <a:pt x="4918609" y="2471340"/>
                </a:lnTo>
                <a:lnTo>
                  <a:pt x="4924425" y="2428113"/>
                </a:lnTo>
                <a:lnTo>
                  <a:pt x="4924425" y="162687"/>
                </a:lnTo>
                <a:lnTo>
                  <a:pt x="4918609" y="119459"/>
                </a:lnTo>
                <a:lnTo>
                  <a:pt x="4902199" y="80602"/>
                </a:lnTo>
                <a:lnTo>
                  <a:pt x="4876752" y="47672"/>
                </a:lnTo>
                <a:lnTo>
                  <a:pt x="4843822" y="22225"/>
                </a:lnTo>
                <a:lnTo>
                  <a:pt x="4804965" y="5815"/>
                </a:lnTo>
                <a:lnTo>
                  <a:pt x="4761738" y="0"/>
                </a:lnTo>
                <a:close/>
              </a:path>
            </a:pathLst>
          </a:custGeom>
          <a:solidFill>
            <a:srgbClr val="EE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9379" y="406526"/>
            <a:ext cx="2018030" cy="286385"/>
          </a:xfrm>
          <a:custGeom>
            <a:avLst/>
            <a:gdLst/>
            <a:ahLst/>
            <a:cxnLst/>
            <a:rect l="l" t="t" r="r" b="b"/>
            <a:pathLst>
              <a:path w="2018030" h="286384">
                <a:moveTo>
                  <a:pt x="1152207" y="213740"/>
                </a:moveTo>
                <a:lnTo>
                  <a:pt x="885825" y="213740"/>
                </a:lnTo>
                <a:lnTo>
                  <a:pt x="885825" y="244348"/>
                </a:lnTo>
                <a:lnTo>
                  <a:pt x="1152207" y="244348"/>
                </a:lnTo>
                <a:lnTo>
                  <a:pt x="1152207" y="213740"/>
                </a:lnTo>
                <a:close/>
              </a:path>
              <a:path w="2018030" h="286384">
                <a:moveTo>
                  <a:pt x="1922843" y="166370"/>
                </a:moveTo>
                <a:lnTo>
                  <a:pt x="1883360" y="170561"/>
                </a:lnTo>
                <a:lnTo>
                  <a:pt x="1842403" y="192111"/>
                </a:lnTo>
                <a:lnTo>
                  <a:pt x="1828355" y="226187"/>
                </a:lnTo>
                <a:lnTo>
                  <a:pt x="1829925" y="238881"/>
                </a:lnTo>
                <a:lnTo>
                  <a:pt x="1853374" y="269367"/>
                </a:lnTo>
                <a:lnTo>
                  <a:pt x="1901862" y="284851"/>
                </a:lnTo>
                <a:lnTo>
                  <a:pt x="1922843" y="285876"/>
                </a:lnTo>
                <a:lnTo>
                  <a:pt x="1943445" y="284851"/>
                </a:lnTo>
                <a:lnTo>
                  <a:pt x="1943726" y="284851"/>
                </a:lnTo>
                <a:lnTo>
                  <a:pt x="1962074" y="281765"/>
                </a:lnTo>
                <a:lnTo>
                  <a:pt x="1962253" y="281765"/>
                </a:lnTo>
                <a:lnTo>
                  <a:pt x="1978320" y="276607"/>
                </a:lnTo>
                <a:lnTo>
                  <a:pt x="1978450" y="276607"/>
                </a:lnTo>
                <a:lnTo>
                  <a:pt x="1992439" y="269239"/>
                </a:lnTo>
                <a:lnTo>
                  <a:pt x="2003306" y="260459"/>
                </a:lnTo>
                <a:lnTo>
                  <a:pt x="2007603" y="255015"/>
                </a:lnTo>
                <a:lnTo>
                  <a:pt x="1922843" y="255015"/>
                </a:lnTo>
                <a:lnTo>
                  <a:pt x="1909534" y="254515"/>
                </a:lnTo>
                <a:lnTo>
                  <a:pt x="1870900" y="241681"/>
                </a:lnTo>
                <a:lnTo>
                  <a:pt x="1866201" y="234696"/>
                </a:lnTo>
                <a:lnTo>
                  <a:pt x="1866284" y="217677"/>
                </a:lnTo>
                <a:lnTo>
                  <a:pt x="1909389" y="197733"/>
                </a:lnTo>
                <a:lnTo>
                  <a:pt x="1922843" y="197231"/>
                </a:lnTo>
                <a:lnTo>
                  <a:pt x="2007439" y="197231"/>
                </a:lnTo>
                <a:lnTo>
                  <a:pt x="2003460" y="192111"/>
                </a:lnTo>
                <a:lnTo>
                  <a:pt x="1992439" y="183134"/>
                </a:lnTo>
                <a:lnTo>
                  <a:pt x="1978654" y="175799"/>
                </a:lnTo>
                <a:lnTo>
                  <a:pt x="1962451" y="170561"/>
                </a:lnTo>
                <a:lnTo>
                  <a:pt x="1943844" y="167417"/>
                </a:lnTo>
                <a:lnTo>
                  <a:pt x="1922843" y="166370"/>
                </a:lnTo>
                <a:close/>
              </a:path>
              <a:path w="2018030" h="286384">
                <a:moveTo>
                  <a:pt x="2007439" y="197231"/>
                </a:moveTo>
                <a:lnTo>
                  <a:pt x="1922843" y="197231"/>
                </a:lnTo>
                <a:lnTo>
                  <a:pt x="1936189" y="197733"/>
                </a:lnTo>
                <a:lnTo>
                  <a:pt x="1947829" y="199247"/>
                </a:lnTo>
                <a:lnTo>
                  <a:pt x="1957720" y="201785"/>
                </a:lnTo>
                <a:lnTo>
                  <a:pt x="1965864" y="205359"/>
                </a:lnTo>
                <a:lnTo>
                  <a:pt x="1975389" y="210820"/>
                </a:lnTo>
                <a:lnTo>
                  <a:pt x="1975252" y="210820"/>
                </a:lnTo>
                <a:lnTo>
                  <a:pt x="1979866" y="217677"/>
                </a:lnTo>
                <a:lnTo>
                  <a:pt x="1979866" y="234696"/>
                </a:lnTo>
                <a:lnTo>
                  <a:pt x="1975040" y="241681"/>
                </a:lnTo>
                <a:lnTo>
                  <a:pt x="1936154" y="254515"/>
                </a:lnTo>
                <a:lnTo>
                  <a:pt x="1922843" y="255015"/>
                </a:lnTo>
                <a:lnTo>
                  <a:pt x="2007603" y="255015"/>
                </a:lnTo>
                <a:lnTo>
                  <a:pt x="2017712" y="226187"/>
                </a:lnTo>
                <a:lnTo>
                  <a:pt x="2016121" y="213637"/>
                </a:lnTo>
                <a:lnTo>
                  <a:pt x="2011362" y="202279"/>
                </a:lnTo>
                <a:lnTo>
                  <a:pt x="2007439" y="197231"/>
                </a:lnTo>
                <a:close/>
              </a:path>
              <a:path w="2018030" h="286384">
                <a:moveTo>
                  <a:pt x="371779" y="196342"/>
                </a:moveTo>
                <a:lnTo>
                  <a:pt x="334276" y="196342"/>
                </a:lnTo>
                <a:lnTo>
                  <a:pt x="334276" y="274827"/>
                </a:lnTo>
                <a:lnTo>
                  <a:pt x="526262" y="274827"/>
                </a:lnTo>
                <a:lnTo>
                  <a:pt x="526262" y="243459"/>
                </a:lnTo>
                <a:lnTo>
                  <a:pt x="371779" y="243459"/>
                </a:lnTo>
                <a:lnTo>
                  <a:pt x="371779" y="196342"/>
                </a:lnTo>
                <a:close/>
              </a:path>
              <a:path w="2018030" h="286384">
                <a:moveTo>
                  <a:pt x="1278826" y="180594"/>
                </a:moveTo>
                <a:lnTo>
                  <a:pt x="1241488" y="180594"/>
                </a:lnTo>
                <a:lnTo>
                  <a:pt x="1241488" y="277113"/>
                </a:lnTo>
                <a:lnTo>
                  <a:pt x="1432369" y="277113"/>
                </a:lnTo>
                <a:lnTo>
                  <a:pt x="1432369" y="245745"/>
                </a:lnTo>
                <a:lnTo>
                  <a:pt x="1278826" y="245745"/>
                </a:lnTo>
                <a:lnTo>
                  <a:pt x="1278826" y="180594"/>
                </a:lnTo>
                <a:close/>
              </a:path>
              <a:path w="2018030" h="286384">
                <a:moveTo>
                  <a:pt x="1426781" y="0"/>
                </a:moveTo>
                <a:lnTo>
                  <a:pt x="1390205" y="0"/>
                </a:lnTo>
                <a:lnTo>
                  <a:pt x="1390205" y="81025"/>
                </a:lnTo>
                <a:lnTo>
                  <a:pt x="1322514" y="81025"/>
                </a:lnTo>
                <a:lnTo>
                  <a:pt x="1322514" y="112522"/>
                </a:lnTo>
                <a:lnTo>
                  <a:pt x="1390205" y="112522"/>
                </a:lnTo>
                <a:lnTo>
                  <a:pt x="1390205" y="205359"/>
                </a:lnTo>
                <a:lnTo>
                  <a:pt x="1426781" y="205359"/>
                </a:lnTo>
                <a:lnTo>
                  <a:pt x="1426781" y="0"/>
                </a:lnTo>
                <a:close/>
              </a:path>
              <a:path w="2018030" h="286384">
                <a:moveTo>
                  <a:pt x="1307353" y="100330"/>
                </a:moveTo>
                <a:lnTo>
                  <a:pt x="1263713" y="100330"/>
                </a:lnTo>
                <a:lnTo>
                  <a:pt x="1244308" y="118020"/>
                </a:lnTo>
                <a:lnTo>
                  <a:pt x="1224581" y="132603"/>
                </a:lnTo>
                <a:lnTo>
                  <a:pt x="1204545" y="144067"/>
                </a:lnTo>
                <a:lnTo>
                  <a:pt x="1184211" y="152400"/>
                </a:lnTo>
                <a:lnTo>
                  <a:pt x="1209865" y="179197"/>
                </a:lnTo>
                <a:lnTo>
                  <a:pt x="1235751" y="165479"/>
                </a:lnTo>
                <a:lnTo>
                  <a:pt x="1259125" y="149844"/>
                </a:lnTo>
                <a:lnTo>
                  <a:pt x="1279999" y="132280"/>
                </a:lnTo>
                <a:lnTo>
                  <a:pt x="1298384" y="112775"/>
                </a:lnTo>
                <a:lnTo>
                  <a:pt x="1307353" y="100330"/>
                </a:lnTo>
                <a:close/>
              </a:path>
              <a:path w="2018030" h="286384">
                <a:moveTo>
                  <a:pt x="1338389" y="18542"/>
                </a:moveTo>
                <a:lnTo>
                  <a:pt x="1200594" y="18542"/>
                </a:lnTo>
                <a:lnTo>
                  <a:pt x="1200594" y="50037"/>
                </a:lnTo>
                <a:lnTo>
                  <a:pt x="1293304" y="50037"/>
                </a:lnTo>
                <a:lnTo>
                  <a:pt x="1291399" y="56387"/>
                </a:lnTo>
                <a:lnTo>
                  <a:pt x="1288732" y="63119"/>
                </a:lnTo>
                <a:lnTo>
                  <a:pt x="1285303" y="70103"/>
                </a:lnTo>
                <a:lnTo>
                  <a:pt x="1182560" y="76835"/>
                </a:lnTo>
                <a:lnTo>
                  <a:pt x="1196276" y="107823"/>
                </a:lnTo>
                <a:lnTo>
                  <a:pt x="1263713" y="100330"/>
                </a:lnTo>
                <a:lnTo>
                  <a:pt x="1307353" y="100330"/>
                </a:lnTo>
                <a:lnTo>
                  <a:pt x="1313743" y="91461"/>
                </a:lnTo>
                <a:lnTo>
                  <a:pt x="1325530" y="68659"/>
                </a:lnTo>
                <a:lnTo>
                  <a:pt x="1333746" y="44356"/>
                </a:lnTo>
                <a:lnTo>
                  <a:pt x="1338389" y="18542"/>
                </a:lnTo>
                <a:close/>
              </a:path>
              <a:path w="2018030" h="286384">
                <a:moveTo>
                  <a:pt x="1722056" y="155321"/>
                </a:moveTo>
                <a:lnTo>
                  <a:pt x="1536382" y="155321"/>
                </a:lnTo>
                <a:lnTo>
                  <a:pt x="1536382" y="186817"/>
                </a:lnTo>
                <a:lnTo>
                  <a:pt x="1685480" y="186817"/>
                </a:lnTo>
                <a:lnTo>
                  <a:pt x="1685480" y="204215"/>
                </a:lnTo>
                <a:lnTo>
                  <a:pt x="1536382" y="204215"/>
                </a:lnTo>
                <a:lnTo>
                  <a:pt x="1536382" y="282448"/>
                </a:lnTo>
                <a:lnTo>
                  <a:pt x="1729422" y="282448"/>
                </a:lnTo>
                <a:lnTo>
                  <a:pt x="1729422" y="251206"/>
                </a:lnTo>
                <a:lnTo>
                  <a:pt x="1573212" y="251206"/>
                </a:lnTo>
                <a:lnTo>
                  <a:pt x="1573212" y="232918"/>
                </a:lnTo>
                <a:lnTo>
                  <a:pt x="1722056" y="232918"/>
                </a:lnTo>
                <a:lnTo>
                  <a:pt x="1722056" y="155321"/>
                </a:lnTo>
                <a:close/>
              </a:path>
              <a:path w="2018030" h="286384">
                <a:moveTo>
                  <a:pt x="856957" y="216662"/>
                </a:moveTo>
                <a:lnTo>
                  <a:pt x="590549" y="216662"/>
                </a:lnTo>
                <a:lnTo>
                  <a:pt x="590549" y="247523"/>
                </a:lnTo>
                <a:lnTo>
                  <a:pt x="856957" y="247523"/>
                </a:lnTo>
                <a:lnTo>
                  <a:pt x="856957" y="216662"/>
                </a:lnTo>
                <a:close/>
              </a:path>
              <a:path w="2018030" h="286384">
                <a:moveTo>
                  <a:pt x="742365" y="151130"/>
                </a:moveTo>
                <a:lnTo>
                  <a:pt x="704849" y="151130"/>
                </a:lnTo>
                <a:lnTo>
                  <a:pt x="704849" y="216662"/>
                </a:lnTo>
                <a:lnTo>
                  <a:pt x="742365" y="216662"/>
                </a:lnTo>
                <a:lnTo>
                  <a:pt x="742365" y="151130"/>
                </a:lnTo>
                <a:close/>
              </a:path>
              <a:path w="2018030" h="286384">
                <a:moveTo>
                  <a:pt x="742657" y="18542"/>
                </a:moveTo>
                <a:lnTo>
                  <a:pt x="704849" y="18542"/>
                </a:lnTo>
                <a:lnTo>
                  <a:pt x="704849" y="39877"/>
                </a:lnTo>
                <a:lnTo>
                  <a:pt x="703165" y="51972"/>
                </a:lnTo>
                <a:lnTo>
                  <a:pt x="703135" y="52189"/>
                </a:lnTo>
                <a:lnTo>
                  <a:pt x="698112" y="64436"/>
                </a:lnTo>
                <a:lnTo>
                  <a:pt x="697988" y="64738"/>
                </a:lnTo>
                <a:lnTo>
                  <a:pt x="662120" y="102780"/>
                </a:lnTo>
                <a:lnTo>
                  <a:pt x="622549" y="121588"/>
                </a:lnTo>
                <a:lnTo>
                  <a:pt x="622406" y="121588"/>
                </a:lnTo>
                <a:lnTo>
                  <a:pt x="598741" y="128015"/>
                </a:lnTo>
                <a:lnTo>
                  <a:pt x="620471" y="156972"/>
                </a:lnTo>
                <a:lnTo>
                  <a:pt x="636044" y="152112"/>
                </a:lnTo>
                <a:lnTo>
                  <a:pt x="651219" y="145907"/>
                </a:lnTo>
                <a:lnTo>
                  <a:pt x="693699" y="119699"/>
                </a:lnTo>
                <a:lnTo>
                  <a:pt x="723455" y="88392"/>
                </a:lnTo>
                <a:lnTo>
                  <a:pt x="768261" y="88392"/>
                </a:lnTo>
                <a:lnTo>
                  <a:pt x="744463" y="52189"/>
                </a:lnTo>
                <a:lnTo>
                  <a:pt x="742657" y="39877"/>
                </a:lnTo>
                <a:lnTo>
                  <a:pt x="742657" y="18542"/>
                </a:lnTo>
                <a:close/>
              </a:path>
              <a:path w="2018030" h="286384">
                <a:moveTo>
                  <a:pt x="768261" y="88392"/>
                </a:moveTo>
                <a:lnTo>
                  <a:pt x="723455" y="88392"/>
                </a:lnTo>
                <a:lnTo>
                  <a:pt x="731766" y="98823"/>
                </a:lnTo>
                <a:lnTo>
                  <a:pt x="767067" y="128524"/>
                </a:lnTo>
                <a:lnTo>
                  <a:pt x="811240" y="151526"/>
                </a:lnTo>
                <a:lnTo>
                  <a:pt x="826452" y="156718"/>
                </a:lnTo>
                <a:lnTo>
                  <a:pt x="848182" y="128015"/>
                </a:lnTo>
                <a:lnTo>
                  <a:pt x="824323" y="121588"/>
                </a:lnTo>
                <a:lnTo>
                  <a:pt x="803362" y="113172"/>
                </a:lnTo>
                <a:lnTo>
                  <a:pt x="785293" y="102780"/>
                </a:lnTo>
                <a:lnTo>
                  <a:pt x="770271" y="90550"/>
                </a:lnTo>
                <a:lnTo>
                  <a:pt x="768261" y="88392"/>
                </a:lnTo>
                <a:close/>
              </a:path>
              <a:path w="2018030" h="286384">
                <a:moveTo>
                  <a:pt x="561682" y="150240"/>
                </a:moveTo>
                <a:lnTo>
                  <a:pt x="295287" y="150240"/>
                </a:lnTo>
                <a:lnTo>
                  <a:pt x="295287" y="181737"/>
                </a:lnTo>
                <a:lnTo>
                  <a:pt x="561682" y="181737"/>
                </a:lnTo>
                <a:lnTo>
                  <a:pt x="561682" y="150240"/>
                </a:lnTo>
                <a:close/>
              </a:path>
              <a:path w="2018030" h="286384">
                <a:moveTo>
                  <a:pt x="534301" y="96520"/>
                </a:moveTo>
                <a:lnTo>
                  <a:pt x="322364" y="96520"/>
                </a:lnTo>
                <a:lnTo>
                  <a:pt x="322364" y="127635"/>
                </a:lnTo>
                <a:lnTo>
                  <a:pt x="534301" y="127635"/>
                </a:lnTo>
                <a:lnTo>
                  <a:pt x="534301" y="96520"/>
                </a:lnTo>
                <a:close/>
              </a:path>
              <a:path w="2018030" h="286384">
                <a:moveTo>
                  <a:pt x="395884" y="51181"/>
                </a:moveTo>
                <a:lnTo>
                  <a:pt x="358978" y="51181"/>
                </a:lnTo>
                <a:lnTo>
                  <a:pt x="361657" y="96520"/>
                </a:lnTo>
                <a:lnTo>
                  <a:pt x="397967" y="96520"/>
                </a:lnTo>
                <a:lnTo>
                  <a:pt x="395884" y="51181"/>
                </a:lnTo>
                <a:close/>
              </a:path>
              <a:path w="2018030" h="286384">
                <a:moveTo>
                  <a:pt x="497979" y="51181"/>
                </a:moveTo>
                <a:lnTo>
                  <a:pt x="461073" y="51181"/>
                </a:lnTo>
                <a:lnTo>
                  <a:pt x="458698" y="96520"/>
                </a:lnTo>
                <a:lnTo>
                  <a:pt x="495312" y="96520"/>
                </a:lnTo>
                <a:lnTo>
                  <a:pt x="497979" y="51181"/>
                </a:lnTo>
                <a:close/>
              </a:path>
              <a:path w="2018030" h="286384">
                <a:moveTo>
                  <a:pt x="266407" y="216662"/>
                </a:moveTo>
                <a:lnTo>
                  <a:pt x="0" y="216662"/>
                </a:lnTo>
                <a:lnTo>
                  <a:pt x="0" y="247523"/>
                </a:lnTo>
                <a:lnTo>
                  <a:pt x="266407" y="247523"/>
                </a:lnTo>
                <a:lnTo>
                  <a:pt x="266407" y="216662"/>
                </a:lnTo>
                <a:close/>
              </a:path>
              <a:path w="2018030" h="286384">
                <a:moveTo>
                  <a:pt x="133210" y="19431"/>
                </a:moveTo>
                <a:lnTo>
                  <a:pt x="93937" y="24384"/>
                </a:lnTo>
                <a:lnTo>
                  <a:pt x="49865" y="50053"/>
                </a:lnTo>
                <a:lnTo>
                  <a:pt x="34086" y="93345"/>
                </a:lnTo>
                <a:lnTo>
                  <a:pt x="34983" y="102822"/>
                </a:lnTo>
                <a:lnTo>
                  <a:pt x="55448" y="141986"/>
                </a:lnTo>
                <a:lnTo>
                  <a:pt x="96562" y="162756"/>
                </a:lnTo>
                <a:lnTo>
                  <a:pt x="114300" y="166115"/>
                </a:lnTo>
                <a:lnTo>
                  <a:pt x="114300" y="216662"/>
                </a:lnTo>
                <a:lnTo>
                  <a:pt x="151815" y="216662"/>
                </a:lnTo>
                <a:lnTo>
                  <a:pt x="151815" y="166115"/>
                </a:lnTo>
                <a:lnTo>
                  <a:pt x="169437" y="162923"/>
                </a:lnTo>
                <a:lnTo>
                  <a:pt x="185096" y="157908"/>
                </a:lnTo>
                <a:lnTo>
                  <a:pt x="198793" y="151060"/>
                </a:lnTo>
                <a:lnTo>
                  <a:pt x="210527" y="142367"/>
                </a:lnTo>
                <a:lnTo>
                  <a:pt x="215988" y="136398"/>
                </a:lnTo>
                <a:lnTo>
                  <a:pt x="133210" y="136398"/>
                </a:lnTo>
                <a:lnTo>
                  <a:pt x="119872" y="135683"/>
                </a:lnTo>
                <a:lnTo>
                  <a:pt x="81439" y="118633"/>
                </a:lnTo>
                <a:lnTo>
                  <a:pt x="72186" y="93345"/>
                </a:lnTo>
                <a:lnTo>
                  <a:pt x="73215" y="83941"/>
                </a:lnTo>
                <a:lnTo>
                  <a:pt x="107997" y="53165"/>
                </a:lnTo>
                <a:lnTo>
                  <a:pt x="133210" y="50292"/>
                </a:lnTo>
                <a:lnTo>
                  <a:pt x="216373" y="50292"/>
                </a:lnTo>
                <a:lnTo>
                  <a:pt x="216207" y="50053"/>
                </a:lnTo>
                <a:lnTo>
                  <a:pt x="203898" y="39243"/>
                </a:lnTo>
                <a:lnTo>
                  <a:pt x="188935" y="30575"/>
                </a:lnTo>
                <a:lnTo>
                  <a:pt x="172164" y="24384"/>
                </a:lnTo>
                <a:lnTo>
                  <a:pt x="153588" y="20669"/>
                </a:lnTo>
                <a:lnTo>
                  <a:pt x="133210" y="19431"/>
                </a:lnTo>
                <a:close/>
              </a:path>
              <a:path w="2018030" h="286384">
                <a:moveTo>
                  <a:pt x="216373" y="50292"/>
                </a:moveTo>
                <a:lnTo>
                  <a:pt x="133210" y="50292"/>
                </a:lnTo>
                <a:lnTo>
                  <a:pt x="146531" y="51008"/>
                </a:lnTo>
                <a:lnTo>
                  <a:pt x="158375" y="53165"/>
                </a:lnTo>
                <a:lnTo>
                  <a:pt x="189853" y="75549"/>
                </a:lnTo>
                <a:lnTo>
                  <a:pt x="193928" y="93345"/>
                </a:lnTo>
                <a:lnTo>
                  <a:pt x="192878" y="102822"/>
                </a:lnTo>
                <a:lnTo>
                  <a:pt x="158202" y="133540"/>
                </a:lnTo>
                <a:lnTo>
                  <a:pt x="133210" y="136398"/>
                </a:lnTo>
                <a:lnTo>
                  <a:pt x="215988" y="136398"/>
                </a:lnTo>
                <a:lnTo>
                  <a:pt x="219936" y="132081"/>
                </a:lnTo>
                <a:lnTo>
                  <a:pt x="226655" y="120475"/>
                </a:lnTo>
                <a:lnTo>
                  <a:pt x="230685" y="107559"/>
                </a:lnTo>
                <a:lnTo>
                  <a:pt x="232028" y="93345"/>
                </a:lnTo>
                <a:lnTo>
                  <a:pt x="230271" y="77104"/>
                </a:lnTo>
                <a:lnTo>
                  <a:pt x="224997" y="62674"/>
                </a:lnTo>
                <a:lnTo>
                  <a:pt x="216373" y="50292"/>
                </a:lnTo>
                <a:close/>
              </a:path>
              <a:path w="2018030" h="286384">
                <a:moveTo>
                  <a:pt x="1037907" y="18542"/>
                </a:moveTo>
                <a:lnTo>
                  <a:pt x="1000188" y="18542"/>
                </a:lnTo>
                <a:lnTo>
                  <a:pt x="1000188" y="39877"/>
                </a:lnTo>
                <a:lnTo>
                  <a:pt x="998484" y="51972"/>
                </a:lnTo>
                <a:lnTo>
                  <a:pt x="972629" y="90550"/>
                </a:lnTo>
                <a:lnTo>
                  <a:pt x="938957" y="113172"/>
                </a:lnTo>
                <a:lnTo>
                  <a:pt x="917831" y="121588"/>
                </a:lnTo>
                <a:lnTo>
                  <a:pt x="917687" y="121588"/>
                </a:lnTo>
                <a:lnTo>
                  <a:pt x="894016" y="128015"/>
                </a:lnTo>
                <a:lnTo>
                  <a:pt x="915733" y="156972"/>
                </a:lnTo>
                <a:lnTo>
                  <a:pt x="931332" y="152112"/>
                </a:lnTo>
                <a:lnTo>
                  <a:pt x="946515" y="145907"/>
                </a:lnTo>
                <a:lnTo>
                  <a:pt x="989012" y="119699"/>
                </a:lnTo>
                <a:lnTo>
                  <a:pt x="1018730" y="88392"/>
                </a:lnTo>
                <a:lnTo>
                  <a:pt x="1063487" y="88392"/>
                </a:lnTo>
                <a:lnTo>
                  <a:pt x="1053338" y="77257"/>
                </a:lnTo>
                <a:lnTo>
                  <a:pt x="1044765" y="64436"/>
                </a:lnTo>
                <a:lnTo>
                  <a:pt x="1039711" y="52189"/>
                </a:lnTo>
                <a:lnTo>
                  <a:pt x="1039622" y="51972"/>
                </a:lnTo>
                <a:lnTo>
                  <a:pt x="1037907" y="39877"/>
                </a:lnTo>
                <a:lnTo>
                  <a:pt x="1037907" y="18542"/>
                </a:lnTo>
                <a:close/>
              </a:path>
              <a:path w="2018030" h="286384">
                <a:moveTo>
                  <a:pt x="1063487" y="88392"/>
                </a:moveTo>
                <a:lnTo>
                  <a:pt x="1018730" y="88392"/>
                </a:lnTo>
                <a:lnTo>
                  <a:pt x="1027037" y="98823"/>
                </a:lnTo>
                <a:lnTo>
                  <a:pt x="1062291" y="128524"/>
                </a:lnTo>
                <a:lnTo>
                  <a:pt x="1106511" y="151526"/>
                </a:lnTo>
                <a:lnTo>
                  <a:pt x="1121727" y="156718"/>
                </a:lnTo>
                <a:lnTo>
                  <a:pt x="1143444" y="128015"/>
                </a:lnTo>
                <a:lnTo>
                  <a:pt x="1119578" y="121588"/>
                </a:lnTo>
                <a:lnTo>
                  <a:pt x="1098629" y="113172"/>
                </a:lnTo>
                <a:lnTo>
                  <a:pt x="1080561" y="102780"/>
                </a:lnTo>
                <a:lnTo>
                  <a:pt x="1065495" y="90550"/>
                </a:lnTo>
                <a:lnTo>
                  <a:pt x="1063487" y="88392"/>
                </a:lnTo>
                <a:close/>
              </a:path>
              <a:path w="2018030" h="286384">
                <a:moveTo>
                  <a:pt x="1932241" y="13335"/>
                </a:moveTo>
                <a:lnTo>
                  <a:pt x="1790509" y="13335"/>
                </a:lnTo>
                <a:lnTo>
                  <a:pt x="1790509" y="156972"/>
                </a:lnTo>
                <a:lnTo>
                  <a:pt x="1834707" y="156731"/>
                </a:lnTo>
                <a:lnTo>
                  <a:pt x="1874535" y="156003"/>
                </a:lnTo>
                <a:lnTo>
                  <a:pt x="1910006" y="154775"/>
                </a:lnTo>
                <a:lnTo>
                  <a:pt x="1941131" y="153035"/>
                </a:lnTo>
                <a:lnTo>
                  <a:pt x="1939418" y="125857"/>
                </a:lnTo>
                <a:lnTo>
                  <a:pt x="1827466" y="125857"/>
                </a:lnTo>
                <a:lnTo>
                  <a:pt x="1827466" y="99949"/>
                </a:lnTo>
                <a:lnTo>
                  <a:pt x="1920684" y="99949"/>
                </a:lnTo>
                <a:lnTo>
                  <a:pt x="1920684" y="70358"/>
                </a:lnTo>
                <a:lnTo>
                  <a:pt x="1827466" y="70358"/>
                </a:lnTo>
                <a:lnTo>
                  <a:pt x="1827466" y="44450"/>
                </a:lnTo>
                <a:lnTo>
                  <a:pt x="1932241" y="44450"/>
                </a:lnTo>
                <a:lnTo>
                  <a:pt x="1932241" y="13335"/>
                </a:lnTo>
                <a:close/>
              </a:path>
              <a:path w="2018030" h="286384">
                <a:moveTo>
                  <a:pt x="1939226" y="122809"/>
                </a:moveTo>
                <a:lnTo>
                  <a:pt x="1917674" y="124142"/>
                </a:lnTo>
                <a:lnTo>
                  <a:pt x="1891871" y="125095"/>
                </a:lnTo>
                <a:lnTo>
                  <a:pt x="1861806" y="125666"/>
                </a:lnTo>
                <a:lnTo>
                  <a:pt x="1827466" y="125857"/>
                </a:lnTo>
                <a:lnTo>
                  <a:pt x="1939418" y="125857"/>
                </a:lnTo>
                <a:lnTo>
                  <a:pt x="1939310" y="124142"/>
                </a:lnTo>
                <a:lnTo>
                  <a:pt x="1939226" y="122809"/>
                </a:lnTo>
                <a:close/>
              </a:path>
              <a:path w="2018030" h="286384">
                <a:moveTo>
                  <a:pt x="530872" y="12192"/>
                </a:moveTo>
                <a:lnTo>
                  <a:pt x="326085" y="12192"/>
                </a:lnTo>
                <a:lnTo>
                  <a:pt x="326085" y="43561"/>
                </a:lnTo>
                <a:lnTo>
                  <a:pt x="530872" y="43561"/>
                </a:lnTo>
                <a:lnTo>
                  <a:pt x="530872" y="12192"/>
                </a:lnTo>
                <a:close/>
              </a:path>
              <a:path w="2018030" h="286384">
                <a:moveTo>
                  <a:pt x="1579308" y="6096"/>
                </a:moveTo>
                <a:lnTo>
                  <a:pt x="1543494" y="6096"/>
                </a:lnTo>
                <a:lnTo>
                  <a:pt x="1543494" y="33147"/>
                </a:lnTo>
                <a:lnTo>
                  <a:pt x="1542379" y="46031"/>
                </a:lnTo>
                <a:lnTo>
                  <a:pt x="1524571" y="84836"/>
                </a:lnTo>
                <a:lnTo>
                  <a:pt x="1487906" y="115250"/>
                </a:lnTo>
                <a:lnTo>
                  <a:pt x="1472120" y="123062"/>
                </a:lnTo>
                <a:lnTo>
                  <a:pt x="1497012" y="148717"/>
                </a:lnTo>
                <a:lnTo>
                  <a:pt x="1535493" y="121412"/>
                </a:lnTo>
                <a:lnTo>
                  <a:pt x="1562671" y="87502"/>
                </a:lnTo>
                <a:lnTo>
                  <a:pt x="1605714" y="87502"/>
                </a:lnTo>
                <a:lnTo>
                  <a:pt x="1580590" y="46031"/>
                </a:lnTo>
                <a:lnTo>
                  <a:pt x="1579308" y="33147"/>
                </a:lnTo>
                <a:lnTo>
                  <a:pt x="1579308" y="6096"/>
                </a:lnTo>
                <a:close/>
              </a:path>
              <a:path w="2018030" h="286384">
                <a:moveTo>
                  <a:pt x="1722056" y="0"/>
                </a:moveTo>
                <a:lnTo>
                  <a:pt x="1685480" y="0"/>
                </a:lnTo>
                <a:lnTo>
                  <a:pt x="1685480" y="44450"/>
                </a:lnTo>
                <a:lnTo>
                  <a:pt x="1624520" y="44450"/>
                </a:lnTo>
                <a:lnTo>
                  <a:pt x="1624520" y="74675"/>
                </a:lnTo>
                <a:lnTo>
                  <a:pt x="1685480" y="74675"/>
                </a:lnTo>
                <a:lnTo>
                  <a:pt x="1685480" y="144145"/>
                </a:lnTo>
                <a:lnTo>
                  <a:pt x="1722056" y="144145"/>
                </a:lnTo>
                <a:lnTo>
                  <a:pt x="1722056" y="0"/>
                </a:lnTo>
                <a:close/>
              </a:path>
              <a:path w="2018030" h="286384">
                <a:moveTo>
                  <a:pt x="1605714" y="87502"/>
                </a:moveTo>
                <a:lnTo>
                  <a:pt x="1562671" y="87502"/>
                </a:lnTo>
                <a:lnTo>
                  <a:pt x="1574409" y="102217"/>
                </a:lnTo>
                <a:lnTo>
                  <a:pt x="1589039" y="116062"/>
                </a:lnTo>
                <a:lnTo>
                  <a:pt x="1606551" y="129026"/>
                </a:lnTo>
                <a:lnTo>
                  <a:pt x="1626933" y="141097"/>
                </a:lnTo>
                <a:lnTo>
                  <a:pt x="1649158" y="112775"/>
                </a:lnTo>
                <a:lnTo>
                  <a:pt x="1635132" y="107539"/>
                </a:lnTo>
                <a:lnTo>
                  <a:pt x="1622202" y="100599"/>
                </a:lnTo>
                <a:lnTo>
                  <a:pt x="1610367" y="91969"/>
                </a:lnTo>
                <a:lnTo>
                  <a:pt x="1605714" y="87502"/>
                </a:lnTo>
                <a:close/>
              </a:path>
              <a:path w="2018030" h="286384">
                <a:moveTo>
                  <a:pt x="2013013" y="0"/>
                </a:moveTo>
                <a:lnTo>
                  <a:pt x="1976437" y="0"/>
                </a:lnTo>
                <a:lnTo>
                  <a:pt x="1976437" y="162560"/>
                </a:lnTo>
                <a:lnTo>
                  <a:pt x="2013013" y="162560"/>
                </a:lnTo>
                <a:lnTo>
                  <a:pt x="2013013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36444" y="406526"/>
            <a:ext cx="814069" cy="287020"/>
          </a:xfrm>
          <a:custGeom>
            <a:avLst/>
            <a:gdLst/>
            <a:ahLst/>
            <a:cxnLst/>
            <a:rect l="l" t="t" r="r" b="b"/>
            <a:pathLst>
              <a:path w="814070" h="287020">
                <a:moveTo>
                  <a:pt x="125349" y="225171"/>
                </a:moveTo>
                <a:lnTo>
                  <a:pt x="42418" y="225171"/>
                </a:lnTo>
                <a:lnTo>
                  <a:pt x="42418" y="41148"/>
                </a:lnTo>
                <a:lnTo>
                  <a:pt x="0" y="41148"/>
                </a:lnTo>
                <a:lnTo>
                  <a:pt x="0" y="260223"/>
                </a:lnTo>
                <a:lnTo>
                  <a:pt x="125349" y="260223"/>
                </a:lnTo>
                <a:lnTo>
                  <a:pt x="125349" y="225171"/>
                </a:lnTo>
                <a:close/>
              </a:path>
              <a:path w="814070" h="287020">
                <a:moveTo>
                  <a:pt x="268224" y="225171"/>
                </a:moveTo>
                <a:lnTo>
                  <a:pt x="185293" y="225171"/>
                </a:lnTo>
                <a:lnTo>
                  <a:pt x="185293" y="41148"/>
                </a:lnTo>
                <a:lnTo>
                  <a:pt x="142875" y="41148"/>
                </a:lnTo>
                <a:lnTo>
                  <a:pt x="142875" y="260223"/>
                </a:lnTo>
                <a:lnTo>
                  <a:pt x="268224" y="260223"/>
                </a:lnTo>
                <a:lnTo>
                  <a:pt x="268224" y="225171"/>
                </a:lnTo>
                <a:close/>
              </a:path>
              <a:path w="814070" h="287020">
                <a:moveTo>
                  <a:pt x="537210" y="41148"/>
                </a:moveTo>
                <a:lnTo>
                  <a:pt x="477901" y="41148"/>
                </a:lnTo>
                <a:lnTo>
                  <a:pt x="426339" y="177419"/>
                </a:lnTo>
                <a:lnTo>
                  <a:pt x="423443" y="185915"/>
                </a:lnTo>
                <a:lnTo>
                  <a:pt x="420979" y="193700"/>
                </a:lnTo>
                <a:lnTo>
                  <a:pt x="418846" y="201015"/>
                </a:lnTo>
                <a:lnTo>
                  <a:pt x="417068" y="207772"/>
                </a:lnTo>
                <a:lnTo>
                  <a:pt x="416052" y="207772"/>
                </a:lnTo>
                <a:lnTo>
                  <a:pt x="370547" y="78994"/>
                </a:lnTo>
                <a:lnTo>
                  <a:pt x="356362" y="41148"/>
                </a:lnTo>
                <a:lnTo>
                  <a:pt x="295275" y="41148"/>
                </a:lnTo>
                <a:lnTo>
                  <a:pt x="295275" y="260223"/>
                </a:lnTo>
                <a:lnTo>
                  <a:pt x="333883" y="260223"/>
                </a:lnTo>
                <a:lnTo>
                  <a:pt x="333781" y="117754"/>
                </a:lnTo>
                <a:lnTo>
                  <a:pt x="333540" y="107188"/>
                </a:lnTo>
                <a:lnTo>
                  <a:pt x="333438" y="103149"/>
                </a:lnTo>
                <a:lnTo>
                  <a:pt x="333197" y="97091"/>
                </a:lnTo>
                <a:lnTo>
                  <a:pt x="333108" y="95110"/>
                </a:lnTo>
                <a:lnTo>
                  <a:pt x="333044" y="93357"/>
                </a:lnTo>
                <a:lnTo>
                  <a:pt x="332968" y="91376"/>
                </a:lnTo>
                <a:lnTo>
                  <a:pt x="332232" y="78994"/>
                </a:lnTo>
                <a:lnTo>
                  <a:pt x="333248" y="78994"/>
                </a:lnTo>
                <a:lnTo>
                  <a:pt x="398907" y="260223"/>
                </a:lnTo>
                <a:lnTo>
                  <a:pt x="431165" y="260223"/>
                </a:lnTo>
                <a:lnTo>
                  <a:pt x="450875" y="207772"/>
                </a:lnTo>
                <a:lnTo>
                  <a:pt x="489204" y="105791"/>
                </a:lnTo>
                <a:lnTo>
                  <a:pt x="490842" y="101130"/>
                </a:lnTo>
                <a:lnTo>
                  <a:pt x="492531" y="95110"/>
                </a:lnTo>
                <a:lnTo>
                  <a:pt x="494271" y="87744"/>
                </a:lnTo>
                <a:lnTo>
                  <a:pt x="496062" y="78994"/>
                </a:lnTo>
                <a:lnTo>
                  <a:pt x="496951" y="78994"/>
                </a:lnTo>
                <a:lnTo>
                  <a:pt x="495173" y="260223"/>
                </a:lnTo>
                <a:lnTo>
                  <a:pt x="537210" y="260223"/>
                </a:lnTo>
                <a:lnTo>
                  <a:pt x="537210" y="78994"/>
                </a:lnTo>
                <a:lnTo>
                  <a:pt x="537210" y="41148"/>
                </a:lnTo>
                <a:close/>
              </a:path>
              <a:path w="814070" h="287020">
                <a:moveTo>
                  <a:pt x="739521" y="90170"/>
                </a:moveTo>
                <a:lnTo>
                  <a:pt x="738111" y="74764"/>
                </a:lnTo>
                <a:lnTo>
                  <a:pt x="733933" y="60960"/>
                </a:lnTo>
                <a:lnTo>
                  <a:pt x="733806" y="60706"/>
                </a:lnTo>
                <a:lnTo>
                  <a:pt x="727252" y="49149"/>
                </a:lnTo>
                <a:lnTo>
                  <a:pt x="726922" y="48564"/>
                </a:lnTo>
                <a:lnTo>
                  <a:pt x="717169" y="37719"/>
                </a:lnTo>
                <a:lnTo>
                  <a:pt x="705358" y="28968"/>
                </a:lnTo>
                <a:lnTo>
                  <a:pt x="701421" y="27127"/>
                </a:lnTo>
                <a:lnTo>
                  <a:pt x="701421" y="90170"/>
                </a:lnTo>
                <a:lnTo>
                  <a:pt x="700659" y="98577"/>
                </a:lnTo>
                <a:lnTo>
                  <a:pt x="676275" y="127939"/>
                </a:lnTo>
                <a:lnTo>
                  <a:pt x="668439" y="130098"/>
                </a:lnTo>
                <a:lnTo>
                  <a:pt x="668274" y="130098"/>
                </a:lnTo>
                <a:lnTo>
                  <a:pt x="659638" y="130810"/>
                </a:lnTo>
                <a:lnTo>
                  <a:pt x="624497" y="113144"/>
                </a:lnTo>
                <a:lnTo>
                  <a:pt x="617855" y="90170"/>
                </a:lnTo>
                <a:lnTo>
                  <a:pt x="618540" y="81838"/>
                </a:lnTo>
                <a:lnTo>
                  <a:pt x="642493" y="52108"/>
                </a:lnTo>
                <a:lnTo>
                  <a:pt x="642353" y="52108"/>
                </a:lnTo>
                <a:lnTo>
                  <a:pt x="650595" y="49898"/>
                </a:lnTo>
                <a:lnTo>
                  <a:pt x="650405" y="49898"/>
                </a:lnTo>
                <a:lnTo>
                  <a:pt x="659638" y="49149"/>
                </a:lnTo>
                <a:lnTo>
                  <a:pt x="694829" y="67221"/>
                </a:lnTo>
                <a:lnTo>
                  <a:pt x="700620" y="81622"/>
                </a:lnTo>
                <a:lnTo>
                  <a:pt x="700684" y="81838"/>
                </a:lnTo>
                <a:lnTo>
                  <a:pt x="701421" y="90170"/>
                </a:lnTo>
                <a:lnTo>
                  <a:pt x="701421" y="27127"/>
                </a:lnTo>
                <a:lnTo>
                  <a:pt x="692035" y="22694"/>
                </a:lnTo>
                <a:lnTo>
                  <a:pt x="677214" y="18923"/>
                </a:lnTo>
                <a:lnTo>
                  <a:pt x="660908" y="17653"/>
                </a:lnTo>
                <a:lnTo>
                  <a:pt x="644372" y="18923"/>
                </a:lnTo>
                <a:lnTo>
                  <a:pt x="603123" y="37719"/>
                </a:lnTo>
                <a:lnTo>
                  <a:pt x="581202" y="74764"/>
                </a:lnTo>
                <a:lnTo>
                  <a:pt x="579755" y="90170"/>
                </a:lnTo>
                <a:lnTo>
                  <a:pt x="581177" y="105422"/>
                </a:lnTo>
                <a:lnTo>
                  <a:pt x="602615" y="142240"/>
                </a:lnTo>
                <a:lnTo>
                  <a:pt x="643064" y="160947"/>
                </a:lnTo>
                <a:lnTo>
                  <a:pt x="659257" y="162179"/>
                </a:lnTo>
                <a:lnTo>
                  <a:pt x="675347" y="160947"/>
                </a:lnTo>
                <a:lnTo>
                  <a:pt x="675525" y="160947"/>
                </a:lnTo>
                <a:lnTo>
                  <a:pt x="716229" y="142240"/>
                </a:lnTo>
                <a:lnTo>
                  <a:pt x="738035" y="105422"/>
                </a:lnTo>
                <a:lnTo>
                  <a:pt x="739521" y="90170"/>
                </a:lnTo>
                <a:close/>
              </a:path>
              <a:path w="814070" h="287020">
                <a:moveTo>
                  <a:pt x="765924" y="234696"/>
                </a:moveTo>
                <a:lnTo>
                  <a:pt x="764184" y="208153"/>
                </a:lnTo>
                <a:lnTo>
                  <a:pt x="764108" y="207098"/>
                </a:lnTo>
                <a:lnTo>
                  <a:pt x="764019" y="205752"/>
                </a:lnTo>
                <a:lnTo>
                  <a:pt x="763905" y="203835"/>
                </a:lnTo>
                <a:lnTo>
                  <a:pt x="725703" y="205752"/>
                </a:lnTo>
                <a:lnTo>
                  <a:pt x="678929" y="207098"/>
                </a:lnTo>
                <a:lnTo>
                  <a:pt x="623595" y="207899"/>
                </a:lnTo>
                <a:lnTo>
                  <a:pt x="559689" y="208153"/>
                </a:lnTo>
                <a:lnTo>
                  <a:pt x="563346" y="238417"/>
                </a:lnTo>
                <a:lnTo>
                  <a:pt x="563460" y="239344"/>
                </a:lnTo>
                <a:lnTo>
                  <a:pt x="563499" y="239649"/>
                </a:lnTo>
                <a:lnTo>
                  <a:pt x="616648" y="239344"/>
                </a:lnTo>
                <a:lnTo>
                  <a:pt x="668096" y="238417"/>
                </a:lnTo>
                <a:lnTo>
                  <a:pt x="717854" y="236867"/>
                </a:lnTo>
                <a:lnTo>
                  <a:pt x="765924" y="234696"/>
                </a:lnTo>
                <a:close/>
              </a:path>
              <a:path w="814070" h="287020">
                <a:moveTo>
                  <a:pt x="813943" y="0"/>
                </a:moveTo>
                <a:lnTo>
                  <a:pt x="776973" y="0"/>
                </a:lnTo>
                <a:lnTo>
                  <a:pt x="776973" y="287020"/>
                </a:lnTo>
                <a:lnTo>
                  <a:pt x="813943" y="287020"/>
                </a:lnTo>
                <a:lnTo>
                  <a:pt x="813943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92119" y="406526"/>
            <a:ext cx="845185" cy="287020"/>
          </a:xfrm>
          <a:custGeom>
            <a:avLst/>
            <a:gdLst/>
            <a:ahLst/>
            <a:cxnLst/>
            <a:rect l="l" t="t" r="r" b="b"/>
            <a:pathLst>
              <a:path w="845185" h="287020">
                <a:moveTo>
                  <a:pt x="749934" y="166370"/>
                </a:moveTo>
                <a:lnTo>
                  <a:pt x="710406" y="170561"/>
                </a:lnTo>
                <a:lnTo>
                  <a:pt x="669610" y="192182"/>
                </a:lnTo>
                <a:lnTo>
                  <a:pt x="655573" y="226187"/>
                </a:lnTo>
                <a:lnTo>
                  <a:pt x="657141" y="238807"/>
                </a:lnTo>
                <a:lnTo>
                  <a:pt x="680465" y="269239"/>
                </a:lnTo>
                <a:lnTo>
                  <a:pt x="728936" y="284831"/>
                </a:lnTo>
                <a:lnTo>
                  <a:pt x="749934" y="285876"/>
                </a:lnTo>
                <a:lnTo>
                  <a:pt x="771080" y="284831"/>
                </a:lnTo>
                <a:lnTo>
                  <a:pt x="819657" y="269239"/>
                </a:lnTo>
                <a:lnTo>
                  <a:pt x="834779" y="255015"/>
                </a:lnTo>
                <a:lnTo>
                  <a:pt x="749934" y="255015"/>
                </a:lnTo>
                <a:lnTo>
                  <a:pt x="736719" y="254535"/>
                </a:lnTo>
                <a:lnTo>
                  <a:pt x="725265" y="253079"/>
                </a:lnTo>
                <a:lnTo>
                  <a:pt x="715573" y="250622"/>
                </a:lnTo>
                <a:lnTo>
                  <a:pt x="707643" y="247142"/>
                </a:lnTo>
                <a:lnTo>
                  <a:pt x="698345" y="241935"/>
                </a:lnTo>
                <a:lnTo>
                  <a:pt x="698204" y="241935"/>
                </a:lnTo>
                <a:lnTo>
                  <a:pt x="693505" y="234950"/>
                </a:lnTo>
                <a:lnTo>
                  <a:pt x="693419" y="217677"/>
                </a:lnTo>
                <a:lnTo>
                  <a:pt x="696004" y="213709"/>
                </a:lnTo>
                <a:lnTo>
                  <a:pt x="698033" y="210693"/>
                </a:lnTo>
                <a:lnTo>
                  <a:pt x="698118" y="210565"/>
                </a:lnTo>
                <a:lnTo>
                  <a:pt x="736627" y="197731"/>
                </a:lnTo>
                <a:lnTo>
                  <a:pt x="749934" y="197231"/>
                </a:lnTo>
                <a:lnTo>
                  <a:pt x="834551" y="197231"/>
                </a:lnTo>
                <a:lnTo>
                  <a:pt x="830659" y="192182"/>
                </a:lnTo>
                <a:lnTo>
                  <a:pt x="819657" y="183134"/>
                </a:lnTo>
                <a:lnTo>
                  <a:pt x="805870" y="175799"/>
                </a:lnTo>
                <a:lnTo>
                  <a:pt x="789654" y="170561"/>
                </a:lnTo>
                <a:lnTo>
                  <a:pt x="771009" y="167417"/>
                </a:lnTo>
                <a:lnTo>
                  <a:pt x="749934" y="166370"/>
                </a:lnTo>
                <a:close/>
              </a:path>
              <a:path w="845185" h="287020">
                <a:moveTo>
                  <a:pt x="834551" y="197231"/>
                </a:moveTo>
                <a:lnTo>
                  <a:pt x="749934" y="197231"/>
                </a:lnTo>
                <a:lnTo>
                  <a:pt x="763319" y="197731"/>
                </a:lnTo>
                <a:lnTo>
                  <a:pt x="774906" y="199231"/>
                </a:lnTo>
                <a:lnTo>
                  <a:pt x="784707" y="201731"/>
                </a:lnTo>
                <a:lnTo>
                  <a:pt x="792733" y="205232"/>
                </a:lnTo>
                <a:lnTo>
                  <a:pt x="802258" y="210693"/>
                </a:lnTo>
                <a:lnTo>
                  <a:pt x="806957" y="217677"/>
                </a:lnTo>
                <a:lnTo>
                  <a:pt x="806957" y="234950"/>
                </a:lnTo>
                <a:lnTo>
                  <a:pt x="763228" y="254535"/>
                </a:lnTo>
                <a:lnTo>
                  <a:pt x="749934" y="255015"/>
                </a:lnTo>
                <a:lnTo>
                  <a:pt x="834779" y="255015"/>
                </a:lnTo>
                <a:lnTo>
                  <a:pt x="838517" y="250189"/>
                </a:lnTo>
                <a:lnTo>
                  <a:pt x="843232" y="238807"/>
                </a:lnTo>
                <a:lnTo>
                  <a:pt x="844803" y="226187"/>
                </a:lnTo>
                <a:lnTo>
                  <a:pt x="843232" y="213709"/>
                </a:lnTo>
                <a:lnTo>
                  <a:pt x="838517" y="202374"/>
                </a:lnTo>
                <a:lnTo>
                  <a:pt x="834551" y="197231"/>
                </a:lnTo>
                <a:close/>
              </a:path>
              <a:path w="845185" h="287020">
                <a:moveTo>
                  <a:pt x="545338" y="156718"/>
                </a:moveTo>
                <a:lnTo>
                  <a:pt x="359536" y="156718"/>
                </a:lnTo>
                <a:lnTo>
                  <a:pt x="359536" y="187071"/>
                </a:lnTo>
                <a:lnTo>
                  <a:pt x="508761" y="187071"/>
                </a:lnTo>
                <a:lnTo>
                  <a:pt x="508761" y="204724"/>
                </a:lnTo>
                <a:lnTo>
                  <a:pt x="359536" y="204724"/>
                </a:lnTo>
                <a:lnTo>
                  <a:pt x="359536" y="282448"/>
                </a:lnTo>
                <a:lnTo>
                  <a:pt x="552576" y="282448"/>
                </a:lnTo>
                <a:lnTo>
                  <a:pt x="552576" y="252095"/>
                </a:lnTo>
                <a:lnTo>
                  <a:pt x="396493" y="252095"/>
                </a:lnTo>
                <a:lnTo>
                  <a:pt x="396493" y="233425"/>
                </a:lnTo>
                <a:lnTo>
                  <a:pt x="545338" y="233425"/>
                </a:lnTo>
                <a:lnTo>
                  <a:pt x="545338" y="156718"/>
                </a:lnTo>
                <a:close/>
              </a:path>
              <a:path w="845185" h="287020">
                <a:moveTo>
                  <a:pt x="545338" y="119507"/>
                </a:moveTo>
                <a:lnTo>
                  <a:pt x="508761" y="119507"/>
                </a:lnTo>
                <a:lnTo>
                  <a:pt x="508761" y="144145"/>
                </a:lnTo>
                <a:lnTo>
                  <a:pt x="545338" y="144145"/>
                </a:lnTo>
                <a:lnTo>
                  <a:pt x="545338" y="119507"/>
                </a:lnTo>
                <a:close/>
              </a:path>
              <a:path w="845185" h="287020">
                <a:moveTo>
                  <a:pt x="351408" y="9398"/>
                </a:moveTo>
                <a:lnTo>
                  <a:pt x="314832" y="9398"/>
                </a:lnTo>
                <a:lnTo>
                  <a:pt x="314832" y="139319"/>
                </a:lnTo>
                <a:lnTo>
                  <a:pt x="452881" y="139319"/>
                </a:lnTo>
                <a:lnTo>
                  <a:pt x="452881" y="119507"/>
                </a:lnTo>
                <a:lnTo>
                  <a:pt x="545338" y="119507"/>
                </a:lnTo>
                <a:lnTo>
                  <a:pt x="545338" y="108203"/>
                </a:lnTo>
                <a:lnTo>
                  <a:pt x="351408" y="108203"/>
                </a:lnTo>
                <a:lnTo>
                  <a:pt x="351408" y="76200"/>
                </a:lnTo>
                <a:lnTo>
                  <a:pt x="452881" y="76200"/>
                </a:lnTo>
                <a:lnTo>
                  <a:pt x="452881" y="63626"/>
                </a:lnTo>
                <a:lnTo>
                  <a:pt x="545338" y="63626"/>
                </a:lnTo>
                <a:lnTo>
                  <a:pt x="545338" y="44831"/>
                </a:lnTo>
                <a:lnTo>
                  <a:pt x="351408" y="44831"/>
                </a:lnTo>
                <a:lnTo>
                  <a:pt x="351408" y="9398"/>
                </a:lnTo>
                <a:close/>
              </a:path>
              <a:path w="845185" h="287020">
                <a:moveTo>
                  <a:pt x="452881" y="76200"/>
                </a:moveTo>
                <a:lnTo>
                  <a:pt x="415925" y="76200"/>
                </a:lnTo>
                <a:lnTo>
                  <a:pt x="415925" y="108203"/>
                </a:lnTo>
                <a:lnTo>
                  <a:pt x="545338" y="108203"/>
                </a:lnTo>
                <a:lnTo>
                  <a:pt x="545338" y="91312"/>
                </a:lnTo>
                <a:lnTo>
                  <a:pt x="452881" y="91312"/>
                </a:lnTo>
                <a:lnTo>
                  <a:pt x="452881" y="76200"/>
                </a:lnTo>
                <a:close/>
              </a:path>
              <a:path w="845185" h="287020">
                <a:moveTo>
                  <a:pt x="545338" y="63626"/>
                </a:moveTo>
                <a:lnTo>
                  <a:pt x="508761" y="63626"/>
                </a:lnTo>
                <a:lnTo>
                  <a:pt x="508761" y="91312"/>
                </a:lnTo>
                <a:lnTo>
                  <a:pt x="545338" y="91312"/>
                </a:lnTo>
                <a:lnTo>
                  <a:pt x="545338" y="63626"/>
                </a:lnTo>
                <a:close/>
              </a:path>
              <a:path w="845185" h="287020">
                <a:moveTo>
                  <a:pt x="452881" y="9398"/>
                </a:moveTo>
                <a:lnTo>
                  <a:pt x="415925" y="9398"/>
                </a:lnTo>
                <a:lnTo>
                  <a:pt x="415925" y="44831"/>
                </a:lnTo>
                <a:lnTo>
                  <a:pt x="545338" y="44831"/>
                </a:lnTo>
                <a:lnTo>
                  <a:pt x="545338" y="35687"/>
                </a:lnTo>
                <a:lnTo>
                  <a:pt x="452881" y="35687"/>
                </a:lnTo>
                <a:lnTo>
                  <a:pt x="452881" y="9398"/>
                </a:lnTo>
                <a:close/>
              </a:path>
              <a:path w="845185" h="287020">
                <a:moveTo>
                  <a:pt x="545338" y="0"/>
                </a:moveTo>
                <a:lnTo>
                  <a:pt x="508761" y="0"/>
                </a:lnTo>
                <a:lnTo>
                  <a:pt x="508761" y="35687"/>
                </a:lnTo>
                <a:lnTo>
                  <a:pt x="545338" y="35687"/>
                </a:lnTo>
                <a:lnTo>
                  <a:pt x="545338" y="0"/>
                </a:lnTo>
                <a:close/>
              </a:path>
              <a:path w="845185" h="287020">
                <a:moveTo>
                  <a:pt x="840231" y="0"/>
                </a:moveTo>
                <a:lnTo>
                  <a:pt x="803655" y="0"/>
                </a:lnTo>
                <a:lnTo>
                  <a:pt x="803655" y="50546"/>
                </a:lnTo>
                <a:lnTo>
                  <a:pt x="742060" y="50546"/>
                </a:lnTo>
                <a:lnTo>
                  <a:pt x="742060" y="82296"/>
                </a:lnTo>
                <a:lnTo>
                  <a:pt x="803655" y="82296"/>
                </a:lnTo>
                <a:lnTo>
                  <a:pt x="803655" y="164337"/>
                </a:lnTo>
                <a:lnTo>
                  <a:pt x="840231" y="164337"/>
                </a:lnTo>
                <a:lnTo>
                  <a:pt x="840231" y="0"/>
                </a:lnTo>
                <a:close/>
              </a:path>
              <a:path w="845185" h="287020">
                <a:moveTo>
                  <a:pt x="698753" y="9017"/>
                </a:moveTo>
                <a:lnTo>
                  <a:pt x="661669" y="9017"/>
                </a:lnTo>
                <a:lnTo>
                  <a:pt x="661669" y="44831"/>
                </a:lnTo>
                <a:lnTo>
                  <a:pt x="660529" y="57090"/>
                </a:lnTo>
                <a:lnTo>
                  <a:pt x="641603" y="98044"/>
                </a:lnTo>
                <a:lnTo>
                  <a:pt x="605010" y="130083"/>
                </a:lnTo>
                <a:lnTo>
                  <a:pt x="589914" y="137795"/>
                </a:lnTo>
                <a:lnTo>
                  <a:pt x="617219" y="163702"/>
                </a:lnTo>
                <a:lnTo>
                  <a:pt x="652779" y="135636"/>
                </a:lnTo>
                <a:lnTo>
                  <a:pt x="681227" y="99695"/>
                </a:lnTo>
                <a:lnTo>
                  <a:pt x="724890" y="99695"/>
                </a:lnTo>
                <a:lnTo>
                  <a:pt x="700061" y="57090"/>
                </a:lnTo>
                <a:lnTo>
                  <a:pt x="698876" y="44831"/>
                </a:lnTo>
                <a:lnTo>
                  <a:pt x="698753" y="9017"/>
                </a:lnTo>
                <a:close/>
              </a:path>
              <a:path w="845185" h="287020">
                <a:moveTo>
                  <a:pt x="724890" y="99695"/>
                </a:moveTo>
                <a:lnTo>
                  <a:pt x="681227" y="99695"/>
                </a:lnTo>
                <a:lnTo>
                  <a:pt x="693519" y="116097"/>
                </a:lnTo>
                <a:lnTo>
                  <a:pt x="708501" y="130810"/>
                </a:lnTo>
                <a:lnTo>
                  <a:pt x="726197" y="143807"/>
                </a:lnTo>
                <a:lnTo>
                  <a:pt x="746632" y="155067"/>
                </a:lnTo>
                <a:lnTo>
                  <a:pt x="770508" y="126237"/>
                </a:lnTo>
                <a:lnTo>
                  <a:pt x="756032" y="121116"/>
                </a:lnTo>
                <a:lnTo>
                  <a:pt x="742711" y="114125"/>
                </a:lnTo>
                <a:lnTo>
                  <a:pt x="730557" y="105253"/>
                </a:lnTo>
                <a:lnTo>
                  <a:pt x="724890" y="99695"/>
                </a:lnTo>
                <a:close/>
              </a:path>
              <a:path w="845185" h="287020">
                <a:moveTo>
                  <a:pt x="236092" y="0"/>
                </a:moveTo>
                <a:lnTo>
                  <a:pt x="198246" y="0"/>
                </a:lnTo>
                <a:lnTo>
                  <a:pt x="198246" y="287020"/>
                </a:lnTo>
                <a:lnTo>
                  <a:pt x="236092" y="287020"/>
                </a:lnTo>
                <a:lnTo>
                  <a:pt x="236092" y="143001"/>
                </a:lnTo>
                <a:lnTo>
                  <a:pt x="280796" y="143001"/>
                </a:lnTo>
                <a:lnTo>
                  <a:pt x="280796" y="111633"/>
                </a:lnTo>
                <a:lnTo>
                  <a:pt x="236092" y="111633"/>
                </a:lnTo>
                <a:lnTo>
                  <a:pt x="236092" y="0"/>
                </a:lnTo>
                <a:close/>
              </a:path>
              <a:path w="845185" h="287020">
                <a:moveTo>
                  <a:pt x="110997" y="68834"/>
                </a:moveTo>
                <a:lnTo>
                  <a:pt x="73786" y="68834"/>
                </a:lnTo>
                <a:lnTo>
                  <a:pt x="73674" y="89915"/>
                </a:lnTo>
                <a:lnTo>
                  <a:pt x="72475" y="103455"/>
                </a:lnTo>
                <a:lnTo>
                  <a:pt x="52704" y="149478"/>
                </a:lnTo>
                <a:lnTo>
                  <a:pt x="15164" y="189126"/>
                </a:lnTo>
                <a:lnTo>
                  <a:pt x="0" y="199009"/>
                </a:lnTo>
                <a:lnTo>
                  <a:pt x="26923" y="223647"/>
                </a:lnTo>
                <a:lnTo>
                  <a:pt x="62864" y="191008"/>
                </a:lnTo>
                <a:lnTo>
                  <a:pt x="87028" y="158271"/>
                </a:lnTo>
                <a:lnTo>
                  <a:pt x="92455" y="148082"/>
                </a:lnTo>
                <a:lnTo>
                  <a:pt x="133165" y="148082"/>
                </a:lnTo>
                <a:lnTo>
                  <a:pt x="112285" y="103941"/>
                </a:lnTo>
                <a:lnTo>
                  <a:pt x="110997" y="89915"/>
                </a:lnTo>
                <a:lnTo>
                  <a:pt x="110997" y="68834"/>
                </a:lnTo>
                <a:close/>
              </a:path>
              <a:path w="845185" h="287020">
                <a:moveTo>
                  <a:pt x="133165" y="148082"/>
                </a:moveTo>
                <a:lnTo>
                  <a:pt x="92455" y="148082"/>
                </a:lnTo>
                <a:lnTo>
                  <a:pt x="104149" y="165919"/>
                </a:lnTo>
                <a:lnTo>
                  <a:pt x="119427" y="183435"/>
                </a:lnTo>
                <a:lnTo>
                  <a:pt x="138301" y="200642"/>
                </a:lnTo>
                <a:lnTo>
                  <a:pt x="160781" y="217550"/>
                </a:lnTo>
                <a:lnTo>
                  <a:pt x="183647" y="189126"/>
                </a:lnTo>
                <a:lnTo>
                  <a:pt x="183768" y="188975"/>
                </a:lnTo>
                <a:lnTo>
                  <a:pt x="168721" y="180951"/>
                </a:lnTo>
                <a:lnTo>
                  <a:pt x="155019" y="171164"/>
                </a:lnTo>
                <a:lnTo>
                  <a:pt x="142674" y="159615"/>
                </a:lnTo>
                <a:lnTo>
                  <a:pt x="133165" y="148082"/>
                </a:lnTo>
                <a:close/>
              </a:path>
              <a:path w="845185" h="287020">
                <a:moveTo>
                  <a:pt x="176783" y="37464"/>
                </a:moveTo>
                <a:lnTo>
                  <a:pt x="8381" y="37464"/>
                </a:lnTo>
                <a:lnTo>
                  <a:pt x="8381" y="68834"/>
                </a:lnTo>
                <a:lnTo>
                  <a:pt x="176783" y="68834"/>
                </a:lnTo>
                <a:lnTo>
                  <a:pt x="176783" y="37464"/>
                </a:lnTo>
                <a:close/>
              </a:path>
              <a:path w="845185" h="287020">
                <a:moveTo>
                  <a:pt x="110997" y="0"/>
                </a:moveTo>
                <a:lnTo>
                  <a:pt x="73532" y="0"/>
                </a:lnTo>
                <a:lnTo>
                  <a:pt x="73532" y="37464"/>
                </a:lnTo>
                <a:lnTo>
                  <a:pt x="110997" y="37464"/>
                </a:lnTo>
                <a:lnTo>
                  <a:pt x="110997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94080" y="1403286"/>
            <a:ext cx="87509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Malgun Gothic"/>
                <a:cs typeface="Malgun Gothic"/>
              </a:rPr>
              <a:t>글로벌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최고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수준의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spc="-20" dirty="0">
                <a:latin typeface="Calibri"/>
                <a:cs typeface="Calibri"/>
              </a:rPr>
              <a:t>ChatGPT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사용을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무리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없이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대체할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수</a:t>
            </a:r>
            <a:r>
              <a:rPr sz="1350" spc="-18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있을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만큼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탁월한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성능과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차별적인</a:t>
            </a:r>
            <a:r>
              <a:rPr sz="1350" spc="-22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기능을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보유하고</a:t>
            </a:r>
            <a:r>
              <a:rPr sz="1350" spc="-22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있습니다</a:t>
            </a:r>
            <a:r>
              <a:rPr sz="1350" spc="-10" dirty="0">
                <a:latin typeface="Calibri"/>
                <a:cs typeface="Calibri"/>
              </a:rPr>
              <a:t>.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25"/>
              </a:spcBef>
            </a:pPr>
            <a:r>
              <a:rPr dirty="0"/>
              <a:t>차별성</a:t>
            </a:r>
            <a:r>
              <a:rPr spc="-125" dirty="0"/>
              <a:t> </a:t>
            </a:r>
            <a:r>
              <a:rPr dirty="0">
                <a:latin typeface="Calibri"/>
                <a:cs typeface="Calibri"/>
              </a:rPr>
              <a:t>1</a:t>
            </a:r>
            <a:r>
              <a:rPr spc="95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spc="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/>
              <a:t>독보적인</a:t>
            </a:r>
            <a:r>
              <a:rPr spc="-85" dirty="0"/>
              <a:t> </a:t>
            </a:r>
            <a:r>
              <a:rPr spc="-25" dirty="0"/>
              <a:t>성능</a:t>
            </a:r>
          </a:p>
        </p:txBody>
      </p:sp>
      <p:sp>
        <p:nvSpPr>
          <p:cNvPr id="15" name="object 15"/>
          <p:cNvSpPr/>
          <p:nvPr/>
        </p:nvSpPr>
        <p:spPr>
          <a:xfrm>
            <a:off x="685800" y="1905000"/>
            <a:ext cx="4752975" cy="371475"/>
          </a:xfrm>
          <a:custGeom>
            <a:avLst/>
            <a:gdLst/>
            <a:ahLst/>
            <a:cxnLst/>
            <a:rect l="l" t="t" r="r" b="b"/>
            <a:pathLst>
              <a:path w="4752975" h="371475">
                <a:moveTo>
                  <a:pt x="4690999" y="0"/>
                </a:moveTo>
                <a:lnTo>
                  <a:pt x="61912" y="0"/>
                </a:lnTo>
                <a:lnTo>
                  <a:pt x="37815" y="4859"/>
                </a:lnTo>
                <a:lnTo>
                  <a:pt x="18135" y="18113"/>
                </a:lnTo>
                <a:lnTo>
                  <a:pt x="4866" y="37772"/>
                </a:lnTo>
                <a:lnTo>
                  <a:pt x="0" y="61849"/>
                </a:lnTo>
                <a:lnTo>
                  <a:pt x="0" y="309499"/>
                </a:lnTo>
                <a:lnTo>
                  <a:pt x="4866" y="333648"/>
                </a:lnTo>
                <a:lnTo>
                  <a:pt x="18135" y="353345"/>
                </a:lnTo>
                <a:lnTo>
                  <a:pt x="37815" y="366613"/>
                </a:lnTo>
                <a:lnTo>
                  <a:pt x="61912" y="371475"/>
                </a:lnTo>
                <a:lnTo>
                  <a:pt x="4690999" y="371475"/>
                </a:lnTo>
                <a:lnTo>
                  <a:pt x="4715148" y="366613"/>
                </a:lnTo>
                <a:lnTo>
                  <a:pt x="4734845" y="353345"/>
                </a:lnTo>
                <a:lnTo>
                  <a:pt x="4748113" y="333648"/>
                </a:lnTo>
                <a:lnTo>
                  <a:pt x="4752975" y="309499"/>
                </a:lnTo>
                <a:lnTo>
                  <a:pt x="4752975" y="61849"/>
                </a:lnTo>
                <a:lnTo>
                  <a:pt x="4748113" y="37772"/>
                </a:lnTo>
                <a:lnTo>
                  <a:pt x="4734845" y="18113"/>
                </a:lnTo>
                <a:lnTo>
                  <a:pt x="4715148" y="4859"/>
                </a:lnTo>
                <a:lnTo>
                  <a:pt x="4690999" y="0"/>
                </a:lnTo>
                <a:close/>
              </a:path>
            </a:pathLst>
          </a:custGeom>
          <a:solidFill>
            <a:srgbClr val="1C15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2475" y="3533775"/>
            <a:ext cx="3162300" cy="371475"/>
          </a:xfrm>
          <a:custGeom>
            <a:avLst/>
            <a:gdLst/>
            <a:ahLst/>
            <a:cxnLst/>
            <a:rect l="l" t="t" r="r" b="b"/>
            <a:pathLst>
              <a:path w="3162300" h="371475">
                <a:moveTo>
                  <a:pt x="3100324" y="0"/>
                </a:moveTo>
                <a:lnTo>
                  <a:pt x="61912" y="0"/>
                </a:lnTo>
                <a:lnTo>
                  <a:pt x="37815" y="4861"/>
                </a:lnTo>
                <a:lnTo>
                  <a:pt x="18135" y="18129"/>
                </a:lnTo>
                <a:lnTo>
                  <a:pt x="4866" y="37826"/>
                </a:lnTo>
                <a:lnTo>
                  <a:pt x="0" y="61975"/>
                </a:lnTo>
                <a:lnTo>
                  <a:pt x="0" y="309499"/>
                </a:lnTo>
                <a:lnTo>
                  <a:pt x="4866" y="333648"/>
                </a:lnTo>
                <a:lnTo>
                  <a:pt x="18135" y="353345"/>
                </a:lnTo>
                <a:lnTo>
                  <a:pt x="37815" y="366613"/>
                </a:lnTo>
                <a:lnTo>
                  <a:pt x="61912" y="371475"/>
                </a:lnTo>
                <a:lnTo>
                  <a:pt x="3100324" y="371475"/>
                </a:lnTo>
                <a:lnTo>
                  <a:pt x="3124473" y="366613"/>
                </a:lnTo>
                <a:lnTo>
                  <a:pt x="3144170" y="353345"/>
                </a:lnTo>
                <a:lnTo>
                  <a:pt x="3157438" y="333648"/>
                </a:lnTo>
                <a:lnTo>
                  <a:pt x="3162300" y="309499"/>
                </a:lnTo>
                <a:lnTo>
                  <a:pt x="3162300" y="61975"/>
                </a:lnTo>
                <a:lnTo>
                  <a:pt x="3157438" y="37826"/>
                </a:lnTo>
                <a:lnTo>
                  <a:pt x="3144170" y="18129"/>
                </a:lnTo>
                <a:lnTo>
                  <a:pt x="3124473" y="4861"/>
                </a:lnTo>
                <a:lnTo>
                  <a:pt x="3100324" y="0"/>
                </a:lnTo>
                <a:close/>
              </a:path>
            </a:pathLst>
          </a:custGeom>
          <a:solidFill>
            <a:srgbClr val="1C15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86434" y="2396553"/>
            <a:ext cx="5870575" cy="9429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Malgun Gothic"/>
                <a:cs typeface="Malgun Gothic"/>
              </a:rPr>
              <a:t>오픈소스가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기존에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보유한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영어에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대한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최상급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언어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능력을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한국어로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치환하는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Calibri"/>
                <a:cs typeface="Calibri"/>
              </a:rPr>
              <a:t>CoIT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학습 </a:t>
            </a:r>
            <a:r>
              <a:rPr sz="1200" dirty="0">
                <a:latin typeface="Malgun Gothic"/>
                <a:cs typeface="Malgun Gothic"/>
              </a:rPr>
              <a:t>방식을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적용하여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한국어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능력이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떨어지던</a:t>
            </a:r>
            <a:r>
              <a:rPr sz="1200" b="1" spc="-150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기존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LLM</a:t>
            </a:r>
            <a:r>
              <a:rPr sz="1200" b="1" spc="-10" dirty="0">
                <a:latin typeface="Malgun Gothic"/>
                <a:cs typeface="Malgun Gothic"/>
              </a:rPr>
              <a:t>의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고질적인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문제를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해결</a:t>
            </a:r>
            <a:r>
              <a:rPr sz="1200" spc="-10" dirty="0">
                <a:latin typeface="Malgun Gothic"/>
                <a:cs typeface="Malgun Gothic"/>
              </a:rPr>
              <a:t>하였습니다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ts val="1430"/>
              </a:lnSpc>
              <a:spcBef>
                <a:spcPts val="1445"/>
              </a:spcBef>
            </a:pPr>
            <a:r>
              <a:rPr sz="1200" dirty="0">
                <a:latin typeface="Malgun Gothic"/>
                <a:cs typeface="Malgun Gothic"/>
              </a:rPr>
              <a:t>특히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최근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Calibri"/>
                <a:cs typeface="Calibri"/>
              </a:rPr>
              <a:t>Vocab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dirty="0">
                <a:latin typeface="Malgun Gothic"/>
                <a:cs typeface="Malgun Gothic"/>
              </a:rPr>
              <a:t>확장을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통해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한국어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생성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속도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및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Calibri"/>
                <a:cs typeface="Calibri"/>
              </a:rPr>
              <a:t>context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length</a:t>
            </a:r>
            <a:r>
              <a:rPr sz="1200" spc="-10" dirty="0">
                <a:latin typeface="Malgun Gothic"/>
                <a:cs typeface="Malgun Gothic"/>
              </a:rPr>
              <a:t>가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약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Calibri"/>
                <a:cs typeface="Calibri"/>
              </a:rPr>
              <a:t>1.3</a:t>
            </a:r>
            <a:r>
              <a:rPr sz="1200" spc="-10" dirty="0">
                <a:latin typeface="Malgun Gothic"/>
                <a:cs typeface="Malgun Gothic"/>
              </a:rPr>
              <a:t>배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증가하는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50" dirty="0">
                <a:latin typeface="Malgun Gothic"/>
                <a:cs typeface="Malgun Gothic"/>
              </a:rPr>
              <a:t>등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ts val="1430"/>
              </a:lnSpc>
            </a:pPr>
            <a:r>
              <a:rPr sz="1200" dirty="0">
                <a:latin typeface="Malgun Gothic"/>
                <a:cs typeface="Malgun Gothic"/>
              </a:rPr>
              <a:t>한국어</a:t>
            </a:r>
            <a:r>
              <a:rPr sz="1200" spc="-15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성능을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점차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고도화하고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있습니다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2947" y="3613086"/>
            <a:ext cx="466979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1350" b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Catastrophic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Forgetting</a:t>
            </a:r>
            <a:r>
              <a:rPr sz="13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문제</a:t>
            </a:r>
            <a:r>
              <a:rPr sz="1350" b="1" spc="-1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해결</a:t>
            </a:r>
            <a:endParaRPr sz="1350" dirty="0">
              <a:latin typeface="Malgun Gothic"/>
              <a:cs typeface="Malgun Gothic"/>
            </a:endParaRPr>
          </a:p>
          <a:p>
            <a:pPr marL="12700" marR="94615">
              <a:lnSpc>
                <a:spcPts val="1430"/>
              </a:lnSpc>
              <a:spcBef>
                <a:spcPts val="1730"/>
              </a:spcBef>
            </a:pPr>
            <a:r>
              <a:rPr sz="1200" dirty="0">
                <a:latin typeface="Malgun Gothic"/>
                <a:cs typeface="Malgun Gothic"/>
              </a:rPr>
              <a:t>단계별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학습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진행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등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0C519B"/>
                </a:solidFill>
                <a:latin typeface="Calibri"/>
                <a:cs typeface="Calibri"/>
              </a:rPr>
              <a:t>Catastrophic</a:t>
            </a:r>
            <a:r>
              <a:rPr sz="1200" b="1" spc="70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0C519B"/>
                </a:solidFill>
                <a:latin typeface="Calibri"/>
                <a:cs typeface="Calibri"/>
              </a:rPr>
              <a:t>Forgetting*</a:t>
            </a:r>
            <a:r>
              <a:rPr sz="1200" spc="-20" dirty="0">
                <a:latin typeface="Malgun Gothic"/>
                <a:cs typeface="Malgun Gothic"/>
              </a:rPr>
              <a:t>을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완화하기</a:t>
            </a:r>
            <a:r>
              <a:rPr sz="1200" spc="-12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위한 </a:t>
            </a:r>
            <a:r>
              <a:rPr sz="1200" dirty="0">
                <a:latin typeface="Malgun Gothic"/>
                <a:cs typeface="Malgun Gothic"/>
              </a:rPr>
              <a:t>학습법을</a:t>
            </a:r>
            <a:r>
              <a:rPr sz="1200" spc="-15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끊임없이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연구하여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높은</a:t>
            </a:r>
            <a:r>
              <a:rPr sz="1200" spc="-13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모델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안정성을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확보하고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있습니다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50" dirty="0">
                <a:solidFill>
                  <a:srgbClr val="0C519B"/>
                </a:solidFill>
                <a:latin typeface="Calibri"/>
                <a:cs typeface="Calibri"/>
              </a:rPr>
              <a:t>*</a:t>
            </a:r>
            <a:r>
              <a:rPr sz="1050" spc="25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C519B"/>
                </a:solidFill>
                <a:latin typeface="Calibri"/>
                <a:cs typeface="Calibri"/>
              </a:rPr>
              <a:t>Catastrophic</a:t>
            </a:r>
            <a:r>
              <a:rPr sz="1050" spc="90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C519B"/>
                </a:solidFill>
                <a:latin typeface="Calibri"/>
                <a:cs typeface="Calibri"/>
              </a:rPr>
              <a:t>Forgetting:</a:t>
            </a:r>
            <a:r>
              <a:rPr sz="1050" spc="25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C519B"/>
                </a:solidFill>
                <a:latin typeface="Malgun Gothic"/>
                <a:cs typeface="Malgun Gothic"/>
              </a:rPr>
              <a:t>새로운</a:t>
            </a:r>
            <a:r>
              <a:rPr sz="1050" spc="-7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0C519B"/>
                </a:solidFill>
                <a:latin typeface="Malgun Gothic"/>
                <a:cs typeface="Malgun Gothic"/>
              </a:rPr>
              <a:t>데이터를</a:t>
            </a:r>
            <a:r>
              <a:rPr sz="1050" spc="-14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0C519B"/>
                </a:solidFill>
                <a:latin typeface="Malgun Gothic"/>
                <a:cs typeface="Malgun Gothic"/>
              </a:rPr>
              <a:t>학습하며</a:t>
            </a:r>
            <a:r>
              <a:rPr sz="1050" spc="-13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0C519B"/>
                </a:solidFill>
                <a:latin typeface="Malgun Gothic"/>
                <a:cs typeface="Malgun Gothic"/>
              </a:rPr>
              <a:t>이전</a:t>
            </a:r>
            <a:r>
              <a:rPr sz="1050" spc="-9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0C519B"/>
                </a:solidFill>
                <a:latin typeface="Malgun Gothic"/>
                <a:cs typeface="Malgun Gothic"/>
              </a:rPr>
              <a:t>학습</a:t>
            </a:r>
            <a:r>
              <a:rPr sz="1050" spc="-9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0C519B"/>
                </a:solidFill>
                <a:latin typeface="Malgun Gothic"/>
                <a:cs typeface="Malgun Gothic"/>
              </a:rPr>
              <a:t>정보를</a:t>
            </a:r>
            <a:r>
              <a:rPr sz="1050" spc="-7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0C519B"/>
                </a:solidFill>
                <a:latin typeface="Malgun Gothic"/>
                <a:cs typeface="Malgun Gothic"/>
              </a:rPr>
              <a:t>잃는</a:t>
            </a:r>
            <a:r>
              <a:rPr sz="1050" spc="-9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0C519B"/>
                </a:solidFill>
                <a:latin typeface="Malgun Gothic"/>
                <a:cs typeface="Malgun Gothic"/>
              </a:rPr>
              <a:t>현상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0417" y="1970722"/>
            <a:ext cx="434276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1.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CoIT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학습</a:t>
            </a:r>
            <a:r>
              <a:rPr sz="1350" b="1" spc="-20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방식을</a:t>
            </a:r>
            <a:r>
              <a:rPr sz="1350" b="1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적용하여</a:t>
            </a:r>
            <a:r>
              <a:rPr sz="1350" b="1" spc="-2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한국어로도</a:t>
            </a:r>
            <a:r>
              <a:rPr sz="1350" b="1" spc="-1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최상급</a:t>
            </a:r>
            <a:r>
              <a:rPr sz="1350" b="1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성능</a:t>
            </a:r>
            <a:r>
              <a:rPr sz="1350" b="1" spc="-20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Malgun Gothic"/>
                <a:cs typeface="Malgun Gothic"/>
              </a:rPr>
              <a:t>보유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5800" y="1381125"/>
            <a:ext cx="76200" cy="247650"/>
          </a:xfrm>
          <a:custGeom>
            <a:avLst/>
            <a:gdLst/>
            <a:ahLst/>
            <a:cxnLst/>
            <a:rect l="l" t="t" r="r" b="b"/>
            <a:pathLst>
              <a:path w="76200" h="247650">
                <a:moveTo>
                  <a:pt x="76200" y="0"/>
                </a:moveTo>
                <a:lnTo>
                  <a:pt x="0" y="0"/>
                </a:lnTo>
                <a:lnTo>
                  <a:pt x="0" y="247650"/>
                </a:lnTo>
                <a:lnTo>
                  <a:pt x="76200" y="247650"/>
                </a:lnTo>
                <a:lnTo>
                  <a:pt x="762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2000" y="4772025"/>
            <a:ext cx="4495800" cy="361950"/>
          </a:xfrm>
          <a:custGeom>
            <a:avLst/>
            <a:gdLst/>
            <a:ahLst/>
            <a:cxnLst/>
            <a:rect l="l" t="t" r="r" b="b"/>
            <a:pathLst>
              <a:path w="4495800" h="361950">
                <a:moveTo>
                  <a:pt x="4435475" y="0"/>
                </a:moveTo>
                <a:lnTo>
                  <a:pt x="60325" y="0"/>
                </a:lnTo>
                <a:lnTo>
                  <a:pt x="36845" y="4746"/>
                </a:lnTo>
                <a:lnTo>
                  <a:pt x="17670" y="17684"/>
                </a:lnTo>
                <a:lnTo>
                  <a:pt x="4741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1" y="325088"/>
                </a:lnTo>
                <a:lnTo>
                  <a:pt x="17670" y="344265"/>
                </a:lnTo>
                <a:lnTo>
                  <a:pt x="36845" y="357203"/>
                </a:lnTo>
                <a:lnTo>
                  <a:pt x="60325" y="361950"/>
                </a:lnTo>
                <a:lnTo>
                  <a:pt x="4435475" y="361950"/>
                </a:lnTo>
                <a:lnTo>
                  <a:pt x="4458938" y="357203"/>
                </a:lnTo>
                <a:lnTo>
                  <a:pt x="4478115" y="344265"/>
                </a:lnTo>
                <a:lnTo>
                  <a:pt x="4491053" y="325088"/>
                </a:lnTo>
                <a:lnTo>
                  <a:pt x="4495800" y="301625"/>
                </a:lnTo>
                <a:lnTo>
                  <a:pt x="4495800" y="60325"/>
                </a:lnTo>
                <a:lnTo>
                  <a:pt x="4491053" y="36861"/>
                </a:lnTo>
                <a:lnTo>
                  <a:pt x="4478115" y="17684"/>
                </a:lnTo>
                <a:lnTo>
                  <a:pt x="4458938" y="4746"/>
                </a:lnTo>
                <a:lnTo>
                  <a:pt x="4435475" y="0"/>
                </a:lnTo>
                <a:close/>
              </a:path>
            </a:pathLst>
          </a:custGeom>
          <a:solidFill>
            <a:srgbClr val="1C15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88364" y="4835779"/>
            <a:ext cx="40335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sz="135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자체</a:t>
            </a:r>
            <a:r>
              <a:rPr sz="1350" b="1" spc="-20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필터링</a:t>
            </a:r>
            <a:r>
              <a:rPr sz="1350" b="1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시스템을</a:t>
            </a:r>
            <a:r>
              <a:rPr sz="1350" b="1" spc="-2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통한</a:t>
            </a:r>
            <a:r>
              <a:rPr sz="1350" b="1" spc="-20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고품질</a:t>
            </a:r>
            <a:r>
              <a:rPr sz="1350" b="1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학습</a:t>
            </a:r>
            <a:r>
              <a:rPr sz="1350" b="1" spc="-2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데이터</a:t>
            </a:r>
            <a:r>
              <a:rPr sz="1350" b="1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Malgun Gothic"/>
                <a:cs typeface="Malgun Gothic"/>
              </a:rPr>
              <a:t>보유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2952" y="5272087"/>
            <a:ext cx="4981575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Malgun Gothic"/>
                <a:cs typeface="Malgun Gothic"/>
              </a:rPr>
              <a:t>자체</a:t>
            </a:r>
            <a:r>
              <a:rPr sz="1200" spc="-13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필터링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시스템을</a:t>
            </a:r>
            <a:r>
              <a:rPr sz="1200" spc="-12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기반으로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학습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데이터의</a:t>
            </a:r>
            <a:r>
              <a:rPr sz="1200" spc="-12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품질을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관리하고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있으며</a:t>
            </a:r>
            <a:r>
              <a:rPr sz="1200" spc="-20" dirty="0">
                <a:latin typeface="Calibri"/>
                <a:cs typeface="Calibri"/>
              </a:rPr>
              <a:t>, </a:t>
            </a:r>
            <a:r>
              <a:rPr sz="1200" spc="-10" dirty="0">
                <a:latin typeface="Malgun Gothic"/>
                <a:cs typeface="Malgun Gothic"/>
              </a:rPr>
              <a:t>사람이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검수하여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정교함이</a:t>
            </a:r>
            <a:r>
              <a:rPr sz="1200" spc="-13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높은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고품질의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Calibri"/>
                <a:cs typeface="Calibri"/>
              </a:rPr>
              <a:t>SFT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Malgun Gothic"/>
                <a:cs typeface="Malgun Gothic"/>
              </a:rPr>
              <a:t>데이터를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보유하고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있습니다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00850" y="2886075"/>
            <a:ext cx="4438650" cy="138112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714108" y="1857698"/>
            <a:ext cx="4864100" cy="9404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200" b="1" spc="-10" dirty="0">
                <a:latin typeface="Calibri"/>
                <a:cs typeface="Calibri"/>
              </a:rPr>
              <a:t>[MAAL</a:t>
            </a:r>
            <a:r>
              <a:rPr sz="1200" b="1" spc="-10" dirty="0">
                <a:latin typeface="Malgun Gothic"/>
                <a:cs typeface="Malgun Gothic"/>
              </a:rPr>
              <a:t>의</a:t>
            </a:r>
            <a:r>
              <a:rPr sz="1200" b="1" spc="-12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뛰어난</a:t>
            </a:r>
            <a:r>
              <a:rPr sz="1200" b="1" spc="-130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한국어</a:t>
            </a:r>
            <a:r>
              <a:rPr sz="1200" b="1" spc="-12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성능</a:t>
            </a:r>
            <a:r>
              <a:rPr sz="1200" b="1" spc="-25" dirty="0">
                <a:latin typeface="Calibri"/>
                <a:cs typeface="Calibri"/>
              </a:rPr>
              <a:t>]</a:t>
            </a:r>
            <a:endParaRPr sz="1200" dirty="0">
              <a:latin typeface="Calibri"/>
              <a:cs typeface="Calibri"/>
            </a:endParaRPr>
          </a:p>
          <a:p>
            <a:pPr marL="117475" marR="5080">
              <a:lnSpc>
                <a:spcPct val="101600"/>
              </a:lnSpc>
              <a:spcBef>
                <a:spcPts val="675"/>
              </a:spcBef>
            </a:pPr>
            <a:r>
              <a:rPr sz="1200" dirty="0">
                <a:latin typeface="Calibri"/>
                <a:cs typeface="Calibri"/>
              </a:rPr>
              <a:t>LLM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‘MAAL’</a:t>
            </a:r>
            <a:r>
              <a:rPr sz="1200" spc="-25" dirty="0">
                <a:latin typeface="Malgun Gothic"/>
                <a:cs typeface="Malgun Gothic"/>
              </a:rPr>
              <a:t>은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모델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별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한국어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문장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이해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능력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향상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평가</a:t>
            </a:r>
            <a:r>
              <a:rPr sz="1200" spc="-10" dirty="0">
                <a:latin typeface="Calibri"/>
                <a:cs typeface="Calibri"/>
              </a:rPr>
              <a:t>(KoBEST)</a:t>
            </a:r>
            <a:r>
              <a:rPr sz="1200" spc="-10" dirty="0">
                <a:latin typeface="Malgun Gothic"/>
                <a:cs typeface="Malgun Gothic"/>
              </a:rPr>
              <a:t>를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통해 </a:t>
            </a:r>
            <a:r>
              <a:rPr sz="1200" dirty="0">
                <a:latin typeface="Malgun Gothic"/>
                <a:cs typeface="Malgun Gothic"/>
              </a:rPr>
              <a:t>한국어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성능을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입증했으며</a:t>
            </a:r>
            <a:r>
              <a:rPr sz="1200" dirty="0">
                <a:latin typeface="Calibri"/>
                <a:cs typeface="Calibri"/>
              </a:rPr>
              <a:t>,,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‘MAAL-</a:t>
            </a:r>
            <a:r>
              <a:rPr sz="1200" dirty="0">
                <a:latin typeface="Calibri"/>
                <a:cs typeface="Calibri"/>
              </a:rPr>
              <a:t>albatross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70B’</a:t>
            </a:r>
            <a:r>
              <a:rPr sz="1200" spc="-10" dirty="0">
                <a:latin typeface="Malgun Gothic"/>
                <a:cs typeface="Malgun Gothic"/>
              </a:rPr>
              <a:t>을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Calibri"/>
                <a:cs typeface="Calibri"/>
              </a:rPr>
              <a:t>LogicKor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Malgun Gothic"/>
                <a:cs typeface="Malgun Gothic"/>
              </a:rPr>
              <a:t>프롬프트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50" dirty="0">
                <a:latin typeface="Malgun Gothic"/>
                <a:cs typeface="Malgun Gothic"/>
              </a:rPr>
              <a:t>및 </a:t>
            </a:r>
            <a:r>
              <a:rPr sz="1200" spc="-10" dirty="0">
                <a:latin typeface="Calibri"/>
                <a:cs typeface="Calibri"/>
              </a:rPr>
              <a:t>gpt-4-turbo</a:t>
            </a:r>
            <a:r>
              <a:rPr sz="1200" spc="-10" dirty="0">
                <a:latin typeface="Malgun Gothic"/>
                <a:cs typeface="Malgun Gothic"/>
              </a:rPr>
              <a:t>로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채점한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결과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ChatGPT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못지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않은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점수를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기록했습니다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36715" y="4588573"/>
            <a:ext cx="17545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[</a:t>
            </a:r>
            <a:r>
              <a:rPr sz="1200" b="1" spc="-10" dirty="0">
                <a:latin typeface="Malgun Gothic"/>
                <a:cs typeface="Malgun Gothic"/>
              </a:rPr>
              <a:t>자체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필터링</a:t>
            </a:r>
            <a:r>
              <a:rPr sz="1200" b="1" spc="-130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시스템</a:t>
            </a:r>
            <a:r>
              <a:rPr sz="1200" b="1" spc="-13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예시</a:t>
            </a:r>
            <a:r>
              <a:rPr sz="1200" b="1" spc="-25" dirty="0"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72275" y="4838700"/>
            <a:ext cx="4467225" cy="1038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615" y="6618223"/>
            <a:ext cx="113436" cy="92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-9525"/>
            <a:ext cx="12192000" cy="887730"/>
            <a:chOff x="0" y="-9525"/>
            <a:chExt cx="12192000" cy="887730"/>
          </a:xfrm>
        </p:grpSpPr>
        <p:sp>
          <p:nvSpPr>
            <p:cNvPr id="5" name="object 5"/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6076950" y="3152775"/>
            <a:ext cx="5324475" cy="876300"/>
          </a:xfrm>
          <a:custGeom>
            <a:avLst/>
            <a:gdLst/>
            <a:ahLst/>
            <a:cxnLst/>
            <a:rect l="l" t="t" r="r" b="b"/>
            <a:pathLst>
              <a:path w="5324475" h="876300">
                <a:moveTo>
                  <a:pt x="5269483" y="0"/>
                </a:moveTo>
                <a:lnTo>
                  <a:pt x="54990" y="0"/>
                </a:lnTo>
                <a:lnTo>
                  <a:pt x="33593" y="4323"/>
                </a:lnTo>
                <a:lnTo>
                  <a:pt x="16113" y="16113"/>
                </a:lnTo>
                <a:lnTo>
                  <a:pt x="4323" y="33593"/>
                </a:lnTo>
                <a:lnTo>
                  <a:pt x="0" y="54990"/>
                </a:lnTo>
                <a:lnTo>
                  <a:pt x="0" y="821308"/>
                </a:lnTo>
                <a:lnTo>
                  <a:pt x="4323" y="842706"/>
                </a:lnTo>
                <a:lnTo>
                  <a:pt x="16113" y="860186"/>
                </a:lnTo>
                <a:lnTo>
                  <a:pt x="33593" y="871976"/>
                </a:lnTo>
                <a:lnTo>
                  <a:pt x="54990" y="876300"/>
                </a:lnTo>
                <a:lnTo>
                  <a:pt x="5269483" y="876300"/>
                </a:lnTo>
                <a:lnTo>
                  <a:pt x="5290881" y="871976"/>
                </a:lnTo>
                <a:lnTo>
                  <a:pt x="5308361" y="860186"/>
                </a:lnTo>
                <a:lnTo>
                  <a:pt x="5320151" y="842706"/>
                </a:lnTo>
                <a:lnTo>
                  <a:pt x="5324475" y="821308"/>
                </a:lnTo>
                <a:lnTo>
                  <a:pt x="5324475" y="54990"/>
                </a:lnTo>
                <a:lnTo>
                  <a:pt x="5320151" y="33593"/>
                </a:lnTo>
                <a:lnTo>
                  <a:pt x="5308361" y="16113"/>
                </a:lnTo>
                <a:lnTo>
                  <a:pt x="5290881" y="4323"/>
                </a:lnTo>
                <a:lnTo>
                  <a:pt x="526948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5325" y="3171825"/>
            <a:ext cx="5200650" cy="866775"/>
          </a:xfrm>
          <a:custGeom>
            <a:avLst/>
            <a:gdLst/>
            <a:ahLst/>
            <a:cxnLst/>
            <a:rect l="l" t="t" r="r" b="b"/>
            <a:pathLst>
              <a:path w="5200650" h="866775">
                <a:moveTo>
                  <a:pt x="5146167" y="0"/>
                </a:moveTo>
                <a:lnTo>
                  <a:pt x="54444" y="0"/>
                </a:lnTo>
                <a:lnTo>
                  <a:pt x="33250" y="4280"/>
                </a:lnTo>
                <a:lnTo>
                  <a:pt x="15944" y="15954"/>
                </a:lnTo>
                <a:lnTo>
                  <a:pt x="4277" y="33272"/>
                </a:lnTo>
                <a:lnTo>
                  <a:pt x="0" y="54483"/>
                </a:lnTo>
                <a:lnTo>
                  <a:pt x="0" y="812292"/>
                </a:lnTo>
                <a:lnTo>
                  <a:pt x="4277" y="833502"/>
                </a:lnTo>
                <a:lnTo>
                  <a:pt x="15944" y="850820"/>
                </a:lnTo>
                <a:lnTo>
                  <a:pt x="33250" y="862494"/>
                </a:lnTo>
                <a:lnTo>
                  <a:pt x="54444" y="866775"/>
                </a:lnTo>
                <a:lnTo>
                  <a:pt x="5146167" y="866775"/>
                </a:lnTo>
                <a:lnTo>
                  <a:pt x="5167377" y="862494"/>
                </a:lnTo>
                <a:lnTo>
                  <a:pt x="5184695" y="850820"/>
                </a:lnTo>
                <a:lnTo>
                  <a:pt x="5196369" y="833502"/>
                </a:lnTo>
                <a:lnTo>
                  <a:pt x="5200650" y="812292"/>
                </a:lnTo>
                <a:lnTo>
                  <a:pt x="5200650" y="54483"/>
                </a:lnTo>
                <a:lnTo>
                  <a:pt x="5196369" y="33272"/>
                </a:lnTo>
                <a:lnTo>
                  <a:pt x="5184695" y="15954"/>
                </a:lnTo>
                <a:lnTo>
                  <a:pt x="5167377" y="4280"/>
                </a:lnTo>
                <a:lnTo>
                  <a:pt x="5146167" y="0"/>
                </a:lnTo>
                <a:close/>
              </a:path>
            </a:pathLst>
          </a:custGeom>
          <a:solidFill>
            <a:srgbClr val="EE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9379" y="406526"/>
            <a:ext cx="2018030" cy="286385"/>
          </a:xfrm>
          <a:custGeom>
            <a:avLst/>
            <a:gdLst/>
            <a:ahLst/>
            <a:cxnLst/>
            <a:rect l="l" t="t" r="r" b="b"/>
            <a:pathLst>
              <a:path w="2018030" h="286384">
                <a:moveTo>
                  <a:pt x="1152207" y="213740"/>
                </a:moveTo>
                <a:lnTo>
                  <a:pt x="885825" y="213740"/>
                </a:lnTo>
                <a:lnTo>
                  <a:pt x="885825" y="244348"/>
                </a:lnTo>
                <a:lnTo>
                  <a:pt x="1152207" y="244348"/>
                </a:lnTo>
                <a:lnTo>
                  <a:pt x="1152207" y="213740"/>
                </a:lnTo>
                <a:close/>
              </a:path>
              <a:path w="2018030" h="286384">
                <a:moveTo>
                  <a:pt x="1922843" y="166370"/>
                </a:moveTo>
                <a:lnTo>
                  <a:pt x="1883360" y="170561"/>
                </a:lnTo>
                <a:lnTo>
                  <a:pt x="1842403" y="192111"/>
                </a:lnTo>
                <a:lnTo>
                  <a:pt x="1828355" y="226187"/>
                </a:lnTo>
                <a:lnTo>
                  <a:pt x="1829925" y="238881"/>
                </a:lnTo>
                <a:lnTo>
                  <a:pt x="1853374" y="269367"/>
                </a:lnTo>
                <a:lnTo>
                  <a:pt x="1901862" y="284851"/>
                </a:lnTo>
                <a:lnTo>
                  <a:pt x="1922843" y="285876"/>
                </a:lnTo>
                <a:lnTo>
                  <a:pt x="1943445" y="284851"/>
                </a:lnTo>
                <a:lnTo>
                  <a:pt x="1943726" y="284851"/>
                </a:lnTo>
                <a:lnTo>
                  <a:pt x="1962074" y="281765"/>
                </a:lnTo>
                <a:lnTo>
                  <a:pt x="1962253" y="281765"/>
                </a:lnTo>
                <a:lnTo>
                  <a:pt x="1978320" y="276607"/>
                </a:lnTo>
                <a:lnTo>
                  <a:pt x="1978450" y="276607"/>
                </a:lnTo>
                <a:lnTo>
                  <a:pt x="1992439" y="269239"/>
                </a:lnTo>
                <a:lnTo>
                  <a:pt x="2003306" y="260459"/>
                </a:lnTo>
                <a:lnTo>
                  <a:pt x="2007603" y="255015"/>
                </a:lnTo>
                <a:lnTo>
                  <a:pt x="1922843" y="255015"/>
                </a:lnTo>
                <a:lnTo>
                  <a:pt x="1909534" y="254515"/>
                </a:lnTo>
                <a:lnTo>
                  <a:pt x="1870900" y="241681"/>
                </a:lnTo>
                <a:lnTo>
                  <a:pt x="1866201" y="234696"/>
                </a:lnTo>
                <a:lnTo>
                  <a:pt x="1866284" y="217677"/>
                </a:lnTo>
                <a:lnTo>
                  <a:pt x="1909389" y="197733"/>
                </a:lnTo>
                <a:lnTo>
                  <a:pt x="1922843" y="197231"/>
                </a:lnTo>
                <a:lnTo>
                  <a:pt x="2007439" y="197231"/>
                </a:lnTo>
                <a:lnTo>
                  <a:pt x="2003460" y="192111"/>
                </a:lnTo>
                <a:lnTo>
                  <a:pt x="1992439" y="183134"/>
                </a:lnTo>
                <a:lnTo>
                  <a:pt x="1978654" y="175799"/>
                </a:lnTo>
                <a:lnTo>
                  <a:pt x="1962451" y="170561"/>
                </a:lnTo>
                <a:lnTo>
                  <a:pt x="1943844" y="167417"/>
                </a:lnTo>
                <a:lnTo>
                  <a:pt x="1922843" y="166370"/>
                </a:lnTo>
                <a:close/>
              </a:path>
              <a:path w="2018030" h="286384">
                <a:moveTo>
                  <a:pt x="2007439" y="197231"/>
                </a:moveTo>
                <a:lnTo>
                  <a:pt x="1922843" y="197231"/>
                </a:lnTo>
                <a:lnTo>
                  <a:pt x="1936189" y="197733"/>
                </a:lnTo>
                <a:lnTo>
                  <a:pt x="1947829" y="199247"/>
                </a:lnTo>
                <a:lnTo>
                  <a:pt x="1957720" y="201785"/>
                </a:lnTo>
                <a:lnTo>
                  <a:pt x="1965864" y="205359"/>
                </a:lnTo>
                <a:lnTo>
                  <a:pt x="1975389" y="210820"/>
                </a:lnTo>
                <a:lnTo>
                  <a:pt x="1975252" y="210820"/>
                </a:lnTo>
                <a:lnTo>
                  <a:pt x="1979866" y="217677"/>
                </a:lnTo>
                <a:lnTo>
                  <a:pt x="1979866" y="234696"/>
                </a:lnTo>
                <a:lnTo>
                  <a:pt x="1975040" y="241681"/>
                </a:lnTo>
                <a:lnTo>
                  <a:pt x="1936154" y="254515"/>
                </a:lnTo>
                <a:lnTo>
                  <a:pt x="1922843" y="255015"/>
                </a:lnTo>
                <a:lnTo>
                  <a:pt x="2007603" y="255015"/>
                </a:lnTo>
                <a:lnTo>
                  <a:pt x="2017712" y="226187"/>
                </a:lnTo>
                <a:lnTo>
                  <a:pt x="2016121" y="213637"/>
                </a:lnTo>
                <a:lnTo>
                  <a:pt x="2011362" y="202279"/>
                </a:lnTo>
                <a:lnTo>
                  <a:pt x="2007439" y="197231"/>
                </a:lnTo>
                <a:close/>
              </a:path>
              <a:path w="2018030" h="286384">
                <a:moveTo>
                  <a:pt x="371779" y="196342"/>
                </a:moveTo>
                <a:lnTo>
                  <a:pt x="334276" y="196342"/>
                </a:lnTo>
                <a:lnTo>
                  <a:pt x="334276" y="274827"/>
                </a:lnTo>
                <a:lnTo>
                  <a:pt x="526262" y="274827"/>
                </a:lnTo>
                <a:lnTo>
                  <a:pt x="526262" y="243459"/>
                </a:lnTo>
                <a:lnTo>
                  <a:pt x="371779" y="243459"/>
                </a:lnTo>
                <a:lnTo>
                  <a:pt x="371779" y="196342"/>
                </a:lnTo>
                <a:close/>
              </a:path>
              <a:path w="2018030" h="286384">
                <a:moveTo>
                  <a:pt x="1278826" y="180594"/>
                </a:moveTo>
                <a:lnTo>
                  <a:pt x="1241488" y="180594"/>
                </a:lnTo>
                <a:lnTo>
                  <a:pt x="1241488" y="277113"/>
                </a:lnTo>
                <a:lnTo>
                  <a:pt x="1432369" y="277113"/>
                </a:lnTo>
                <a:lnTo>
                  <a:pt x="1432369" y="245745"/>
                </a:lnTo>
                <a:lnTo>
                  <a:pt x="1278826" y="245745"/>
                </a:lnTo>
                <a:lnTo>
                  <a:pt x="1278826" y="180594"/>
                </a:lnTo>
                <a:close/>
              </a:path>
              <a:path w="2018030" h="286384">
                <a:moveTo>
                  <a:pt x="1426781" y="0"/>
                </a:moveTo>
                <a:lnTo>
                  <a:pt x="1390205" y="0"/>
                </a:lnTo>
                <a:lnTo>
                  <a:pt x="1390205" y="81025"/>
                </a:lnTo>
                <a:lnTo>
                  <a:pt x="1322514" y="81025"/>
                </a:lnTo>
                <a:lnTo>
                  <a:pt x="1322514" y="112522"/>
                </a:lnTo>
                <a:lnTo>
                  <a:pt x="1390205" y="112522"/>
                </a:lnTo>
                <a:lnTo>
                  <a:pt x="1390205" y="205359"/>
                </a:lnTo>
                <a:lnTo>
                  <a:pt x="1426781" y="205359"/>
                </a:lnTo>
                <a:lnTo>
                  <a:pt x="1426781" y="0"/>
                </a:lnTo>
                <a:close/>
              </a:path>
              <a:path w="2018030" h="286384">
                <a:moveTo>
                  <a:pt x="1307353" y="100330"/>
                </a:moveTo>
                <a:lnTo>
                  <a:pt x="1263713" y="100330"/>
                </a:lnTo>
                <a:lnTo>
                  <a:pt x="1244308" y="118020"/>
                </a:lnTo>
                <a:lnTo>
                  <a:pt x="1224581" y="132603"/>
                </a:lnTo>
                <a:lnTo>
                  <a:pt x="1204545" y="144067"/>
                </a:lnTo>
                <a:lnTo>
                  <a:pt x="1184211" y="152400"/>
                </a:lnTo>
                <a:lnTo>
                  <a:pt x="1209865" y="179197"/>
                </a:lnTo>
                <a:lnTo>
                  <a:pt x="1235751" y="165479"/>
                </a:lnTo>
                <a:lnTo>
                  <a:pt x="1259125" y="149844"/>
                </a:lnTo>
                <a:lnTo>
                  <a:pt x="1279999" y="132280"/>
                </a:lnTo>
                <a:lnTo>
                  <a:pt x="1298384" y="112775"/>
                </a:lnTo>
                <a:lnTo>
                  <a:pt x="1307353" y="100330"/>
                </a:lnTo>
                <a:close/>
              </a:path>
              <a:path w="2018030" h="286384">
                <a:moveTo>
                  <a:pt x="1338389" y="18542"/>
                </a:moveTo>
                <a:lnTo>
                  <a:pt x="1200594" y="18542"/>
                </a:lnTo>
                <a:lnTo>
                  <a:pt x="1200594" y="50037"/>
                </a:lnTo>
                <a:lnTo>
                  <a:pt x="1293304" y="50037"/>
                </a:lnTo>
                <a:lnTo>
                  <a:pt x="1291399" y="56387"/>
                </a:lnTo>
                <a:lnTo>
                  <a:pt x="1288732" y="63119"/>
                </a:lnTo>
                <a:lnTo>
                  <a:pt x="1285303" y="70103"/>
                </a:lnTo>
                <a:lnTo>
                  <a:pt x="1182560" y="76835"/>
                </a:lnTo>
                <a:lnTo>
                  <a:pt x="1196276" y="107823"/>
                </a:lnTo>
                <a:lnTo>
                  <a:pt x="1263713" y="100330"/>
                </a:lnTo>
                <a:lnTo>
                  <a:pt x="1307353" y="100330"/>
                </a:lnTo>
                <a:lnTo>
                  <a:pt x="1313743" y="91461"/>
                </a:lnTo>
                <a:lnTo>
                  <a:pt x="1325530" y="68659"/>
                </a:lnTo>
                <a:lnTo>
                  <a:pt x="1333746" y="44356"/>
                </a:lnTo>
                <a:lnTo>
                  <a:pt x="1338389" y="18542"/>
                </a:lnTo>
                <a:close/>
              </a:path>
              <a:path w="2018030" h="286384">
                <a:moveTo>
                  <a:pt x="1722056" y="155321"/>
                </a:moveTo>
                <a:lnTo>
                  <a:pt x="1536382" y="155321"/>
                </a:lnTo>
                <a:lnTo>
                  <a:pt x="1536382" y="186817"/>
                </a:lnTo>
                <a:lnTo>
                  <a:pt x="1685480" y="186817"/>
                </a:lnTo>
                <a:lnTo>
                  <a:pt x="1685480" y="204215"/>
                </a:lnTo>
                <a:lnTo>
                  <a:pt x="1536382" y="204215"/>
                </a:lnTo>
                <a:lnTo>
                  <a:pt x="1536382" y="282448"/>
                </a:lnTo>
                <a:lnTo>
                  <a:pt x="1729422" y="282448"/>
                </a:lnTo>
                <a:lnTo>
                  <a:pt x="1729422" y="251206"/>
                </a:lnTo>
                <a:lnTo>
                  <a:pt x="1573212" y="251206"/>
                </a:lnTo>
                <a:lnTo>
                  <a:pt x="1573212" y="232918"/>
                </a:lnTo>
                <a:lnTo>
                  <a:pt x="1722056" y="232918"/>
                </a:lnTo>
                <a:lnTo>
                  <a:pt x="1722056" y="155321"/>
                </a:lnTo>
                <a:close/>
              </a:path>
              <a:path w="2018030" h="286384">
                <a:moveTo>
                  <a:pt x="856957" y="216662"/>
                </a:moveTo>
                <a:lnTo>
                  <a:pt x="590549" y="216662"/>
                </a:lnTo>
                <a:lnTo>
                  <a:pt x="590549" y="247523"/>
                </a:lnTo>
                <a:lnTo>
                  <a:pt x="856957" y="247523"/>
                </a:lnTo>
                <a:lnTo>
                  <a:pt x="856957" y="216662"/>
                </a:lnTo>
                <a:close/>
              </a:path>
              <a:path w="2018030" h="286384">
                <a:moveTo>
                  <a:pt x="742365" y="151130"/>
                </a:moveTo>
                <a:lnTo>
                  <a:pt x="704849" y="151130"/>
                </a:lnTo>
                <a:lnTo>
                  <a:pt x="704849" y="216662"/>
                </a:lnTo>
                <a:lnTo>
                  <a:pt x="742365" y="216662"/>
                </a:lnTo>
                <a:lnTo>
                  <a:pt x="742365" y="151130"/>
                </a:lnTo>
                <a:close/>
              </a:path>
              <a:path w="2018030" h="286384">
                <a:moveTo>
                  <a:pt x="742657" y="18542"/>
                </a:moveTo>
                <a:lnTo>
                  <a:pt x="704849" y="18542"/>
                </a:lnTo>
                <a:lnTo>
                  <a:pt x="704849" y="39877"/>
                </a:lnTo>
                <a:lnTo>
                  <a:pt x="703165" y="51972"/>
                </a:lnTo>
                <a:lnTo>
                  <a:pt x="703135" y="52189"/>
                </a:lnTo>
                <a:lnTo>
                  <a:pt x="698112" y="64436"/>
                </a:lnTo>
                <a:lnTo>
                  <a:pt x="697988" y="64738"/>
                </a:lnTo>
                <a:lnTo>
                  <a:pt x="662120" y="102780"/>
                </a:lnTo>
                <a:lnTo>
                  <a:pt x="622549" y="121588"/>
                </a:lnTo>
                <a:lnTo>
                  <a:pt x="622406" y="121588"/>
                </a:lnTo>
                <a:lnTo>
                  <a:pt x="598741" y="128015"/>
                </a:lnTo>
                <a:lnTo>
                  <a:pt x="620471" y="156972"/>
                </a:lnTo>
                <a:lnTo>
                  <a:pt x="636044" y="152112"/>
                </a:lnTo>
                <a:lnTo>
                  <a:pt x="651219" y="145907"/>
                </a:lnTo>
                <a:lnTo>
                  <a:pt x="693699" y="119699"/>
                </a:lnTo>
                <a:lnTo>
                  <a:pt x="723455" y="88392"/>
                </a:lnTo>
                <a:lnTo>
                  <a:pt x="768261" y="88392"/>
                </a:lnTo>
                <a:lnTo>
                  <a:pt x="744463" y="52189"/>
                </a:lnTo>
                <a:lnTo>
                  <a:pt x="742657" y="39877"/>
                </a:lnTo>
                <a:lnTo>
                  <a:pt x="742657" y="18542"/>
                </a:lnTo>
                <a:close/>
              </a:path>
              <a:path w="2018030" h="286384">
                <a:moveTo>
                  <a:pt x="768261" y="88392"/>
                </a:moveTo>
                <a:lnTo>
                  <a:pt x="723455" y="88392"/>
                </a:lnTo>
                <a:lnTo>
                  <a:pt x="731766" y="98823"/>
                </a:lnTo>
                <a:lnTo>
                  <a:pt x="767067" y="128524"/>
                </a:lnTo>
                <a:lnTo>
                  <a:pt x="811240" y="151526"/>
                </a:lnTo>
                <a:lnTo>
                  <a:pt x="826452" y="156718"/>
                </a:lnTo>
                <a:lnTo>
                  <a:pt x="848182" y="128015"/>
                </a:lnTo>
                <a:lnTo>
                  <a:pt x="824323" y="121588"/>
                </a:lnTo>
                <a:lnTo>
                  <a:pt x="803362" y="113172"/>
                </a:lnTo>
                <a:lnTo>
                  <a:pt x="785293" y="102780"/>
                </a:lnTo>
                <a:lnTo>
                  <a:pt x="770271" y="90550"/>
                </a:lnTo>
                <a:lnTo>
                  <a:pt x="768261" y="88392"/>
                </a:lnTo>
                <a:close/>
              </a:path>
              <a:path w="2018030" h="286384">
                <a:moveTo>
                  <a:pt x="561682" y="150240"/>
                </a:moveTo>
                <a:lnTo>
                  <a:pt x="295287" y="150240"/>
                </a:lnTo>
                <a:lnTo>
                  <a:pt x="295287" y="181737"/>
                </a:lnTo>
                <a:lnTo>
                  <a:pt x="561682" y="181737"/>
                </a:lnTo>
                <a:lnTo>
                  <a:pt x="561682" y="150240"/>
                </a:lnTo>
                <a:close/>
              </a:path>
              <a:path w="2018030" h="286384">
                <a:moveTo>
                  <a:pt x="534301" y="96520"/>
                </a:moveTo>
                <a:lnTo>
                  <a:pt x="322364" y="96520"/>
                </a:lnTo>
                <a:lnTo>
                  <a:pt x="322364" y="127635"/>
                </a:lnTo>
                <a:lnTo>
                  <a:pt x="534301" y="127635"/>
                </a:lnTo>
                <a:lnTo>
                  <a:pt x="534301" y="96520"/>
                </a:lnTo>
                <a:close/>
              </a:path>
              <a:path w="2018030" h="286384">
                <a:moveTo>
                  <a:pt x="395884" y="51181"/>
                </a:moveTo>
                <a:lnTo>
                  <a:pt x="358978" y="51181"/>
                </a:lnTo>
                <a:lnTo>
                  <a:pt x="361657" y="96520"/>
                </a:lnTo>
                <a:lnTo>
                  <a:pt x="397967" y="96520"/>
                </a:lnTo>
                <a:lnTo>
                  <a:pt x="395884" y="51181"/>
                </a:lnTo>
                <a:close/>
              </a:path>
              <a:path w="2018030" h="286384">
                <a:moveTo>
                  <a:pt x="497979" y="51181"/>
                </a:moveTo>
                <a:lnTo>
                  <a:pt x="461073" y="51181"/>
                </a:lnTo>
                <a:lnTo>
                  <a:pt x="458698" y="96520"/>
                </a:lnTo>
                <a:lnTo>
                  <a:pt x="495312" y="96520"/>
                </a:lnTo>
                <a:lnTo>
                  <a:pt x="497979" y="51181"/>
                </a:lnTo>
                <a:close/>
              </a:path>
              <a:path w="2018030" h="286384">
                <a:moveTo>
                  <a:pt x="266407" y="216662"/>
                </a:moveTo>
                <a:lnTo>
                  <a:pt x="0" y="216662"/>
                </a:lnTo>
                <a:lnTo>
                  <a:pt x="0" y="247523"/>
                </a:lnTo>
                <a:lnTo>
                  <a:pt x="266407" y="247523"/>
                </a:lnTo>
                <a:lnTo>
                  <a:pt x="266407" y="216662"/>
                </a:lnTo>
                <a:close/>
              </a:path>
              <a:path w="2018030" h="286384">
                <a:moveTo>
                  <a:pt x="133210" y="19431"/>
                </a:moveTo>
                <a:lnTo>
                  <a:pt x="93937" y="24384"/>
                </a:lnTo>
                <a:lnTo>
                  <a:pt x="49865" y="50053"/>
                </a:lnTo>
                <a:lnTo>
                  <a:pt x="34086" y="93345"/>
                </a:lnTo>
                <a:lnTo>
                  <a:pt x="34983" y="102822"/>
                </a:lnTo>
                <a:lnTo>
                  <a:pt x="55448" y="141986"/>
                </a:lnTo>
                <a:lnTo>
                  <a:pt x="96562" y="162756"/>
                </a:lnTo>
                <a:lnTo>
                  <a:pt x="114300" y="166115"/>
                </a:lnTo>
                <a:lnTo>
                  <a:pt x="114300" y="216662"/>
                </a:lnTo>
                <a:lnTo>
                  <a:pt x="151815" y="216662"/>
                </a:lnTo>
                <a:lnTo>
                  <a:pt x="151815" y="166115"/>
                </a:lnTo>
                <a:lnTo>
                  <a:pt x="169437" y="162923"/>
                </a:lnTo>
                <a:lnTo>
                  <a:pt x="185096" y="157908"/>
                </a:lnTo>
                <a:lnTo>
                  <a:pt x="198793" y="151060"/>
                </a:lnTo>
                <a:lnTo>
                  <a:pt x="210527" y="142367"/>
                </a:lnTo>
                <a:lnTo>
                  <a:pt x="215988" y="136398"/>
                </a:lnTo>
                <a:lnTo>
                  <a:pt x="133210" y="136398"/>
                </a:lnTo>
                <a:lnTo>
                  <a:pt x="119872" y="135683"/>
                </a:lnTo>
                <a:lnTo>
                  <a:pt x="81439" y="118633"/>
                </a:lnTo>
                <a:lnTo>
                  <a:pt x="72186" y="93345"/>
                </a:lnTo>
                <a:lnTo>
                  <a:pt x="73215" y="83941"/>
                </a:lnTo>
                <a:lnTo>
                  <a:pt x="107997" y="53165"/>
                </a:lnTo>
                <a:lnTo>
                  <a:pt x="133210" y="50292"/>
                </a:lnTo>
                <a:lnTo>
                  <a:pt x="216373" y="50292"/>
                </a:lnTo>
                <a:lnTo>
                  <a:pt x="216207" y="50053"/>
                </a:lnTo>
                <a:lnTo>
                  <a:pt x="203898" y="39243"/>
                </a:lnTo>
                <a:lnTo>
                  <a:pt x="188935" y="30575"/>
                </a:lnTo>
                <a:lnTo>
                  <a:pt x="172164" y="24384"/>
                </a:lnTo>
                <a:lnTo>
                  <a:pt x="153588" y="20669"/>
                </a:lnTo>
                <a:lnTo>
                  <a:pt x="133210" y="19431"/>
                </a:lnTo>
                <a:close/>
              </a:path>
              <a:path w="2018030" h="286384">
                <a:moveTo>
                  <a:pt x="216373" y="50292"/>
                </a:moveTo>
                <a:lnTo>
                  <a:pt x="133210" y="50292"/>
                </a:lnTo>
                <a:lnTo>
                  <a:pt x="146531" y="51008"/>
                </a:lnTo>
                <a:lnTo>
                  <a:pt x="158375" y="53165"/>
                </a:lnTo>
                <a:lnTo>
                  <a:pt x="189853" y="75549"/>
                </a:lnTo>
                <a:lnTo>
                  <a:pt x="193928" y="93345"/>
                </a:lnTo>
                <a:lnTo>
                  <a:pt x="192878" y="102822"/>
                </a:lnTo>
                <a:lnTo>
                  <a:pt x="158202" y="133540"/>
                </a:lnTo>
                <a:lnTo>
                  <a:pt x="133210" y="136398"/>
                </a:lnTo>
                <a:lnTo>
                  <a:pt x="215988" y="136398"/>
                </a:lnTo>
                <a:lnTo>
                  <a:pt x="219936" y="132081"/>
                </a:lnTo>
                <a:lnTo>
                  <a:pt x="226655" y="120475"/>
                </a:lnTo>
                <a:lnTo>
                  <a:pt x="230685" y="107559"/>
                </a:lnTo>
                <a:lnTo>
                  <a:pt x="232028" y="93345"/>
                </a:lnTo>
                <a:lnTo>
                  <a:pt x="230271" y="77104"/>
                </a:lnTo>
                <a:lnTo>
                  <a:pt x="224997" y="62674"/>
                </a:lnTo>
                <a:lnTo>
                  <a:pt x="216373" y="50292"/>
                </a:lnTo>
                <a:close/>
              </a:path>
              <a:path w="2018030" h="286384">
                <a:moveTo>
                  <a:pt x="1037907" y="18542"/>
                </a:moveTo>
                <a:lnTo>
                  <a:pt x="1000188" y="18542"/>
                </a:lnTo>
                <a:lnTo>
                  <a:pt x="1000188" y="39877"/>
                </a:lnTo>
                <a:lnTo>
                  <a:pt x="998484" y="51972"/>
                </a:lnTo>
                <a:lnTo>
                  <a:pt x="972629" y="90550"/>
                </a:lnTo>
                <a:lnTo>
                  <a:pt x="938957" y="113172"/>
                </a:lnTo>
                <a:lnTo>
                  <a:pt x="917831" y="121588"/>
                </a:lnTo>
                <a:lnTo>
                  <a:pt x="917687" y="121588"/>
                </a:lnTo>
                <a:lnTo>
                  <a:pt x="894016" y="128015"/>
                </a:lnTo>
                <a:lnTo>
                  <a:pt x="915733" y="156972"/>
                </a:lnTo>
                <a:lnTo>
                  <a:pt x="931332" y="152112"/>
                </a:lnTo>
                <a:lnTo>
                  <a:pt x="946515" y="145907"/>
                </a:lnTo>
                <a:lnTo>
                  <a:pt x="989012" y="119699"/>
                </a:lnTo>
                <a:lnTo>
                  <a:pt x="1018730" y="88392"/>
                </a:lnTo>
                <a:lnTo>
                  <a:pt x="1063487" y="88392"/>
                </a:lnTo>
                <a:lnTo>
                  <a:pt x="1053338" y="77257"/>
                </a:lnTo>
                <a:lnTo>
                  <a:pt x="1044765" y="64436"/>
                </a:lnTo>
                <a:lnTo>
                  <a:pt x="1039711" y="52189"/>
                </a:lnTo>
                <a:lnTo>
                  <a:pt x="1039622" y="51972"/>
                </a:lnTo>
                <a:lnTo>
                  <a:pt x="1037907" y="39877"/>
                </a:lnTo>
                <a:lnTo>
                  <a:pt x="1037907" y="18542"/>
                </a:lnTo>
                <a:close/>
              </a:path>
              <a:path w="2018030" h="286384">
                <a:moveTo>
                  <a:pt x="1063487" y="88392"/>
                </a:moveTo>
                <a:lnTo>
                  <a:pt x="1018730" y="88392"/>
                </a:lnTo>
                <a:lnTo>
                  <a:pt x="1027037" y="98823"/>
                </a:lnTo>
                <a:lnTo>
                  <a:pt x="1062291" y="128524"/>
                </a:lnTo>
                <a:lnTo>
                  <a:pt x="1106511" y="151526"/>
                </a:lnTo>
                <a:lnTo>
                  <a:pt x="1121727" y="156718"/>
                </a:lnTo>
                <a:lnTo>
                  <a:pt x="1143444" y="128015"/>
                </a:lnTo>
                <a:lnTo>
                  <a:pt x="1119578" y="121588"/>
                </a:lnTo>
                <a:lnTo>
                  <a:pt x="1098629" y="113172"/>
                </a:lnTo>
                <a:lnTo>
                  <a:pt x="1080561" y="102780"/>
                </a:lnTo>
                <a:lnTo>
                  <a:pt x="1065495" y="90550"/>
                </a:lnTo>
                <a:lnTo>
                  <a:pt x="1063487" y="88392"/>
                </a:lnTo>
                <a:close/>
              </a:path>
              <a:path w="2018030" h="286384">
                <a:moveTo>
                  <a:pt x="1932241" y="13335"/>
                </a:moveTo>
                <a:lnTo>
                  <a:pt x="1790509" y="13335"/>
                </a:lnTo>
                <a:lnTo>
                  <a:pt x="1790509" y="156972"/>
                </a:lnTo>
                <a:lnTo>
                  <a:pt x="1834707" y="156731"/>
                </a:lnTo>
                <a:lnTo>
                  <a:pt x="1874535" y="156003"/>
                </a:lnTo>
                <a:lnTo>
                  <a:pt x="1910006" y="154775"/>
                </a:lnTo>
                <a:lnTo>
                  <a:pt x="1941131" y="153035"/>
                </a:lnTo>
                <a:lnTo>
                  <a:pt x="1939418" y="125857"/>
                </a:lnTo>
                <a:lnTo>
                  <a:pt x="1827466" y="125857"/>
                </a:lnTo>
                <a:lnTo>
                  <a:pt x="1827466" y="99949"/>
                </a:lnTo>
                <a:lnTo>
                  <a:pt x="1920684" y="99949"/>
                </a:lnTo>
                <a:lnTo>
                  <a:pt x="1920684" y="70358"/>
                </a:lnTo>
                <a:lnTo>
                  <a:pt x="1827466" y="70358"/>
                </a:lnTo>
                <a:lnTo>
                  <a:pt x="1827466" y="44450"/>
                </a:lnTo>
                <a:lnTo>
                  <a:pt x="1932241" y="44450"/>
                </a:lnTo>
                <a:lnTo>
                  <a:pt x="1932241" y="13335"/>
                </a:lnTo>
                <a:close/>
              </a:path>
              <a:path w="2018030" h="286384">
                <a:moveTo>
                  <a:pt x="1939226" y="122809"/>
                </a:moveTo>
                <a:lnTo>
                  <a:pt x="1917674" y="124142"/>
                </a:lnTo>
                <a:lnTo>
                  <a:pt x="1891871" y="125095"/>
                </a:lnTo>
                <a:lnTo>
                  <a:pt x="1861806" y="125666"/>
                </a:lnTo>
                <a:lnTo>
                  <a:pt x="1827466" y="125857"/>
                </a:lnTo>
                <a:lnTo>
                  <a:pt x="1939418" y="125857"/>
                </a:lnTo>
                <a:lnTo>
                  <a:pt x="1939310" y="124142"/>
                </a:lnTo>
                <a:lnTo>
                  <a:pt x="1939226" y="122809"/>
                </a:lnTo>
                <a:close/>
              </a:path>
              <a:path w="2018030" h="286384">
                <a:moveTo>
                  <a:pt x="530872" y="12192"/>
                </a:moveTo>
                <a:lnTo>
                  <a:pt x="326085" y="12192"/>
                </a:lnTo>
                <a:lnTo>
                  <a:pt x="326085" y="43561"/>
                </a:lnTo>
                <a:lnTo>
                  <a:pt x="530872" y="43561"/>
                </a:lnTo>
                <a:lnTo>
                  <a:pt x="530872" y="12192"/>
                </a:lnTo>
                <a:close/>
              </a:path>
              <a:path w="2018030" h="286384">
                <a:moveTo>
                  <a:pt x="1579308" y="6096"/>
                </a:moveTo>
                <a:lnTo>
                  <a:pt x="1543494" y="6096"/>
                </a:lnTo>
                <a:lnTo>
                  <a:pt x="1543494" y="33147"/>
                </a:lnTo>
                <a:lnTo>
                  <a:pt x="1542379" y="46031"/>
                </a:lnTo>
                <a:lnTo>
                  <a:pt x="1524571" y="84836"/>
                </a:lnTo>
                <a:lnTo>
                  <a:pt x="1487906" y="115250"/>
                </a:lnTo>
                <a:lnTo>
                  <a:pt x="1472120" y="123062"/>
                </a:lnTo>
                <a:lnTo>
                  <a:pt x="1497012" y="148717"/>
                </a:lnTo>
                <a:lnTo>
                  <a:pt x="1535493" y="121412"/>
                </a:lnTo>
                <a:lnTo>
                  <a:pt x="1562671" y="87502"/>
                </a:lnTo>
                <a:lnTo>
                  <a:pt x="1605714" y="87502"/>
                </a:lnTo>
                <a:lnTo>
                  <a:pt x="1580590" y="46031"/>
                </a:lnTo>
                <a:lnTo>
                  <a:pt x="1579308" y="33147"/>
                </a:lnTo>
                <a:lnTo>
                  <a:pt x="1579308" y="6096"/>
                </a:lnTo>
                <a:close/>
              </a:path>
              <a:path w="2018030" h="286384">
                <a:moveTo>
                  <a:pt x="1722056" y="0"/>
                </a:moveTo>
                <a:lnTo>
                  <a:pt x="1685480" y="0"/>
                </a:lnTo>
                <a:lnTo>
                  <a:pt x="1685480" y="44450"/>
                </a:lnTo>
                <a:lnTo>
                  <a:pt x="1624520" y="44450"/>
                </a:lnTo>
                <a:lnTo>
                  <a:pt x="1624520" y="74675"/>
                </a:lnTo>
                <a:lnTo>
                  <a:pt x="1685480" y="74675"/>
                </a:lnTo>
                <a:lnTo>
                  <a:pt x="1685480" y="144145"/>
                </a:lnTo>
                <a:lnTo>
                  <a:pt x="1722056" y="144145"/>
                </a:lnTo>
                <a:lnTo>
                  <a:pt x="1722056" y="0"/>
                </a:lnTo>
                <a:close/>
              </a:path>
              <a:path w="2018030" h="286384">
                <a:moveTo>
                  <a:pt x="1605714" y="87502"/>
                </a:moveTo>
                <a:lnTo>
                  <a:pt x="1562671" y="87502"/>
                </a:lnTo>
                <a:lnTo>
                  <a:pt x="1574409" y="102217"/>
                </a:lnTo>
                <a:lnTo>
                  <a:pt x="1589039" y="116062"/>
                </a:lnTo>
                <a:lnTo>
                  <a:pt x="1606551" y="129026"/>
                </a:lnTo>
                <a:lnTo>
                  <a:pt x="1626933" y="141097"/>
                </a:lnTo>
                <a:lnTo>
                  <a:pt x="1649158" y="112775"/>
                </a:lnTo>
                <a:lnTo>
                  <a:pt x="1635132" y="107539"/>
                </a:lnTo>
                <a:lnTo>
                  <a:pt x="1622202" y="100599"/>
                </a:lnTo>
                <a:lnTo>
                  <a:pt x="1610367" y="91969"/>
                </a:lnTo>
                <a:lnTo>
                  <a:pt x="1605714" y="87502"/>
                </a:lnTo>
                <a:close/>
              </a:path>
              <a:path w="2018030" h="286384">
                <a:moveTo>
                  <a:pt x="2013013" y="0"/>
                </a:moveTo>
                <a:lnTo>
                  <a:pt x="1976437" y="0"/>
                </a:lnTo>
                <a:lnTo>
                  <a:pt x="1976437" y="162560"/>
                </a:lnTo>
                <a:lnTo>
                  <a:pt x="2013013" y="162560"/>
                </a:lnTo>
                <a:lnTo>
                  <a:pt x="2013013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36444" y="406526"/>
            <a:ext cx="814069" cy="287020"/>
          </a:xfrm>
          <a:custGeom>
            <a:avLst/>
            <a:gdLst/>
            <a:ahLst/>
            <a:cxnLst/>
            <a:rect l="l" t="t" r="r" b="b"/>
            <a:pathLst>
              <a:path w="814070" h="287020">
                <a:moveTo>
                  <a:pt x="125349" y="225171"/>
                </a:moveTo>
                <a:lnTo>
                  <a:pt x="42418" y="225171"/>
                </a:lnTo>
                <a:lnTo>
                  <a:pt x="42418" y="41148"/>
                </a:lnTo>
                <a:lnTo>
                  <a:pt x="0" y="41148"/>
                </a:lnTo>
                <a:lnTo>
                  <a:pt x="0" y="260223"/>
                </a:lnTo>
                <a:lnTo>
                  <a:pt x="125349" y="260223"/>
                </a:lnTo>
                <a:lnTo>
                  <a:pt x="125349" y="225171"/>
                </a:lnTo>
                <a:close/>
              </a:path>
              <a:path w="814070" h="287020">
                <a:moveTo>
                  <a:pt x="268224" y="225171"/>
                </a:moveTo>
                <a:lnTo>
                  <a:pt x="185293" y="225171"/>
                </a:lnTo>
                <a:lnTo>
                  <a:pt x="185293" y="41148"/>
                </a:lnTo>
                <a:lnTo>
                  <a:pt x="142875" y="41148"/>
                </a:lnTo>
                <a:lnTo>
                  <a:pt x="142875" y="260223"/>
                </a:lnTo>
                <a:lnTo>
                  <a:pt x="268224" y="260223"/>
                </a:lnTo>
                <a:lnTo>
                  <a:pt x="268224" y="225171"/>
                </a:lnTo>
                <a:close/>
              </a:path>
              <a:path w="814070" h="287020">
                <a:moveTo>
                  <a:pt x="537210" y="41148"/>
                </a:moveTo>
                <a:lnTo>
                  <a:pt x="477901" y="41148"/>
                </a:lnTo>
                <a:lnTo>
                  <a:pt x="426339" y="177419"/>
                </a:lnTo>
                <a:lnTo>
                  <a:pt x="423443" y="185915"/>
                </a:lnTo>
                <a:lnTo>
                  <a:pt x="420979" y="193700"/>
                </a:lnTo>
                <a:lnTo>
                  <a:pt x="418846" y="201015"/>
                </a:lnTo>
                <a:lnTo>
                  <a:pt x="417068" y="207772"/>
                </a:lnTo>
                <a:lnTo>
                  <a:pt x="416052" y="207772"/>
                </a:lnTo>
                <a:lnTo>
                  <a:pt x="370547" y="78994"/>
                </a:lnTo>
                <a:lnTo>
                  <a:pt x="356362" y="41148"/>
                </a:lnTo>
                <a:lnTo>
                  <a:pt x="295275" y="41148"/>
                </a:lnTo>
                <a:lnTo>
                  <a:pt x="295275" y="260223"/>
                </a:lnTo>
                <a:lnTo>
                  <a:pt x="333883" y="260223"/>
                </a:lnTo>
                <a:lnTo>
                  <a:pt x="333781" y="117754"/>
                </a:lnTo>
                <a:lnTo>
                  <a:pt x="333540" y="107188"/>
                </a:lnTo>
                <a:lnTo>
                  <a:pt x="333438" y="103149"/>
                </a:lnTo>
                <a:lnTo>
                  <a:pt x="333197" y="97091"/>
                </a:lnTo>
                <a:lnTo>
                  <a:pt x="333108" y="95110"/>
                </a:lnTo>
                <a:lnTo>
                  <a:pt x="333044" y="93357"/>
                </a:lnTo>
                <a:lnTo>
                  <a:pt x="332968" y="91376"/>
                </a:lnTo>
                <a:lnTo>
                  <a:pt x="332232" y="78994"/>
                </a:lnTo>
                <a:lnTo>
                  <a:pt x="333248" y="78994"/>
                </a:lnTo>
                <a:lnTo>
                  <a:pt x="398907" y="260223"/>
                </a:lnTo>
                <a:lnTo>
                  <a:pt x="431165" y="260223"/>
                </a:lnTo>
                <a:lnTo>
                  <a:pt x="450875" y="207772"/>
                </a:lnTo>
                <a:lnTo>
                  <a:pt x="489204" y="105791"/>
                </a:lnTo>
                <a:lnTo>
                  <a:pt x="490842" y="101130"/>
                </a:lnTo>
                <a:lnTo>
                  <a:pt x="492531" y="95110"/>
                </a:lnTo>
                <a:lnTo>
                  <a:pt x="494271" y="87744"/>
                </a:lnTo>
                <a:lnTo>
                  <a:pt x="496062" y="78994"/>
                </a:lnTo>
                <a:lnTo>
                  <a:pt x="496951" y="78994"/>
                </a:lnTo>
                <a:lnTo>
                  <a:pt x="495173" y="260223"/>
                </a:lnTo>
                <a:lnTo>
                  <a:pt x="537210" y="260223"/>
                </a:lnTo>
                <a:lnTo>
                  <a:pt x="537210" y="78994"/>
                </a:lnTo>
                <a:lnTo>
                  <a:pt x="537210" y="41148"/>
                </a:lnTo>
                <a:close/>
              </a:path>
              <a:path w="814070" h="287020">
                <a:moveTo>
                  <a:pt x="739521" y="90170"/>
                </a:moveTo>
                <a:lnTo>
                  <a:pt x="738111" y="74764"/>
                </a:lnTo>
                <a:lnTo>
                  <a:pt x="733933" y="60960"/>
                </a:lnTo>
                <a:lnTo>
                  <a:pt x="733806" y="60706"/>
                </a:lnTo>
                <a:lnTo>
                  <a:pt x="727252" y="49149"/>
                </a:lnTo>
                <a:lnTo>
                  <a:pt x="726922" y="48564"/>
                </a:lnTo>
                <a:lnTo>
                  <a:pt x="717169" y="37719"/>
                </a:lnTo>
                <a:lnTo>
                  <a:pt x="705358" y="28968"/>
                </a:lnTo>
                <a:lnTo>
                  <a:pt x="701421" y="27127"/>
                </a:lnTo>
                <a:lnTo>
                  <a:pt x="701421" y="90170"/>
                </a:lnTo>
                <a:lnTo>
                  <a:pt x="700659" y="98577"/>
                </a:lnTo>
                <a:lnTo>
                  <a:pt x="676275" y="127939"/>
                </a:lnTo>
                <a:lnTo>
                  <a:pt x="668439" y="130098"/>
                </a:lnTo>
                <a:lnTo>
                  <a:pt x="668274" y="130098"/>
                </a:lnTo>
                <a:lnTo>
                  <a:pt x="659638" y="130810"/>
                </a:lnTo>
                <a:lnTo>
                  <a:pt x="624497" y="113144"/>
                </a:lnTo>
                <a:lnTo>
                  <a:pt x="617855" y="90170"/>
                </a:lnTo>
                <a:lnTo>
                  <a:pt x="618540" y="81838"/>
                </a:lnTo>
                <a:lnTo>
                  <a:pt x="642493" y="52108"/>
                </a:lnTo>
                <a:lnTo>
                  <a:pt x="642353" y="52108"/>
                </a:lnTo>
                <a:lnTo>
                  <a:pt x="650595" y="49898"/>
                </a:lnTo>
                <a:lnTo>
                  <a:pt x="650405" y="49898"/>
                </a:lnTo>
                <a:lnTo>
                  <a:pt x="659638" y="49149"/>
                </a:lnTo>
                <a:lnTo>
                  <a:pt x="694829" y="67221"/>
                </a:lnTo>
                <a:lnTo>
                  <a:pt x="700620" y="81622"/>
                </a:lnTo>
                <a:lnTo>
                  <a:pt x="700684" y="81838"/>
                </a:lnTo>
                <a:lnTo>
                  <a:pt x="701421" y="90170"/>
                </a:lnTo>
                <a:lnTo>
                  <a:pt x="701421" y="27127"/>
                </a:lnTo>
                <a:lnTo>
                  <a:pt x="692035" y="22694"/>
                </a:lnTo>
                <a:lnTo>
                  <a:pt x="677214" y="18923"/>
                </a:lnTo>
                <a:lnTo>
                  <a:pt x="660908" y="17653"/>
                </a:lnTo>
                <a:lnTo>
                  <a:pt x="644372" y="18923"/>
                </a:lnTo>
                <a:lnTo>
                  <a:pt x="603123" y="37719"/>
                </a:lnTo>
                <a:lnTo>
                  <a:pt x="581202" y="74764"/>
                </a:lnTo>
                <a:lnTo>
                  <a:pt x="579755" y="90170"/>
                </a:lnTo>
                <a:lnTo>
                  <a:pt x="581177" y="105422"/>
                </a:lnTo>
                <a:lnTo>
                  <a:pt x="602615" y="142240"/>
                </a:lnTo>
                <a:lnTo>
                  <a:pt x="643064" y="160947"/>
                </a:lnTo>
                <a:lnTo>
                  <a:pt x="659257" y="162179"/>
                </a:lnTo>
                <a:lnTo>
                  <a:pt x="675347" y="160947"/>
                </a:lnTo>
                <a:lnTo>
                  <a:pt x="675525" y="160947"/>
                </a:lnTo>
                <a:lnTo>
                  <a:pt x="716229" y="142240"/>
                </a:lnTo>
                <a:lnTo>
                  <a:pt x="738035" y="105422"/>
                </a:lnTo>
                <a:lnTo>
                  <a:pt x="739521" y="90170"/>
                </a:lnTo>
                <a:close/>
              </a:path>
              <a:path w="814070" h="287020">
                <a:moveTo>
                  <a:pt x="765924" y="234696"/>
                </a:moveTo>
                <a:lnTo>
                  <a:pt x="764184" y="208153"/>
                </a:lnTo>
                <a:lnTo>
                  <a:pt x="764108" y="207098"/>
                </a:lnTo>
                <a:lnTo>
                  <a:pt x="764019" y="205752"/>
                </a:lnTo>
                <a:lnTo>
                  <a:pt x="763905" y="203835"/>
                </a:lnTo>
                <a:lnTo>
                  <a:pt x="725703" y="205752"/>
                </a:lnTo>
                <a:lnTo>
                  <a:pt x="678929" y="207098"/>
                </a:lnTo>
                <a:lnTo>
                  <a:pt x="623595" y="207899"/>
                </a:lnTo>
                <a:lnTo>
                  <a:pt x="559689" y="208153"/>
                </a:lnTo>
                <a:lnTo>
                  <a:pt x="563346" y="238417"/>
                </a:lnTo>
                <a:lnTo>
                  <a:pt x="563460" y="239344"/>
                </a:lnTo>
                <a:lnTo>
                  <a:pt x="563499" y="239649"/>
                </a:lnTo>
                <a:lnTo>
                  <a:pt x="616648" y="239344"/>
                </a:lnTo>
                <a:lnTo>
                  <a:pt x="668096" y="238417"/>
                </a:lnTo>
                <a:lnTo>
                  <a:pt x="717854" y="236867"/>
                </a:lnTo>
                <a:lnTo>
                  <a:pt x="765924" y="234696"/>
                </a:lnTo>
                <a:close/>
              </a:path>
              <a:path w="814070" h="287020">
                <a:moveTo>
                  <a:pt x="813943" y="0"/>
                </a:moveTo>
                <a:lnTo>
                  <a:pt x="776973" y="0"/>
                </a:lnTo>
                <a:lnTo>
                  <a:pt x="776973" y="287020"/>
                </a:lnTo>
                <a:lnTo>
                  <a:pt x="813943" y="287020"/>
                </a:lnTo>
                <a:lnTo>
                  <a:pt x="813943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92119" y="406526"/>
            <a:ext cx="845185" cy="287020"/>
          </a:xfrm>
          <a:custGeom>
            <a:avLst/>
            <a:gdLst/>
            <a:ahLst/>
            <a:cxnLst/>
            <a:rect l="l" t="t" r="r" b="b"/>
            <a:pathLst>
              <a:path w="845185" h="287020">
                <a:moveTo>
                  <a:pt x="749934" y="166370"/>
                </a:moveTo>
                <a:lnTo>
                  <a:pt x="710406" y="170561"/>
                </a:lnTo>
                <a:lnTo>
                  <a:pt x="669610" y="192182"/>
                </a:lnTo>
                <a:lnTo>
                  <a:pt x="655573" y="226187"/>
                </a:lnTo>
                <a:lnTo>
                  <a:pt x="657141" y="238807"/>
                </a:lnTo>
                <a:lnTo>
                  <a:pt x="680465" y="269239"/>
                </a:lnTo>
                <a:lnTo>
                  <a:pt x="728936" y="284831"/>
                </a:lnTo>
                <a:lnTo>
                  <a:pt x="749934" y="285876"/>
                </a:lnTo>
                <a:lnTo>
                  <a:pt x="771080" y="284831"/>
                </a:lnTo>
                <a:lnTo>
                  <a:pt x="819657" y="269239"/>
                </a:lnTo>
                <a:lnTo>
                  <a:pt x="834779" y="255015"/>
                </a:lnTo>
                <a:lnTo>
                  <a:pt x="749934" y="255015"/>
                </a:lnTo>
                <a:lnTo>
                  <a:pt x="736719" y="254535"/>
                </a:lnTo>
                <a:lnTo>
                  <a:pt x="725265" y="253079"/>
                </a:lnTo>
                <a:lnTo>
                  <a:pt x="715573" y="250622"/>
                </a:lnTo>
                <a:lnTo>
                  <a:pt x="707643" y="247142"/>
                </a:lnTo>
                <a:lnTo>
                  <a:pt x="698345" y="241935"/>
                </a:lnTo>
                <a:lnTo>
                  <a:pt x="698204" y="241935"/>
                </a:lnTo>
                <a:lnTo>
                  <a:pt x="693505" y="234950"/>
                </a:lnTo>
                <a:lnTo>
                  <a:pt x="693419" y="217677"/>
                </a:lnTo>
                <a:lnTo>
                  <a:pt x="696004" y="213709"/>
                </a:lnTo>
                <a:lnTo>
                  <a:pt x="698033" y="210693"/>
                </a:lnTo>
                <a:lnTo>
                  <a:pt x="698118" y="210565"/>
                </a:lnTo>
                <a:lnTo>
                  <a:pt x="736627" y="197731"/>
                </a:lnTo>
                <a:lnTo>
                  <a:pt x="749934" y="197231"/>
                </a:lnTo>
                <a:lnTo>
                  <a:pt x="834551" y="197231"/>
                </a:lnTo>
                <a:lnTo>
                  <a:pt x="830659" y="192182"/>
                </a:lnTo>
                <a:lnTo>
                  <a:pt x="819657" y="183134"/>
                </a:lnTo>
                <a:lnTo>
                  <a:pt x="805870" y="175799"/>
                </a:lnTo>
                <a:lnTo>
                  <a:pt x="789654" y="170561"/>
                </a:lnTo>
                <a:lnTo>
                  <a:pt x="771009" y="167417"/>
                </a:lnTo>
                <a:lnTo>
                  <a:pt x="749934" y="166370"/>
                </a:lnTo>
                <a:close/>
              </a:path>
              <a:path w="845185" h="287020">
                <a:moveTo>
                  <a:pt x="834551" y="197231"/>
                </a:moveTo>
                <a:lnTo>
                  <a:pt x="749934" y="197231"/>
                </a:lnTo>
                <a:lnTo>
                  <a:pt x="763319" y="197731"/>
                </a:lnTo>
                <a:lnTo>
                  <a:pt x="774906" y="199231"/>
                </a:lnTo>
                <a:lnTo>
                  <a:pt x="784707" y="201731"/>
                </a:lnTo>
                <a:lnTo>
                  <a:pt x="792733" y="205232"/>
                </a:lnTo>
                <a:lnTo>
                  <a:pt x="802258" y="210693"/>
                </a:lnTo>
                <a:lnTo>
                  <a:pt x="806957" y="217677"/>
                </a:lnTo>
                <a:lnTo>
                  <a:pt x="806957" y="234950"/>
                </a:lnTo>
                <a:lnTo>
                  <a:pt x="763228" y="254535"/>
                </a:lnTo>
                <a:lnTo>
                  <a:pt x="749934" y="255015"/>
                </a:lnTo>
                <a:lnTo>
                  <a:pt x="834779" y="255015"/>
                </a:lnTo>
                <a:lnTo>
                  <a:pt x="838517" y="250189"/>
                </a:lnTo>
                <a:lnTo>
                  <a:pt x="843232" y="238807"/>
                </a:lnTo>
                <a:lnTo>
                  <a:pt x="844803" y="226187"/>
                </a:lnTo>
                <a:lnTo>
                  <a:pt x="843232" y="213709"/>
                </a:lnTo>
                <a:lnTo>
                  <a:pt x="838517" y="202374"/>
                </a:lnTo>
                <a:lnTo>
                  <a:pt x="834551" y="197231"/>
                </a:lnTo>
                <a:close/>
              </a:path>
              <a:path w="845185" h="287020">
                <a:moveTo>
                  <a:pt x="545338" y="156718"/>
                </a:moveTo>
                <a:lnTo>
                  <a:pt x="359536" y="156718"/>
                </a:lnTo>
                <a:lnTo>
                  <a:pt x="359536" y="187071"/>
                </a:lnTo>
                <a:lnTo>
                  <a:pt x="508761" y="187071"/>
                </a:lnTo>
                <a:lnTo>
                  <a:pt x="508761" y="204724"/>
                </a:lnTo>
                <a:lnTo>
                  <a:pt x="359536" y="204724"/>
                </a:lnTo>
                <a:lnTo>
                  <a:pt x="359536" y="282448"/>
                </a:lnTo>
                <a:lnTo>
                  <a:pt x="552576" y="282448"/>
                </a:lnTo>
                <a:lnTo>
                  <a:pt x="552576" y="252095"/>
                </a:lnTo>
                <a:lnTo>
                  <a:pt x="396493" y="252095"/>
                </a:lnTo>
                <a:lnTo>
                  <a:pt x="396493" y="233425"/>
                </a:lnTo>
                <a:lnTo>
                  <a:pt x="545338" y="233425"/>
                </a:lnTo>
                <a:lnTo>
                  <a:pt x="545338" y="156718"/>
                </a:lnTo>
                <a:close/>
              </a:path>
              <a:path w="845185" h="287020">
                <a:moveTo>
                  <a:pt x="545338" y="119507"/>
                </a:moveTo>
                <a:lnTo>
                  <a:pt x="508761" y="119507"/>
                </a:lnTo>
                <a:lnTo>
                  <a:pt x="508761" y="144145"/>
                </a:lnTo>
                <a:lnTo>
                  <a:pt x="545338" y="144145"/>
                </a:lnTo>
                <a:lnTo>
                  <a:pt x="545338" y="119507"/>
                </a:lnTo>
                <a:close/>
              </a:path>
              <a:path w="845185" h="287020">
                <a:moveTo>
                  <a:pt x="351408" y="9398"/>
                </a:moveTo>
                <a:lnTo>
                  <a:pt x="314832" y="9398"/>
                </a:lnTo>
                <a:lnTo>
                  <a:pt x="314832" y="139319"/>
                </a:lnTo>
                <a:lnTo>
                  <a:pt x="452881" y="139319"/>
                </a:lnTo>
                <a:lnTo>
                  <a:pt x="452881" y="119507"/>
                </a:lnTo>
                <a:lnTo>
                  <a:pt x="545338" y="119507"/>
                </a:lnTo>
                <a:lnTo>
                  <a:pt x="545338" y="108203"/>
                </a:lnTo>
                <a:lnTo>
                  <a:pt x="351408" y="108203"/>
                </a:lnTo>
                <a:lnTo>
                  <a:pt x="351408" y="76200"/>
                </a:lnTo>
                <a:lnTo>
                  <a:pt x="452881" y="76200"/>
                </a:lnTo>
                <a:lnTo>
                  <a:pt x="452881" y="63626"/>
                </a:lnTo>
                <a:lnTo>
                  <a:pt x="545338" y="63626"/>
                </a:lnTo>
                <a:lnTo>
                  <a:pt x="545338" y="44831"/>
                </a:lnTo>
                <a:lnTo>
                  <a:pt x="351408" y="44831"/>
                </a:lnTo>
                <a:lnTo>
                  <a:pt x="351408" y="9398"/>
                </a:lnTo>
                <a:close/>
              </a:path>
              <a:path w="845185" h="287020">
                <a:moveTo>
                  <a:pt x="452881" y="76200"/>
                </a:moveTo>
                <a:lnTo>
                  <a:pt x="415925" y="76200"/>
                </a:lnTo>
                <a:lnTo>
                  <a:pt x="415925" y="108203"/>
                </a:lnTo>
                <a:lnTo>
                  <a:pt x="545338" y="108203"/>
                </a:lnTo>
                <a:lnTo>
                  <a:pt x="545338" y="91312"/>
                </a:lnTo>
                <a:lnTo>
                  <a:pt x="452881" y="91312"/>
                </a:lnTo>
                <a:lnTo>
                  <a:pt x="452881" y="76200"/>
                </a:lnTo>
                <a:close/>
              </a:path>
              <a:path w="845185" h="287020">
                <a:moveTo>
                  <a:pt x="545338" y="63626"/>
                </a:moveTo>
                <a:lnTo>
                  <a:pt x="508761" y="63626"/>
                </a:lnTo>
                <a:lnTo>
                  <a:pt x="508761" y="91312"/>
                </a:lnTo>
                <a:lnTo>
                  <a:pt x="545338" y="91312"/>
                </a:lnTo>
                <a:lnTo>
                  <a:pt x="545338" y="63626"/>
                </a:lnTo>
                <a:close/>
              </a:path>
              <a:path w="845185" h="287020">
                <a:moveTo>
                  <a:pt x="452881" y="9398"/>
                </a:moveTo>
                <a:lnTo>
                  <a:pt x="415925" y="9398"/>
                </a:lnTo>
                <a:lnTo>
                  <a:pt x="415925" y="44831"/>
                </a:lnTo>
                <a:lnTo>
                  <a:pt x="545338" y="44831"/>
                </a:lnTo>
                <a:lnTo>
                  <a:pt x="545338" y="35687"/>
                </a:lnTo>
                <a:lnTo>
                  <a:pt x="452881" y="35687"/>
                </a:lnTo>
                <a:lnTo>
                  <a:pt x="452881" y="9398"/>
                </a:lnTo>
                <a:close/>
              </a:path>
              <a:path w="845185" h="287020">
                <a:moveTo>
                  <a:pt x="545338" y="0"/>
                </a:moveTo>
                <a:lnTo>
                  <a:pt x="508761" y="0"/>
                </a:lnTo>
                <a:lnTo>
                  <a:pt x="508761" y="35687"/>
                </a:lnTo>
                <a:lnTo>
                  <a:pt x="545338" y="35687"/>
                </a:lnTo>
                <a:lnTo>
                  <a:pt x="545338" y="0"/>
                </a:lnTo>
                <a:close/>
              </a:path>
              <a:path w="845185" h="287020">
                <a:moveTo>
                  <a:pt x="840231" y="0"/>
                </a:moveTo>
                <a:lnTo>
                  <a:pt x="803655" y="0"/>
                </a:lnTo>
                <a:lnTo>
                  <a:pt x="803655" y="50546"/>
                </a:lnTo>
                <a:lnTo>
                  <a:pt x="742060" y="50546"/>
                </a:lnTo>
                <a:lnTo>
                  <a:pt x="742060" y="82296"/>
                </a:lnTo>
                <a:lnTo>
                  <a:pt x="803655" y="82296"/>
                </a:lnTo>
                <a:lnTo>
                  <a:pt x="803655" y="164337"/>
                </a:lnTo>
                <a:lnTo>
                  <a:pt x="840231" y="164337"/>
                </a:lnTo>
                <a:lnTo>
                  <a:pt x="840231" y="0"/>
                </a:lnTo>
                <a:close/>
              </a:path>
              <a:path w="845185" h="287020">
                <a:moveTo>
                  <a:pt x="698753" y="9017"/>
                </a:moveTo>
                <a:lnTo>
                  <a:pt x="661669" y="9017"/>
                </a:lnTo>
                <a:lnTo>
                  <a:pt x="661669" y="44831"/>
                </a:lnTo>
                <a:lnTo>
                  <a:pt x="660529" y="57090"/>
                </a:lnTo>
                <a:lnTo>
                  <a:pt x="641603" y="98044"/>
                </a:lnTo>
                <a:lnTo>
                  <a:pt x="605010" y="130083"/>
                </a:lnTo>
                <a:lnTo>
                  <a:pt x="589914" y="137795"/>
                </a:lnTo>
                <a:lnTo>
                  <a:pt x="617219" y="163702"/>
                </a:lnTo>
                <a:lnTo>
                  <a:pt x="652779" y="135636"/>
                </a:lnTo>
                <a:lnTo>
                  <a:pt x="681227" y="99695"/>
                </a:lnTo>
                <a:lnTo>
                  <a:pt x="724890" y="99695"/>
                </a:lnTo>
                <a:lnTo>
                  <a:pt x="700061" y="57090"/>
                </a:lnTo>
                <a:lnTo>
                  <a:pt x="698876" y="44831"/>
                </a:lnTo>
                <a:lnTo>
                  <a:pt x="698753" y="9017"/>
                </a:lnTo>
                <a:close/>
              </a:path>
              <a:path w="845185" h="287020">
                <a:moveTo>
                  <a:pt x="724890" y="99695"/>
                </a:moveTo>
                <a:lnTo>
                  <a:pt x="681227" y="99695"/>
                </a:lnTo>
                <a:lnTo>
                  <a:pt x="693519" y="116097"/>
                </a:lnTo>
                <a:lnTo>
                  <a:pt x="708501" y="130810"/>
                </a:lnTo>
                <a:lnTo>
                  <a:pt x="726197" y="143807"/>
                </a:lnTo>
                <a:lnTo>
                  <a:pt x="746632" y="155067"/>
                </a:lnTo>
                <a:lnTo>
                  <a:pt x="770508" y="126237"/>
                </a:lnTo>
                <a:lnTo>
                  <a:pt x="756032" y="121116"/>
                </a:lnTo>
                <a:lnTo>
                  <a:pt x="742711" y="114125"/>
                </a:lnTo>
                <a:lnTo>
                  <a:pt x="730557" y="105253"/>
                </a:lnTo>
                <a:lnTo>
                  <a:pt x="724890" y="99695"/>
                </a:lnTo>
                <a:close/>
              </a:path>
              <a:path w="845185" h="287020">
                <a:moveTo>
                  <a:pt x="236092" y="0"/>
                </a:moveTo>
                <a:lnTo>
                  <a:pt x="198246" y="0"/>
                </a:lnTo>
                <a:lnTo>
                  <a:pt x="198246" y="287020"/>
                </a:lnTo>
                <a:lnTo>
                  <a:pt x="236092" y="287020"/>
                </a:lnTo>
                <a:lnTo>
                  <a:pt x="236092" y="143001"/>
                </a:lnTo>
                <a:lnTo>
                  <a:pt x="280796" y="143001"/>
                </a:lnTo>
                <a:lnTo>
                  <a:pt x="280796" y="111633"/>
                </a:lnTo>
                <a:lnTo>
                  <a:pt x="236092" y="111633"/>
                </a:lnTo>
                <a:lnTo>
                  <a:pt x="236092" y="0"/>
                </a:lnTo>
                <a:close/>
              </a:path>
              <a:path w="845185" h="287020">
                <a:moveTo>
                  <a:pt x="110997" y="68834"/>
                </a:moveTo>
                <a:lnTo>
                  <a:pt x="73786" y="68834"/>
                </a:lnTo>
                <a:lnTo>
                  <a:pt x="73674" y="89915"/>
                </a:lnTo>
                <a:lnTo>
                  <a:pt x="72475" y="103455"/>
                </a:lnTo>
                <a:lnTo>
                  <a:pt x="52704" y="149478"/>
                </a:lnTo>
                <a:lnTo>
                  <a:pt x="15164" y="189126"/>
                </a:lnTo>
                <a:lnTo>
                  <a:pt x="0" y="199009"/>
                </a:lnTo>
                <a:lnTo>
                  <a:pt x="26923" y="223647"/>
                </a:lnTo>
                <a:lnTo>
                  <a:pt x="62864" y="191008"/>
                </a:lnTo>
                <a:lnTo>
                  <a:pt x="87028" y="158271"/>
                </a:lnTo>
                <a:lnTo>
                  <a:pt x="92455" y="148082"/>
                </a:lnTo>
                <a:lnTo>
                  <a:pt x="133165" y="148082"/>
                </a:lnTo>
                <a:lnTo>
                  <a:pt x="112285" y="103941"/>
                </a:lnTo>
                <a:lnTo>
                  <a:pt x="110997" y="89915"/>
                </a:lnTo>
                <a:lnTo>
                  <a:pt x="110997" y="68834"/>
                </a:lnTo>
                <a:close/>
              </a:path>
              <a:path w="845185" h="287020">
                <a:moveTo>
                  <a:pt x="133165" y="148082"/>
                </a:moveTo>
                <a:lnTo>
                  <a:pt x="92455" y="148082"/>
                </a:lnTo>
                <a:lnTo>
                  <a:pt x="104149" y="165919"/>
                </a:lnTo>
                <a:lnTo>
                  <a:pt x="119427" y="183435"/>
                </a:lnTo>
                <a:lnTo>
                  <a:pt x="138301" y="200642"/>
                </a:lnTo>
                <a:lnTo>
                  <a:pt x="160781" y="217550"/>
                </a:lnTo>
                <a:lnTo>
                  <a:pt x="183647" y="189126"/>
                </a:lnTo>
                <a:lnTo>
                  <a:pt x="183768" y="188975"/>
                </a:lnTo>
                <a:lnTo>
                  <a:pt x="168721" y="180951"/>
                </a:lnTo>
                <a:lnTo>
                  <a:pt x="155019" y="171164"/>
                </a:lnTo>
                <a:lnTo>
                  <a:pt x="142674" y="159615"/>
                </a:lnTo>
                <a:lnTo>
                  <a:pt x="133165" y="148082"/>
                </a:lnTo>
                <a:close/>
              </a:path>
              <a:path w="845185" h="287020">
                <a:moveTo>
                  <a:pt x="176783" y="37464"/>
                </a:moveTo>
                <a:lnTo>
                  <a:pt x="8381" y="37464"/>
                </a:lnTo>
                <a:lnTo>
                  <a:pt x="8381" y="68834"/>
                </a:lnTo>
                <a:lnTo>
                  <a:pt x="176783" y="68834"/>
                </a:lnTo>
                <a:lnTo>
                  <a:pt x="176783" y="37464"/>
                </a:lnTo>
                <a:close/>
              </a:path>
              <a:path w="845185" h="287020">
                <a:moveTo>
                  <a:pt x="110997" y="0"/>
                </a:moveTo>
                <a:lnTo>
                  <a:pt x="73532" y="0"/>
                </a:lnTo>
                <a:lnTo>
                  <a:pt x="73532" y="37464"/>
                </a:lnTo>
                <a:lnTo>
                  <a:pt x="110997" y="37464"/>
                </a:lnTo>
                <a:lnTo>
                  <a:pt x="110997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5800" y="2009775"/>
            <a:ext cx="2466975" cy="361950"/>
          </a:xfrm>
          <a:custGeom>
            <a:avLst/>
            <a:gdLst/>
            <a:ahLst/>
            <a:cxnLst/>
            <a:rect l="l" t="t" r="r" b="b"/>
            <a:pathLst>
              <a:path w="2466975" h="361950">
                <a:moveTo>
                  <a:pt x="2406650" y="0"/>
                </a:moveTo>
                <a:lnTo>
                  <a:pt x="60325" y="0"/>
                </a:lnTo>
                <a:lnTo>
                  <a:pt x="36845" y="4746"/>
                </a:lnTo>
                <a:lnTo>
                  <a:pt x="17670" y="17684"/>
                </a:lnTo>
                <a:lnTo>
                  <a:pt x="4741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1" y="325088"/>
                </a:lnTo>
                <a:lnTo>
                  <a:pt x="17670" y="344265"/>
                </a:lnTo>
                <a:lnTo>
                  <a:pt x="36845" y="357203"/>
                </a:lnTo>
                <a:lnTo>
                  <a:pt x="60325" y="361950"/>
                </a:lnTo>
                <a:lnTo>
                  <a:pt x="2406650" y="361950"/>
                </a:lnTo>
                <a:lnTo>
                  <a:pt x="2430113" y="357203"/>
                </a:lnTo>
                <a:lnTo>
                  <a:pt x="2449290" y="344265"/>
                </a:lnTo>
                <a:lnTo>
                  <a:pt x="2462228" y="325088"/>
                </a:lnTo>
                <a:lnTo>
                  <a:pt x="2466975" y="301625"/>
                </a:lnTo>
                <a:lnTo>
                  <a:pt x="2466975" y="60325"/>
                </a:lnTo>
                <a:lnTo>
                  <a:pt x="2462228" y="36861"/>
                </a:lnTo>
                <a:lnTo>
                  <a:pt x="2449290" y="17684"/>
                </a:lnTo>
                <a:lnTo>
                  <a:pt x="2430113" y="4746"/>
                </a:lnTo>
                <a:lnTo>
                  <a:pt x="2406650" y="0"/>
                </a:lnTo>
                <a:close/>
              </a:path>
            </a:pathLst>
          </a:custGeom>
          <a:solidFill>
            <a:srgbClr val="1C15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23252" y="925267"/>
            <a:ext cx="10245090" cy="201930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550" b="1" dirty="0">
                <a:solidFill>
                  <a:srgbClr val="0C519B"/>
                </a:solidFill>
                <a:latin typeface="Malgun Gothic"/>
                <a:cs typeface="Malgun Gothic"/>
              </a:rPr>
              <a:t>차별성</a:t>
            </a:r>
            <a:r>
              <a:rPr sz="1550" b="1" spc="-12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550" b="1" dirty="0">
                <a:solidFill>
                  <a:srgbClr val="0C519B"/>
                </a:solidFill>
                <a:latin typeface="Calibri"/>
                <a:cs typeface="Calibri"/>
              </a:rPr>
              <a:t>2</a:t>
            </a:r>
            <a:r>
              <a:rPr sz="1550" b="1" spc="80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C519B"/>
                </a:solidFill>
                <a:latin typeface="Calibri"/>
                <a:cs typeface="Calibri"/>
              </a:rPr>
              <a:t>–</a:t>
            </a:r>
            <a:r>
              <a:rPr sz="1550" b="1" spc="80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C519B"/>
                </a:solidFill>
                <a:latin typeface="Malgun Gothic"/>
                <a:cs typeface="Malgun Gothic"/>
              </a:rPr>
              <a:t>획기적인</a:t>
            </a:r>
            <a:r>
              <a:rPr sz="1550" b="1" spc="-10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550" b="1" dirty="0">
                <a:solidFill>
                  <a:srgbClr val="0C519B"/>
                </a:solidFill>
                <a:latin typeface="Malgun Gothic"/>
                <a:cs typeface="Malgun Gothic"/>
              </a:rPr>
              <a:t>가격</a:t>
            </a:r>
            <a:r>
              <a:rPr sz="1550" b="1" spc="-7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550" b="1" spc="-25" dirty="0">
                <a:solidFill>
                  <a:srgbClr val="0C519B"/>
                </a:solidFill>
                <a:latin typeface="Malgun Gothic"/>
                <a:cs typeface="Malgun Gothic"/>
              </a:rPr>
              <a:t>경쟁력</a:t>
            </a:r>
            <a:endParaRPr sz="1550">
              <a:latin typeface="Malgun Gothic"/>
              <a:cs typeface="Malgun Gothic"/>
            </a:endParaRPr>
          </a:p>
          <a:p>
            <a:pPr marL="241300">
              <a:lnSpc>
                <a:spcPct val="100000"/>
              </a:lnSpc>
              <a:spcBef>
                <a:spcPts val="785"/>
              </a:spcBef>
            </a:pPr>
            <a:r>
              <a:rPr sz="1350" spc="-10" dirty="0">
                <a:latin typeface="Malgun Gothic"/>
                <a:cs typeface="Malgun Gothic"/>
              </a:rPr>
              <a:t>양자화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기술과</a:t>
            </a:r>
            <a:r>
              <a:rPr sz="1350" spc="-21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Calibri"/>
                <a:cs typeface="Calibri"/>
              </a:rPr>
              <a:t>Serving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최적화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등</a:t>
            </a:r>
            <a:r>
              <a:rPr sz="1350" spc="-18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뛰어난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기술력을</a:t>
            </a:r>
            <a:r>
              <a:rPr sz="1350" spc="-22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바탕으로</a:t>
            </a:r>
            <a:r>
              <a:rPr sz="1350" spc="-10" dirty="0">
                <a:latin typeface="Calibri"/>
                <a:cs typeface="Calibri"/>
              </a:rPr>
              <a:t>,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타사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유사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모델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대비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Calibri"/>
                <a:cs typeface="Calibri"/>
              </a:rPr>
              <a:t>⅕~</a:t>
            </a:r>
            <a:r>
              <a:rPr sz="1350" spc="-10" dirty="0">
                <a:latin typeface="Tahoma"/>
                <a:cs typeface="Tahoma"/>
              </a:rPr>
              <a:t>⅒</a:t>
            </a:r>
            <a:r>
              <a:rPr sz="1350" spc="-145" dirty="0">
                <a:latin typeface="Tahoma"/>
                <a:cs typeface="Tahoma"/>
              </a:rPr>
              <a:t> </a:t>
            </a:r>
            <a:r>
              <a:rPr sz="1350" dirty="0">
                <a:latin typeface="Malgun Gothic"/>
                <a:cs typeface="Malgun Gothic"/>
              </a:rPr>
              <a:t>가량의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획기적인</a:t>
            </a:r>
            <a:r>
              <a:rPr sz="1350" spc="-2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가격으로</a:t>
            </a:r>
            <a:r>
              <a:rPr sz="1350" spc="-2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서비스를</a:t>
            </a:r>
            <a:r>
              <a:rPr sz="1350" spc="-22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제공합니다</a:t>
            </a:r>
            <a:r>
              <a:rPr sz="1350" spc="-10" dirty="0"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350">
              <a:latin typeface="Calibri"/>
              <a:cs typeface="Calibri"/>
            </a:endParaRPr>
          </a:p>
          <a:p>
            <a:pPr marL="167005">
              <a:lnSpc>
                <a:spcPct val="100000"/>
              </a:lnSpc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35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5" dirty="0">
                <a:solidFill>
                  <a:srgbClr val="FFFFFF"/>
                </a:solidFill>
                <a:latin typeface="Malgun Gothic"/>
                <a:cs typeface="Malgun Gothic"/>
              </a:rPr>
              <a:t>초경량화를</a:t>
            </a:r>
            <a:r>
              <a:rPr sz="1350" b="1" spc="-1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통한</a:t>
            </a:r>
            <a:r>
              <a:rPr sz="1350" b="1" spc="-20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모델</a:t>
            </a:r>
            <a:r>
              <a:rPr sz="1350" b="1" spc="-20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Malgun Gothic"/>
                <a:cs typeface="Malgun Gothic"/>
              </a:rPr>
              <a:t>경량화</a:t>
            </a:r>
            <a:endParaRPr sz="1350">
              <a:latin typeface="Malgun Gothic"/>
              <a:cs typeface="Malgun Gothic"/>
            </a:endParaRPr>
          </a:p>
          <a:p>
            <a:pPr marL="105410">
              <a:lnSpc>
                <a:spcPts val="1664"/>
              </a:lnSpc>
              <a:spcBef>
                <a:spcPts val="1700"/>
              </a:spcBef>
            </a:pPr>
            <a:r>
              <a:rPr sz="1400" b="1" spc="-10" dirty="0">
                <a:latin typeface="Calibri"/>
                <a:cs typeface="Calibri"/>
              </a:rPr>
              <a:t>Quantization(</a:t>
            </a:r>
            <a:r>
              <a:rPr sz="1400" b="1" spc="-10" dirty="0">
                <a:latin typeface="Malgun Gothic"/>
                <a:cs typeface="Malgun Gothic"/>
              </a:rPr>
              <a:t>양자화</a:t>
            </a:r>
            <a:r>
              <a:rPr sz="1400" b="1" spc="-10" dirty="0">
                <a:latin typeface="Calibri"/>
                <a:cs typeface="Calibri"/>
              </a:rPr>
              <a:t>)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dirty="0">
                <a:latin typeface="Malgun Gothic"/>
                <a:cs typeface="Malgun Gothic"/>
              </a:rPr>
              <a:t>학습</a:t>
            </a:r>
            <a:r>
              <a:rPr sz="1400" spc="-21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방식을</a:t>
            </a:r>
            <a:r>
              <a:rPr sz="1400" spc="-1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통해</a:t>
            </a:r>
            <a:r>
              <a:rPr sz="1400" spc="-204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용량과</a:t>
            </a:r>
            <a:r>
              <a:rPr sz="1400" spc="-15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연산량을</a:t>
            </a:r>
            <a:r>
              <a:rPr sz="1400" spc="-180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줄이는</a:t>
            </a:r>
            <a:r>
              <a:rPr sz="1400" spc="-1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모델</a:t>
            </a:r>
            <a:r>
              <a:rPr sz="1400" spc="-21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초경량화에</a:t>
            </a:r>
            <a:r>
              <a:rPr sz="1400" spc="-21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성공했습니다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65405">
              <a:lnSpc>
                <a:spcPts val="1664"/>
              </a:lnSpc>
            </a:pPr>
            <a:r>
              <a:rPr sz="1400" b="1" spc="-10" dirty="0">
                <a:latin typeface="Malgun Gothic"/>
                <a:cs typeface="Malgun Gothic"/>
              </a:rPr>
              <a:t>하드웨어에</a:t>
            </a:r>
            <a:r>
              <a:rPr sz="1400" b="1" spc="-21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드는</a:t>
            </a:r>
            <a:r>
              <a:rPr sz="1400" b="1" spc="-220" dirty="0">
                <a:latin typeface="Malgun Gothic"/>
                <a:cs typeface="Malgun Gothic"/>
              </a:rPr>
              <a:t> </a:t>
            </a:r>
            <a:r>
              <a:rPr sz="1400" b="1" spc="-20" dirty="0">
                <a:latin typeface="Malgun Gothic"/>
                <a:cs typeface="Malgun Gothic"/>
              </a:rPr>
              <a:t>원가가</a:t>
            </a:r>
            <a:r>
              <a:rPr sz="1400" b="1" spc="-17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저렴</a:t>
            </a:r>
            <a:r>
              <a:rPr sz="1400" dirty="0">
                <a:latin typeface="Malgun Gothic"/>
                <a:cs typeface="Malgun Gothic"/>
              </a:rPr>
              <a:t>하다</a:t>
            </a:r>
            <a:r>
              <a:rPr sz="1400" spc="-2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보니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Malgun Gothic"/>
                <a:cs typeface="Malgun Gothic"/>
              </a:rPr>
              <a:t>타사</a:t>
            </a:r>
            <a:r>
              <a:rPr sz="1400" spc="-2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대비</a:t>
            </a:r>
            <a:r>
              <a:rPr sz="1400" spc="-22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경제적인</a:t>
            </a:r>
            <a:r>
              <a:rPr sz="1400" spc="-19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가격으로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고성능</a:t>
            </a:r>
            <a:r>
              <a:rPr sz="1400" spc="-16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서비스를</a:t>
            </a:r>
            <a:r>
              <a:rPr sz="1400" spc="-19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제공할</a:t>
            </a:r>
            <a:r>
              <a:rPr sz="1400" spc="-1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19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있습니다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76275" y="4695825"/>
            <a:ext cx="2676525" cy="361950"/>
          </a:xfrm>
          <a:custGeom>
            <a:avLst/>
            <a:gdLst/>
            <a:ahLst/>
            <a:cxnLst/>
            <a:rect l="l" t="t" r="r" b="b"/>
            <a:pathLst>
              <a:path w="2676525" h="361950">
                <a:moveTo>
                  <a:pt x="2616200" y="0"/>
                </a:moveTo>
                <a:lnTo>
                  <a:pt x="60325" y="0"/>
                </a:lnTo>
                <a:lnTo>
                  <a:pt x="36845" y="4746"/>
                </a:lnTo>
                <a:lnTo>
                  <a:pt x="17670" y="17684"/>
                </a:lnTo>
                <a:lnTo>
                  <a:pt x="4741" y="36861"/>
                </a:lnTo>
                <a:lnTo>
                  <a:pt x="0" y="60325"/>
                </a:lnTo>
                <a:lnTo>
                  <a:pt x="0" y="301625"/>
                </a:lnTo>
                <a:lnTo>
                  <a:pt x="4741" y="325088"/>
                </a:lnTo>
                <a:lnTo>
                  <a:pt x="17670" y="344265"/>
                </a:lnTo>
                <a:lnTo>
                  <a:pt x="36845" y="357203"/>
                </a:lnTo>
                <a:lnTo>
                  <a:pt x="60325" y="361950"/>
                </a:lnTo>
                <a:lnTo>
                  <a:pt x="2616200" y="361950"/>
                </a:lnTo>
                <a:lnTo>
                  <a:pt x="2639663" y="357203"/>
                </a:lnTo>
                <a:lnTo>
                  <a:pt x="2658840" y="344265"/>
                </a:lnTo>
                <a:lnTo>
                  <a:pt x="2671778" y="325088"/>
                </a:lnTo>
                <a:lnTo>
                  <a:pt x="2676525" y="301625"/>
                </a:lnTo>
                <a:lnTo>
                  <a:pt x="2676525" y="60325"/>
                </a:lnTo>
                <a:lnTo>
                  <a:pt x="2671778" y="36861"/>
                </a:lnTo>
                <a:lnTo>
                  <a:pt x="2658840" y="17684"/>
                </a:lnTo>
                <a:lnTo>
                  <a:pt x="2639663" y="4746"/>
                </a:lnTo>
                <a:lnTo>
                  <a:pt x="2616200" y="0"/>
                </a:lnTo>
                <a:close/>
              </a:path>
            </a:pathLst>
          </a:custGeom>
          <a:solidFill>
            <a:srgbClr val="1C15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6592" y="4322762"/>
            <a:ext cx="8291830" cy="1236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0C519B"/>
                </a:solidFill>
                <a:latin typeface="Calibri"/>
                <a:cs typeface="Calibri"/>
              </a:rPr>
              <a:t>*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현재</a:t>
            </a:r>
            <a:r>
              <a:rPr sz="1100" spc="-18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Calibri"/>
                <a:cs typeface="Calibri"/>
              </a:rPr>
              <a:t>MI210</a:t>
            </a:r>
            <a:r>
              <a:rPr sz="1100" spc="10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C519B"/>
                </a:solidFill>
                <a:latin typeface="Calibri"/>
                <a:cs typeface="Calibri"/>
              </a:rPr>
              <a:t>/</a:t>
            </a:r>
            <a:r>
              <a:rPr sz="1100" spc="10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C519B"/>
                </a:solidFill>
                <a:latin typeface="Malgun Gothic"/>
                <a:cs typeface="Malgun Gothic"/>
              </a:rPr>
              <a:t>가우디</a:t>
            </a:r>
            <a:r>
              <a:rPr sz="1100" spc="-12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등</a:t>
            </a:r>
            <a:r>
              <a:rPr sz="1100" spc="-15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더</a:t>
            </a:r>
            <a:r>
              <a:rPr sz="1100" spc="-15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spc="-10" dirty="0">
                <a:solidFill>
                  <a:srgbClr val="0C519B"/>
                </a:solidFill>
                <a:latin typeface="Malgun Gothic"/>
                <a:cs typeface="Malgun Gothic"/>
              </a:rPr>
              <a:t>저렴한</a:t>
            </a:r>
            <a:r>
              <a:rPr sz="1100" spc="-12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spc="-10" dirty="0">
                <a:solidFill>
                  <a:srgbClr val="0C519B"/>
                </a:solidFill>
                <a:latin typeface="Malgun Gothic"/>
                <a:cs typeface="Malgun Gothic"/>
              </a:rPr>
              <a:t>서버에</a:t>
            </a:r>
            <a:r>
              <a:rPr sz="1100" spc="-12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탑재하고자</a:t>
            </a:r>
            <a:r>
              <a:rPr sz="1100" spc="-17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최적화를</a:t>
            </a:r>
            <a:r>
              <a:rPr sz="1100" spc="-15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진행하고</a:t>
            </a:r>
            <a:r>
              <a:rPr sz="1100" spc="-16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있으며</a:t>
            </a:r>
            <a:r>
              <a:rPr sz="1100" dirty="0">
                <a:solidFill>
                  <a:srgbClr val="0C519B"/>
                </a:solidFill>
                <a:latin typeface="Calibri"/>
                <a:cs typeface="Calibri"/>
              </a:rPr>
              <a:t>,</a:t>
            </a:r>
            <a:r>
              <a:rPr sz="1100" spc="10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향후</a:t>
            </a:r>
            <a:r>
              <a:rPr sz="1100" spc="-18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더</a:t>
            </a:r>
            <a:r>
              <a:rPr sz="1100" spc="-15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spc="-10" dirty="0">
                <a:solidFill>
                  <a:srgbClr val="0C519B"/>
                </a:solidFill>
                <a:latin typeface="Malgun Gothic"/>
                <a:cs typeface="Malgun Gothic"/>
              </a:rPr>
              <a:t>가볍게</a:t>
            </a:r>
            <a:r>
              <a:rPr sz="1100" spc="-12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사용하실</a:t>
            </a:r>
            <a:r>
              <a:rPr sz="1100" spc="-15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0C519B"/>
                </a:solidFill>
                <a:latin typeface="Malgun Gothic"/>
                <a:cs typeface="Malgun Gothic"/>
              </a:rPr>
              <a:t>수</a:t>
            </a:r>
            <a:r>
              <a:rPr sz="1100" spc="-15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spc="-10" dirty="0">
                <a:solidFill>
                  <a:srgbClr val="0C519B"/>
                </a:solidFill>
                <a:latin typeface="Malgun Gothic"/>
                <a:cs typeface="Malgun Gothic"/>
              </a:rPr>
              <a:t>있도록</a:t>
            </a:r>
            <a:r>
              <a:rPr sz="1100" spc="-13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100" spc="-10" dirty="0">
                <a:solidFill>
                  <a:srgbClr val="0C519B"/>
                </a:solidFill>
                <a:latin typeface="Malgun Gothic"/>
                <a:cs typeface="Malgun Gothic"/>
              </a:rPr>
              <a:t>최적화해드립니다</a:t>
            </a:r>
            <a:r>
              <a:rPr sz="1100" spc="-10" dirty="0">
                <a:solidFill>
                  <a:srgbClr val="0C519B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100">
              <a:latin typeface="Calibri"/>
              <a:cs typeface="Calibri"/>
            </a:endParaRPr>
          </a:p>
          <a:p>
            <a:pPr marL="137160">
              <a:lnSpc>
                <a:spcPct val="100000"/>
              </a:lnSpc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Calibri"/>
                <a:cs typeface="Calibri"/>
              </a:rPr>
              <a:t>vLLM</a:t>
            </a:r>
            <a:r>
              <a:rPr sz="13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을</a:t>
            </a:r>
            <a:r>
              <a:rPr sz="1350" b="1" spc="-1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통한</a:t>
            </a:r>
            <a:r>
              <a:rPr sz="1350" b="1" spc="-20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Serving</a:t>
            </a:r>
            <a:r>
              <a:rPr sz="13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최적화</a:t>
            </a:r>
            <a:endParaRPr sz="1350">
              <a:latin typeface="Malgun Gothic"/>
              <a:cs typeface="Malgun Gothic"/>
            </a:endParaRPr>
          </a:p>
          <a:p>
            <a:pPr marL="25400">
              <a:lnSpc>
                <a:spcPct val="100000"/>
              </a:lnSpc>
              <a:spcBef>
                <a:spcPts val="1695"/>
              </a:spcBef>
            </a:pPr>
            <a:r>
              <a:rPr sz="1200" b="1" dirty="0">
                <a:latin typeface="Malgun Gothic"/>
                <a:cs typeface="Malgun Gothic"/>
              </a:rPr>
              <a:t>최소한의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인프라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투자</a:t>
            </a:r>
            <a:r>
              <a:rPr sz="1200" dirty="0">
                <a:latin typeface="Malgun Gothic"/>
                <a:cs typeface="Malgun Gothic"/>
              </a:rPr>
              <a:t>로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최대한의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사용자에게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서비스를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동시에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serving</a:t>
            </a:r>
            <a:r>
              <a:rPr sz="1200" spc="-10" dirty="0">
                <a:latin typeface="Malgun Gothic"/>
                <a:cs typeface="Malgun Gothic"/>
              </a:rPr>
              <a:t>할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있도록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지원합니다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65"/>
              </a:spcBef>
            </a:pPr>
            <a:r>
              <a:rPr sz="1050" dirty="0">
                <a:solidFill>
                  <a:srgbClr val="0C519B"/>
                </a:solidFill>
                <a:latin typeface="Calibri"/>
                <a:cs typeface="Calibri"/>
              </a:rPr>
              <a:t>*</a:t>
            </a:r>
            <a:r>
              <a:rPr sz="1050" spc="20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C519B"/>
                </a:solidFill>
                <a:latin typeface="Calibri"/>
                <a:cs typeface="Calibri"/>
              </a:rPr>
              <a:t>MAAL-albatross</a:t>
            </a:r>
            <a:r>
              <a:rPr sz="1050" spc="35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C519B"/>
                </a:solidFill>
                <a:latin typeface="Calibri"/>
                <a:cs typeface="Calibri"/>
              </a:rPr>
              <a:t>70B</a:t>
            </a:r>
            <a:r>
              <a:rPr sz="1050" spc="15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C519B"/>
                </a:solidFill>
                <a:latin typeface="Malgun Gothic"/>
                <a:cs typeface="Malgun Gothic"/>
              </a:rPr>
              <a:t>기준</a:t>
            </a:r>
            <a:r>
              <a:rPr sz="1050" dirty="0">
                <a:solidFill>
                  <a:srgbClr val="0C519B"/>
                </a:solidFill>
                <a:latin typeface="Calibri"/>
                <a:cs typeface="Calibri"/>
              </a:rPr>
              <a:t>,</a:t>
            </a:r>
            <a:r>
              <a:rPr sz="1050" spc="5" dirty="0">
                <a:solidFill>
                  <a:srgbClr val="0C519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C519B"/>
                </a:solidFill>
                <a:latin typeface="Malgun Gothic"/>
                <a:cs typeface="Malgun Gothic"/>
              </a:rPr>
              <a:t>현재</a:t>
            </a:r>
            <a:r>
              <a:rPr sz="1050" spc="-10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0C519B"/>
                </a:solidFill>
                <a:latin typeface="Malgun Gothic"/>
                <a:cs typeface="Malgun Gothic"/>
              </a:rPr>
              <a:t>약</a:t>
            </a:r>
            <a:r>
              <a:rPr sz="1050" spc="-110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spc="-10" dirty="0">
                <a:solidFill>
                  <a:srgbClr val="0C519B"/>
                </a:solidFill>
                <a:latin typeface="Calibri"/>
                <a:cs typeface="Calibri"/>
              </a:rPr>
              <a:t>30</a:t>
            </a:r>
            <a:r>
              <a:rPr sz="1050" spc="-10" dirty="0">
                <a:solidFill>
                  <a:srgbClr val="0C519B"/>
                </a:solidFill>
                <a:latin typeface="Malgun Gothic"/>
                <a:cs typeface="Malgun Gothic"/>
              </a:rPr>
              <a:t>채널</a:t>
            </a:r>
            <a:r>
              <a:rPr sz="1050" spc="-10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0C519B"/>
                </a:solidFill>
                <a:latin typeface="Malgun Gothic"/>
                <a:cs typeface="Malgun Gothic"/>
              </a:rPr>
              <a:t>동시</a:t>
            </a:r>
            <a:r>
              <a:rPr sz="1050" spc="-10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0C519B"/>
                </a:solidFill>
                <a:latin typeface="Malgun Gothic"/>
                <a:cs typeface="Malgun Gothic"/>
              </a:rPr>
              <a:t>사용</a:t>
            </a:r>
            <a:r>
              <a:rPr sz="1050" spc="-95" dirty="0">
                <a:solidFill>
                  <a:srgbClr val="0C519B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0C519B"/>
                </a:solidFill>
                <a:latin typeface="Malgun Gothic"/>
                <a:cs typeface="Malgun Gothic"/>
              </a:rPr>
              <a:t>가능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5800" y="1381125"/>
            <a:ext cx="76200" cy="247650"/>
          </a:xfrm>
          <a:custGeom>
            <a:avLst/>
            <a:gdLst/>
            <a:ahLst/>
            <a:cxnLst/>
            <a:rect l="l" t="t" r="r" b="b"/>
            <a:pathLst>
              <a:path w="76200" h="247650">
                <a:moveTo>
                  <a:pt x="76200" y="0"/>
                </a:moveTo>
                <a:lnTo>
                  <a:pt x="0" y="0"/>
                </a:lnTo>
                <a:lnTo>
                  <a:pt x="0" y="247650"/>
                </a:lnTo>
                <a:lnTo>
                  <a:pt x="76200" y="247650"/>
                </a:lnTo>
                <a:lnTo>
                  <a:pt x="762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76975" y="3352800"/>
            <a:ext cx="1019175" cy="495300"/>
          </a:xfrm>
          <a:custGeom>
            <a:avLst/>
            <a:gdLst/>
            <a:ahLst/>
            <a:cxnLst/>
            <a:rect l="l" t="t" r="r" b="b"/>
            <a:pathLst>
              <a:path w="1019175" h="495300">
                <a:moveTo>
                  <a:pt x="988059" y="0"/>
                </a:moveTo>
                <a:lnTo>
                  <a:pt x="31114" y="0"/>
                </a:lnTo>
                <a:lnTo>
                  <a:pt x="19020" y="2450"/>
                </a:lnTo>
                <a:lnTo>
                  <a:pt x="9128" y="9128"/>
                </a:lnTo>
                <a:lnTo>
                  <a:pt x="2450" y="19020"/>
                </a:lnTo>
                <a:lnTo>
                  <a:pt x="0" y="31114"/>
                </a:lnTo>
                <a:lnTo>
                  <a:pt x="0" y="464185"/>
                </a:lnTo>
                <a:lnTo>
                  <a:pt x="2450" y="476279"/>
                </a:lnTo>
                <a:lnTo>
                  <a:pt x="9128" y="486171"/>
                </a:lnTo>
                <a:lnTo>
                  <a:pt x="19020" y="492849"/>
                </a:lnTo>
                <a:lnTo>
                  <a:pt x="31114" y="495300"/>
                </a:lnTo>
                <a:lnTo>
                  <a:pt x="988059" y="495300"/>
                </a:lnTo>
                <a:lnTo>
                  <a:pt x="1000154" y="492849"/>
                </a:lnTo>
                <a:lnTo>
                  <a:pt x="1010046" y="486171"/>
                </a:lnTo>
                <a:lnTo>
                  <a:pt x="1016724" y="476279"/>
                </a:lnTo>
                <a:lnTo>
                  <a:pt x="1019175" y="464185"/>
                </a:lnTo>
                <a:lnTo>
                  <a:pt x="1019175" y="31114"/>
                </a:lnTo>
                <a:lnTo>
                  <a:pt x="1016724" y="19020"/>
                </a:lnTo>
                <a:lnTo>
                  <a:pt x="1010046" y="9128"/>
                </a:lnTo>
                <a:lnTo>
                  <a:pt x="1000154" y="2450"/>
                </a:lnTo>
                <a:lnTo>
                  <a:pt x="9880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541769" y="3443287"/>
            <a:ext cx="502284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25" dirty="0">
                <a:solidFill>
                  <a:srgbClr val="7E7E7E"/>
                </a:solidFill>
                <a:latin typeface="Malgun Gothic"/>
                <a:cs typeface="Malgun Gothic"/>
              </a:rPr>
              <a:t>타사</a:t>
            </a:r>
            <a:endParaRPr sz="185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14894" y="3295332"/>
            <a:ext cx="3325495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spc="-10" dirty="0">
                <a:latin typeface="Malgun Gothic"/>
                <a:cs typeface="Malgun Gothic"/>
              </a:rPr>
              <a:t>타사는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유사한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성능의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제품을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가격이</a:t>
            </a:r>
            <a:r>
              <a:rPr sz="1200" spc="-13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높은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ts val="1435"/>
              </a:lnSpc>
            </a:pPr>
            <a:r>
              <a:rPr sz="1200" dirty="0">
                <a:latin typeface="Calibri"/>
                <a:cs typeface="Calibri"/>
              </a:rPr>
              <a:t>H100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Malgun Gothic"/>
                <a:cs typeface="Malgun Gothic"/>
              </a:rPr>
              <a:t>서버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또는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Calibri"/>
                <a:cs typeface="Calibri"/>
              </a:rPr>
              <a:t>A100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Malgun Gothic"/>
                <a:cs typeface="Malgun Gothic"/>
              </a:rPr>
              <a:t>서버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Calibri"/>
                <a:cs typeface="Calibri"/>
              </a:rPr>
              <a:t>4</a:t>
            </a:r>
            <a:r>
              <a:rPr sz="1200" spc="-10" dirty="0">
                <a:latin typeface="Malgun Gothic"/>
                <a:cs typeface="Malgun Gothic"/>
              </a:rPr>
              <a:t>장으로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구현하고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있어</a:t>
            </a:r>
            <a:r>
              <a:rPr sz="1200" spc="-25" dirty="0">
                <a:latin typeface="Calibri"/>
                <a:cs typeface="Calibri"/>
              </a:rPr>
              <a:t>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Malgun Gothic"/>
                <a:cs typeface="Malgun Gothic"/>
              </a:rPr>
              <a:t>기본적인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원가가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높습니다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6944" y="3404806"/>
            <a:ext cx="3575685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spc="-10" dirty="0">
                <a:latin typeface="Malgun Gothic"/>
                <a:cs typeface="Malgun Gothic"/>
              </a:rPr>
              <a:t>초경량화를</a:t>
            </a:r>
            <a:r>
              <a:rPr sz="1200" spc="-12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통해</a:t>
            </a:r>
            <a:r>
              <a:rPr sz="1200" spc="-12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Calibri"/>
                <a:cs typeface="Calibri"/>
              </a:rPr>
              <a:t>70B</a:t>
            </a:r>
            <a:r>
              <a:rPr sz="1200" spc="-10" dirty="0">
                <a:latin typeface="Malgun Gothic"/>
                <a:cs typeface="Malgun Gothic"/>
              </a:rPr>
              <a:t>모델이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ts val="1435"/>
              </a:lnSpc>
            </a:pPr>
            <a:r>
              <a:rPr sz="1200" b="1" dirty="0">
                <a:latin typeface="Calibri"/>
                <a:cs typeface="Calibri"/>
              </a:rPr>
              <a:t>A100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서버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2</a:t>
            </a:r>
            <a:r>
              <a:rPr sz="1200" b="1" spc="-10" dirty="0">
                <a:latin typeface="Malgun Gothic"/>
                <a:cs typeface="Malgun Gothic"/>
              </a:rPr>
              <a:t>장</a:t>
            </a:r>
            <a:r>
              <a:rPr sz="1200" b="1" spc="-15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만으로</a:t>
            </a:r>
            <a:r>
              <a:rPr sz="1200" b="1" spc="-15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구동이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가능하게끔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지원</a:t>
            </a:r>
            <a:r>
              <a:rPr sz="1200" spc="-10" dirty="0">
                <a:latin typeface="Malgun Gothic"/>
                <a:cs typeface="Malgun Gothic"/>
              </a:rPr>
              <a:t>합니다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0575" y="3438525"/>
            <a:ext cx="1057275" cy="3048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01275" y="3248025"/>
            <a:ext cx="10668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79798" y="2287487"/>
            <a:ext cx="123111" cy="2626360"/>
          </a:xfrm>
          <a:prstGeom prst="rect">
            <a:avLst/>
          </a:prstGeom>
        </p:spPr>
        <p:txBody>
          <a:bodyPr vert="vert270" wrap="square" lIns="0" tIns="6773" rIns="0" bIns="0" rtlCol="0">
            <a:spAutoFit/>
          </a:bodyPr>
          <a:lstStyle/>
          <a:p>
            <a:pPr marL="16933">
              <a:spcBef>
                <a:spcPts val="53"/>
              </a:spcBef>
            </a:pP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Copyright</a:t>
            </a:r>
            <a:r>
              <a:rPr sz="800" spc="-2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©</a:t>
            </a:r>
            <a:r>
              <a:rPr sz="800" spc="-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2023</a:t>
            </a:r>
            <a:r>
              <a:rPr sz="800" spc="13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by</a:t>
            </a:r>
            <a:r>
              <a:rPr sz="800" spc="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Inspirient</a:t>
            </a:r>
            <a:r>
              <a:rPr sz="800" spc="-2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GmbH.</a:t>
            </a:r>
            <a:r>
              <a:rPr sz="800" spc="13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All rights </a:t>
            </a: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reserved.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1910" y="6543034"/>
            <a:ext cx="628076" cy="1352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6705" y="337819"/>
            <a:ext cx="2156460" cy="30527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867" i="1" dirty="0">
                <a:solidFill>
                  <a:srgbClr val="1C438D"/>
                </a:solidFill>
                <a:latin typeface="Arial"/>
                <a:cs typeface="Arial"/>
              </a:rPr>
              <a:t>State</a:t>
            </a:r>
            <a:r>
              <a:rPr sz="1867" i="1" spc="-73" dirty="0">
                <a:solidFill>
                  <a:srgbClr val="1C438D"/>
                </a:solidFill>
                <a:latin typeface="Arial"/>
                <a:cs typeface="Arial"/>
              </a:rPr>
              <a:t> </a:t>
            </a:r>
            <a:r>
              <a:rPr sz="1867" i="1" dirty="0">
                <a:solidFill>
                  <a:srgbClr val="1C438D"/>
                </a:solidFill>
                <a:latin typeface="Arial"/>
                <a:cs typeface="Arial"/>
              </a:rPr>
              <a:t>of</a:t>
            </a:r>
            <a:r>
              <a:rPr sz="1867" i="1" spc="-20" dirty="0">
                <a:solidFill>
                  <a:srgbClr val="1C438D"/>
                </a:solidFill>
                <a:latin typeface="Arial"/>
                <a:cs typeface="Arial"/>
              </a:rPr>
              <a:t> </a:t>
            </a:r>
            <a:r>
              <a:rPr sz="1867" i="1" dirty="0">
                <a:solidFill>
                  <a:srgbClr val="1C438D"/>
                </a:solidFill>
                <a:latin typeface="Arial"/>
                <a:cs typeface="Arial"/>
              </a:rPr>
              <a:t>the</a:t>
            </a:r>
            <a:r>
              <a:rPr sz="1867" i="1" spc="-93" dirty="0">
                <a:solidFill>
                  <a:srgbClr val="1C438D"/>
                </a:solidFill>
                <a:latin typeface="Arial"/>
                <a:cs typeface="Arial"/>
              </a:rPr>
              <a:t> </a:t>
            </a:r>
            <a:r>
              <a:rPr sz="1867" i="1" dirty="0">
                <a:solidFill>
                  <a:srgbClr val="1C438D"/>
                </a:solidFill>
                <a:latin typeface="Arial"/>
                <a:cs typeface="Arial"/>
              </a:rPr>
              <a:t>Art</a:t>
            </a:r>
            <a:r>
              <a:rPr sz="1867" i="1" spc="-20" dirty="0">
                <a:solidFill>
                  <a:srgbClr val="1C438D"/>
                </a:solidFill>
                <a:latin typeface="Arial"/>
                <a:cs typeface="Arial"/>
              </a:rPr>
              <a:t> </a:t>
            </a:r>
            <a:r>
              <a:rPr sz="1867" i="1" spc="-27" dirty="0">
                <a:solidFill>
                  <a:srgbClr val="1C438D"/>
                </a:solidFill>
                <a:latin typeface="Arial"/>
                <a:cs typeface="Arial"/>
              </a:rPr>
              <a:t>(1/2)</a:t>
            </a:r>
            <a:endParaRPr sz="1867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6704" y="620268"/>
            <a:ext cx="5723467" cy="2564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3" dirty="0">
                <a:latin typeface="Arial"/>
                <a:cs typeface="Arial"/>
              </a:rPr>
              <a:t>Generative</a:t>
            </a:r>
            <a:r>
              <a:rPr spc="-213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AI:</a:t>
            </a:r>
            <a:r>
              <a:rPr spc="-73" dirty="0">
                <a:latin typeface="Arial"/>
                <a:cs typeface="Arial"/>
              </a:rPr>
              <a:t> </a:t>
            </a:r>
            <a:r>
              <a:rPr spc="-47" dirty="0">
                <a:latin typeface="Arial"/>
                <a:cs typeface="Arial"/>
              </a:rPr>
              <a:t>Your</a:t>
            </a:r>
            <a:r>
              <a:rPr spc="-33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Mileage</a:t>
            </a:r>
            <a:r>
              <a:rPr spc="-27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May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27" dirty="0">
                <a:latin typeface="Arial"/>
                <a:cs typeface="Arial"/>
              </a:rPr>
              <a:t>Vary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5943601" y="1746165"/>
            <a:ext cx="5257800" cy="10567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 indent="-1693" algn="ctr">
              <a:spcBef>
                <a:spcPts val="140"/>
              </a:spcBef>
            </a:pPr>
            <a:r>
              <a:rPr b="1" i="1" dirty="0">
                <a:latin typeface="Arial"/>
                <a:cs typeface="Arial"/>
              </a:rPr>
              <a:t>Users</a:t>
            </a:r>
            <a:r>
              <a:rPr b="1" i="1" spc="-53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get</a:t>
            </a:r>
            <a:r>
              <a:rPr b="1" i="1" spc="-47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tricked</a:t>
            </a:r>
            <a:r>
              <a:rPr b="1" i="1" spc="-6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by</a:t>
            </a:r>
            <a:r>
              <a:rPr b="1" i="1" spc="-33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appearance.</a:t>
            </a:r>
            <a:r>
              <a:rPr b="1" i="1" spc="-67" dirty="0">
                <a:latin typeface="Arial"/>
                <a:cs typeface="Arial"/>
              </a:rPr>
              <a:t> </a:t>
            </a:r>
            <a:r>
              <a:rPr i="1" dirty="0"/>
              <a:t>Our</a:t>
            </a:r>
            <a:r>
              <a:rPr i="1" spc="-40" dirty="0"/>
              <a:t> </a:t>
            </a:r>
            <a:r>
              <a:rPr i="1" spc="-27" dirty="0"/>
              <a:t>user</a:t>
            </a:r>
            <a:r>
              <a:rPr spc="-27" dirty="0"/>
              <a:t> </a:t>
            </a:r>
            <a:r>
              <a:rPr dirty="0"/>
              <a:t>study</a:t>
            </a:r>
            <a:r>
              <a:rPr spc="-73" dirty="0"/>
              <a:t> </a:t>
            </a:r>
            <a:r>
              <a:rPr dirty="0"/>
              <a:t>results</a:t>
            </a:r>
            <a:r>
              <a:rPr spc="-53" dirty="0"/>
              <a:t> </a:t>
            </a:r>
            <a:r>
              <a:rPr dirty="0"/>
              <a:t>show</a:t>
            </a:r>
            <a:r>
              <a:rPr spc="-2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users</a:t>
            </a:r>
            <a:r>
              <a:rPr spc="-53" dirty="0"/>
              <a:t> </a:t>
            </a:r>
            <a:r>
              <a:rPr dirty="0"/>
              <a:t>prefer</a:t>
            </a:r>
            <a:r>
              <a:rPr spc="-40" dirty="0"/>
              <a:t> </a:t>
            </a:r>
            <a:r>
              <a:rPr spc="-13" dirty="0"/>
              <a:t>ChatGPT </a:t>
            </a:r>
            <a:r>
              <a:rPr dirty="0"/>
              <a:t>answers</a:t>
            </a:r>
            <a:r>
              <a:rPr spc="-60" dirty="0"/>
              <a:t> </a:t>
            </a:r>
            <a:r>
              <a:rPr dirty="0"/>
              <a:t>34.82%</a:t>
            </a:r>
            <a:r>
              <a:rPr spc="-53" dirty="0"/>
              <a:t> </a:t>
            </a:r>
            <a:r>
              <a:rPr dirty="0"/>
              <a:t>of</a:t>
            </a:r>
            <a:r>
              <a:rPr spc="-27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time.</a:t>
            </a:r>
            <a:r>
              <a:rPr spc="-47" dirty="0"/>
              <a:t> </a:t>
            </a:r>
            <a:r>
              <a:rPr spc="-13" dirty="0"/>
              <a:t>However,</a:t>
            </a:r>
            <a:r>
              <a:rPr spc="-47" dirty="0"/>
              <a:t> </a:t>
            </a:r>
            <a:r>
              <a:rPr dirty="0"/>
              <a:t>77.27%</a:t>
            </a:r>
            <a:r>
              <a:rPr spc="-47" dirty="0"/>
              <a:t> </a:t>
            </a:r>
            <a:r>
              <a:rPr spc="-33" dirty="0"/>
              <a:t>of </a:t>
            </a:r>
            <a:r>
              <a:rPr dirty="0"/>
              <a:t>these</a:t>
            </a:r>
            <a:r>
              <a:rPr spc="-73" dirty="0"/>
              <a:t> </a:t>
            </a:r>
            <a:r>
              <a:rPr dirty="0"/>
              <a:t>preferences</a:t>
            </a:r>
            <a:r>
              <a:rPr spc="-93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incorrect</a:t>
            </a:r>
            <a:r>
              <a:rPr spc="-73" dirty="0"/>
              <a:t> </a:t>
            </a:r>
            <a:r>
              <a:rPr dirty="0"/>
              <a:t>answers.</a:t>
            </a:r>
            <a:r>
              <a:rPr spc="-60" dirty="0"/>
              <a:t> </a:t>
            </a:r>
            <a:r>
              <a:rPr spc="-33" dirty="0"/>
              <a:t>[…] </a:t>
            </a:r>
            <a:r>
              <a:rPr dirty="0"/>
              <a:t>During</a:t>
            </a:r>
            <a:r>
              <a:rPr spc="-53" dirty="0"/>
              <a:t> </a:t>
            </a:r>
            <a:r>
              <a:rPr dirty="0"/>
              <a:t>our</a:t>
            </a:r>
            <a:r>
              <a:rPr spc="-33" dirty="0"/>
              <a:t> </a:t>
            </a:r>
            <a:r>
              <a:rPr spc="-27" dirty="0"/>
              <a:t>study,</a:t>
            </a:r>
            <a:r>
              <a:rPr spc="-53" dirty="0"/>
              <a:t> </a:t>
            </a:r>
            <a:r>
              <a:rPr dirty="0"/>
              <a:t>we</a:t>
            </a:r>
            <a:r>
              <a:rPr spc="-13" dirty="0"/>
              <a:t> </a:t>
            </a:r>
            <a:r>
              <a:rPr dirty="0"/>
              <a:t>observed</a:t>
            </a:r>
            <a:r>
              <a:rPr spc="-6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only</a:t>
            </a:r>
            <a:r>
              <a:rPr spc="-27" dirty="0"/>
              <a:t> </a:t>
            </a:r>
            <a:r>
              <a:rPr dirty="0"/>
              <a:t>when</a:t>
            </a:r>
            <a:r>
              <a:rPr spc="-33" dirty="0"/>
              <a:t> the </a:t>
            </a:r>
            <a:r>
              <a:rPr dirty="0"/>
              <a:t>error</a:t>
            </a:r>
            <a:r>
              <a:rPr spc="-67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the</a:t>
            </a:r>
            <a:r>
              <a:rPr spc="-27" dirty="0"/>
              <a:t> </a:t>
            </a:r>
            <a:r>
              <a:rPr dirty="0"/>
              <a:t>ChatGPT</a:t>
            </a:r>
            <a:r>
              <a:rPr spc="-60" dirty="0"/>
              <a:t> </a:t>
            </a:r>
            <a:r>
              <a:rPr dirty="0"/>
              <a:t>answer</a:t>
            </a:r>
            <a:r>
              <a:rPr spc="-27" dirty="0"/>
              <a:t> </a:t>
            </a:r>
            <a:r>
              <a:rPr dirty="0"/>
              <a:t>is</a:t>
            </a:r>
            <a:r>
              <a:rPr spc="-27" dirty="0"/>
              <a:t> </a:t>
            </a:r>
            <a:r>
              <a:rPr dirty="0"/>
              <a:t>obvious,</a:t>
            </a:r>
            <a:r>
              <a:rPr spc="-53" dirty="0"/>
              <a:t> </a:t>
            </a:r>
            <a:r>
              <a:rPr spc="-13" dirty="0"/>
              <a:t>users </a:t>
            </a:r>
            <a:r>
              <a:rPr dirty="0"/>
              <a:t>can</a:t>
            </a:r>
            <a:r>
              <a:rPr spc="-40" dirty="0"/>
              <a:t> </a:t>
            </a:r>
            <a:r>
              <a:rPr dirty="0"/>
              <a:t>identify</a:t>
            </a:r>
            <a:r>
              <a:rPr spc="-53" dirty="0"/>
              <a:t> </a:t>
            </a:r>
            <a:r>
              <a:rPr dirty="0"/>
              <a:t>the</a:t>
            </a:r>
            <a:r>
              <a:rPr spc="-27" dirty="0"/>
              <a:t> </a:t>
            </a:r>
            <a:r>
              <a:rPr spc="-13" dirty="0"/>
              <a:t>error.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07278" y="5518235"/>
            <a:ext cx="2587413" cy="42648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83435" marR="6773" indent="-467348">
              <a:spcBef>
                <a:spcPts val="127"/>
              </a:spcBef>
            </a:pPr>
            <a:r>
              <a:rPr sz="1333" dirty="0">
                <a:latin typeface="Arial"/>
                <a:cs typeface="Arial"/>
              </a:rPr>
              <a:t>v.d.</a:t>
            </a:r>
            <a:r>
              <a:rPr sz="1333" spc="-53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Heide,</a:t>
            </a:r>
            <a:r>
              <a:rPr sz="1333" spc="-27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Wenz,</a:t>
            </a:r>
            <a:r>
              <a:rPr sz="1333" spc="-87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Haensch</a:t>
            </a:r>
            <a:r>
              <a:rPr sz="1333" spc="-47" dirty="0">
                <a:latin typeface="Arial"/>
                <a:cs typeface="Arial"/>
              </a:rPr>
              <a:t> </a:t>
            </a:r>
            <a:r>
              <a:rPr sz="1333" spc="-27" dirty="0">
                <a:latin typeface="Arial"/>
                <a:cs typeface="Arial"/>
              </a:rPr>
              <a:t>(LMU) </a:t>
            </a:r>
            <a:r>
              <a:rPr sz="1333" dirty="0">
                <a:latin typeface="Arial"/>
                <a:cs typeface="Arial"/>
              </a:rPr>
              <a:t>GOR</a:t>
            </a:r>
            <a:r>
              <a:rPr sz="1333" spc="-60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‘23</a:t>
            </a:r>
            <a:r>
              <a:rPr sz="1333" spc="-27" dirty="0">
                <a:latin typeface="Arial"/>
                <a:cs typeface="Arial"/>
              </a:rPr>
              <a:t> </a:t>
            </a:r>
            <a:r>
              <a:rPr sz="1333" i="1" spc="-13" dirty="0">
                <a:latin typeface="Arial"/>
                <a:cs typeface="Arial"/>
              </a:rPr>
              <a:t>(downstairs)</a:t>
            </a:r>
            <a:endParaRPr sz="1333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3613" y="5111835"/>
            <a:ext cx="4832772" cy="83672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6773" indent="239601">
              <a:spcBef>
                <a:spcPts val="127"/>
              </a:spcBef>
            </a:pPr>
            <a:r>
              <a:rPr sz="1333" i="1" dirty="0">
                <a:latin typeface="Arial"/>
                <a:cs typeface="Arial"/>
              </a:rPr>
              <a:t>Who</a:t>
            </a:r>
            <a:r>
              <a:rPr sz="1333" i="1" spc="-53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Answers</a:t>
            </a:r>
            <a:r>
              <a:rPr sz="1333" i="1" spc="-27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It</a:t>
            </a:r>
            <a:r>
              <a:rPr sz="1333" i="1" spc="-13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Better?</a:t>
            </a:r>
            <a:r>
              <a:rPr sz="1333" i="1" spc="-20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An</a:t>
            </a:r>
            <a:r>
              <a:rPr sz="1333" i="1" spc="-20" dirty="0">
                <a:latin typeface="Arial"/>
                <a:cs typeface="Arial"/>
              </a:rPr>
              <a:t> </a:t>
            </a:r>
            <a:r>
              <a:rPr sz="1333" i="1" spc="-13" dirty="0">
                <a:latin typeface="Arial"/>
                <a:cs typeface="Arial"/>
              </a:rPr>
              <a:t>In-</a:t>
            </a:r>
            <a:r>
              <a:rPr sz="1333" i="1" dirty="0">
                <a:latin typeface="Arial"/>
                <a:cs typeface="Arial"/>
              </a:rPr>
              <a:t>Depth</a:t>
            </a:r>
            <a:r>
              <a:rPr sz="1333" i="1" spc="-33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Analysis of</a:t>
            </a:r>
            <a:r>
              <a:rPr sz="1333" i="1" spc="-40" dirty="0">
                <a:latin typeface="Arial"/>
                <a:cs typeface="Arial"/>
              </a:rPr>
              <a:t> </a:t>
            </a:r>
            <a:r>
              <a:rPr sz="1333" i="1" spc="-13" dirty="0">
                <a:latin typeface="Arial"/>
                <a:cs typeface="Arial"/>
              </a:rPr>
              <a:t>ChatGPT </a:t>
            </a:r>
            <a:r>
              <a:rPr sz="1333" i="1" dirty="0">
                <a:latin typeface="Arial"/>
                <a:cs typeface="Arial"/>
              </a:rPr>
              <a:t>and</a:t>
            </a:r>
            <a:r>
              <a:rPr sz="1333" i="1" spc="-73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Stack</a:t>
            </a:r>
            <a:r>
              <a:rPr sz="1333" i="1" spc="-33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Overflow</a:t>
            </a:r>
            <a:r>
              <a:rPr sz="1333" i="1" spc="-33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Answers</a:t>
            </a:r>
            <a:r>
              <a:rPr sz="1333" i="1" spc="-47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to</a:t>
            </a:r>
            <a:r>
              <a:rPr sz="1333" i="1" spc="-33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Software</a:t>
            </a:r>
            <a:r>
              <a:rPr sz="1333" i="1" spc="-40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Engineering</a:t>
            </a:r>
            <a:r>
              <a:rPr sz="1333" i="1" spc="-27" dirty="0">
                <a:latin typeface="Arial"/>
                <a:cs typeface="Arial"/>
              </a:rPr>
              <a:t> </a:t>
            </a:r>
            <a:r>
              <a:rPr sz="1333" i="1" spc="-13" dirty="0">
                <a:latin typeface="Arial"/>
                <a:cs typeface="Arial"/>
              </a:rPr>
              <a:t>Questions</a:t>
            </a:r>
            <a:endParaRPr sz="1333">
              <a:latin typeface="Arial"/>
              <a:cs typeface="Arial"/>
            </a:endParaRPr>
          </a:p>
          <a:p>
            <a:pPr marL="849185" marR="839026" indent="121917"/>
            <a:r>
              <a:rPr sz="1333" dirty="0">
                <a:latin typeface="Arial"/>
                <a:cs typeface="Arial"/>
              </a:rPr>
              <a:t>Kabir,</a:t>
            </a:r>
            <a:r>
              <a:rPr sz="1333" spc="-27" dirty="0">
                <a:latin typeface="Arial"/>
                <a:cs typeface="Arial"/>
              </a:rPr>
              <a:t> </a:t>
            </a:r>
            <a:r>
              <a:rPr sz="1333" spc="-13" dirty="0">
                <a:latin typeface="Arial"/>
                <a:cs typeface="Arial"/>
              </a:rPr>
              <a:t>Udo-</a:t>
            </a:r>
            <a:r>
              <a:rPr sz="1333" dirty="0">
                <a:latin typeface="Arial"/>
                <a:cs typeface="Arial"/>
              </a:rPr>
              <a:t>Imeh,</a:t>
            </a:r>
            <a:r>
              <a:rPr sz="1333" spc="-60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Kou,</a:t>
            </a:r>
            <a:r>
              <a:rPr sz="1333" spc="-27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Zhang</a:t>
            </a:r>
            <a:r>
              <a:rPr sz="1333" spc="-40" dirty="0">
                <a:latin typeface="Arial"/>
                <a:cs typeface="Arial"/>
              </a:rPr>
              <a:t> </a:t>
            </a:r>
            <a:r>
              <a:rPr sz="1333" spc="-13" dirty="0">
                <a:latin typeface="Arial"/>
                <a:cs typeface="Arial"/>
              </a:rPr>
              <a:t>(Purdue) </a:t>
            </a:r>
            <a:r>
              <a:rPr sz="1333" u="sng" spc="-13" dirty="0">
                <a:solidFill>
                  <a:srgbClr val="1C438D"/>
                </a:solidFill>
                <a:uFill>
                  <a:solidFill>
                    <a:srgbClr val="1C438D"/>
                  </a:solidFill>
                </a:uFill>
                <a:latin typeface="Arial"/>
                <a:cs typeface="Arial"/>
                <a:hlinkClick r:id="rId3"/>
              </a:rPr>
              <a:t>https://doi.org/10.48550/arXiv.2308.02312</a:t>
            </a:r>
            <a:endParaRPr sz="1333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6420" y="1600183"/>
            <a:ext cx="2931329" cy="390838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52205" y="6195111"/>
            <a:ext cx="5201920" cy="558272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6933">
              <a:spcBef>
                <a:spcPts val="33"/>
              </a:spcBef>
            </a:pPr>
            <a:r>
              <a:rPr dirty="0"/>
              <a:t>General</a:t>
            </a:r>
            <a:r>
              <a:rPr spc="-40" dirty="0"/>
              <a:t> </a:t>
            </a: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Research</a:t>
            </a:r>
            <a:r>
              <a:rPr spc="-40" dirty="0"/>
              <a:t> </a:t>
            </a:r>
            <a:r>
              <a:rPr dirty="0"/>
              <a:t>Conference</a:t>
            </a:r>
            <a:r>
              <a:rPr spc="-20" dirty="0"/>
              <a:t> </a:t>
            </a:r>
            <a:r>
              <a:rPr dirty="0"/>
              <a:t>2023</a:t>
            </a:r>
            <a:r>
              <a:rPr spc="-33" dirty="0"/>
              <a:t> </a:t>
            </a:r>
            <a:r>
              <a:rPr dirty="0"/>
              <a:t>(GOR</a:t>
            </a:r>
            <a:r>
              <a:rPr spc="-47" dirty="0"/>
              <a:t> </a:t>
            </a:r>
            <a:r>
              <a:rPr dirty="0"/>
              <a:t>23),</a:t>
            </a:r>
            <a:r>
              <a:rPr spc="-40" dirty="0"/>
              <a:t> </a:t>
            </a:r>
            <a:r>
              <a:rPr spc="-13" dirty="0"/>
              <a:t>21.09.2023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r>
              <a:rPr spc="-33" dirty="0"/>
              <a:t>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79798" y="2287487"/>
            <a:ext cx="123111" cy="2626360"/>
          </a:xfrm>
          <a:prstGeom prst="rect">
            <a:avLst/>
          </a:prstGeom>
        </p:spPr>
        <p:txBody>
          <a:bodyPr vert="vert270" wrap="square" lIns="0" tIns="6773" rIns="0" bIns="0" rtlCol="0">
            <a:spAutoFit/>
          </a:bodyPr>
          <a:lstStyle/>
          <a:p>
            <a:pPr marL="16933">
              <a:spcBef>
                <a:spcPts val="53"/>
              </a:spcBef>
            </a:pP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Copyright</a:t>
            </a:r>
            <a:r>
              <a:rPr sz="800" spc="-2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©</a:t>
            </a:r>
            <a:r>
              <a:rPr sz="800" spc="-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2023</a:t>
            </a:r>
            <a:r>
              <a:rPr sz="800" spc="13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by</a:t>
            </a:r>
            <a:r>
              <a:rPr sz="800" spc="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Inspirient</a:t>
            </a:r>
            <a:r>
              <a:rPr sz="800" spc="-2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GmbH.</a:t>
            </a:r>
            <a:r>
              <a:rPr sz="800" spc="13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All rights </a:t>
            </a: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reserved.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1910" y="6543034"/>
            <a:ext cx="628076" cy="1352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2987" y="1366520"/>
            <a:ext cx="4111413" cy="65312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lnSpc>
                <a:spcPts val="2233"/>
              </a:lnSpc>
              <a:spcBef>
                <a:spcPts val="140"/>
              </a:spcBef>
            </a:pPr>
            <a:r>
              <a:rPr sz="1867" dirty="0"/>
              <a:t>State</a:t>
            </a:r>
            <a:r>
              <a:rPr sz="1867" spc="-73" dirty="0"/>
              <a:t> </a:t>
            </a:r>
            <a:r>
              <a:rPr sz="1867" dirty="0"/>
              <a:t>of</a:t>
            </a:r>
            <a:r>
              <a:rPr sz="1867" spc="-20" dirty="0"/>
              <a:t> </a:t>
            </a:r>
            <a:r>
              <a:rPr sz="1867" dirty="0"/>
              <a:t>the</a:t>
            </a:r>
            <a:r>
              <a:rPr sz="1867" spc="-93" dirty="0"/>
              <a:t> </a:t>
            </a:r>
            <a:r>
              <a:rPr sz="1867" dirty="0"/>
              <a:t>Art</a:t>
            </a:r>
            <a:r>
              <a:rPr sz="1867" spc="-13" dirty="0"/>
              <a:t> </a:t>
            </a:r>
            <a:r>
              <a:rPr sz="1867" spc="-27" dirty="0"/>
              <a:t>(2/2)</a:t>
            </a:r>
            <a:endParaRPr sz="1867"/>
          </a:p>
          <a:p>
            <a:pPr marL="16933">
              <a:lnSpc>
                <a:spcPts val="3193"/>
              </a:lnSpc>
            </a:pPr>
            <a:r>
              <a:rPr spc="-13" dirty="0">
                <a:latin typeface="Arial"/>
                <a:cs typeface="Arial"/>
              </a:rPr>
              <a:t>Generative</a:t>
            </a:r>
            <a:r>
              <a:rPr spc="-213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AI:</a:t>
            </a:r>
            <a:r>
              <a:rPr spc="-27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Know</a:t>
            </a:r>
            <a:r>
              <a:rPr spc="-67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Your</a:t>
            </a:r>
            <a:r>
              <a:rPr spc="-47" dirty="0">
                <a:latin typeface="Arial"/>
                <a:cs typeface="Arial"/>
              </a:rPr>
              <a:t> </a:t>
            </a:r>
            <a:r>
              <a:rPr i="0" dirty="0">
                <a:latin typeface="Arial"/>
                <a:cs typeface="Arial"/>
              </a:rPr>
              <a:t>Use</a:t>
            </a:r>
            <a:r>
              <a:rPr spc="-33" dirty="0">
                <a:latin typeface="Arial"/>
                <a:cs typeface="Arial"/>
              </a:rPr>
              <a:t> </a:t>
            </a:r>
            <a:r>
              <a:rPr spc="-27" dirty="0">
                <a:latin typeface="Arial"/>
                <a:cs typeface="Arial"/>
              </a:rPr>
              <a:t>Case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2212510"/>
            <a:ext cx="5384800" cy="280686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24938" y="2644140"/>
            <a:ext cx="5127413" cy="17410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2540" algn="ctr">
              <a:spcBef>
                <a:spcPts val="133"/>
              </a:spcBef>
            </a:pPr>
            <a:r>
              <a:rPr sz="1867" i="1" dirty="0">
                <a:latin typeface="Arial"/>
                <a:cs typeface="Arial"/>
              </a:rPr>
              <a:t>The</a:t>
            </a:r>
            <a:r>
              <a:rPr sz="1867" i="1" spc="-4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trick</a:t>
            </a:r>
            <a:r>
              <a:rPr sz="1867" i="1" spc="-4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to</a:t>
            </a:r>
            <a:r>
              <a:rPr sz="1867" i="1" spc="-3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making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the</a:t>
            </a:r>
            <a:r>
              <a:rPr sz="1867" i="1" spc="-4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most</a:t>
            </a:r>
            <a:r>
              <a:rPr sz="1867" i="1" spc="-2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of</a:t>
            </a:r>
            <a:r>
              <a:rPr sz="1867" i="1" spc="-9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AI</a:t>
            </a:r>
            <a:r>
              <a:rPr sz="1867" i="1" spc="-2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is</a:t>
            </a:r>
            <a:r>
              <a:rPr sz="1867" i="1" spc="-1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to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spc="-13" dirty="0">
                <a:latin typeface="Arial"/>
                <a:cs typeface="Arial"/>
              </a:rPr>
              <a:t>approach </a:t>
            </a:r>
            <a:r>
              <a:rPr sz="1867" i="1" dirty="0">
                <a:latin typeface="Arial"/>
                <a:cs typeface="Arial"/>
              </a:rPr>
              <a:t>it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as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what</a:t>
            </a:r>
            <a:r>
              <a:rPr sz="1867" i="1" spc="-2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it</a:t>
            </a:r>
            <a:r>
              <a:rPr sz="1867" i="1" spc="-1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was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intended</a:t>
            </a:r>
            <a:r>
              <a:rPr sz="1867" i="1" spc="-6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to</a:t>
            </a:r>
            <a:r>
              <a:rPr sz="1867" i="1" spc="-3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always</a:t>
            </a:r>
            <a:r>
              <a:rPr sz="1867" i="1" spc="-2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be,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a</a:t>
            </a:r>
            <a:r>
              <a:rPr sz="1867" i="1" spc="-13" dirty="0">
                <a:latin typeface="Arial"/>
                <a:cs typeface="Arial"/>
              </a:rPr>
              <a:t> tool, </a:t>
            </a:r>
            <a:r>
              <a:rPr sz="1867" i="1" dirty="0">
                <a:latin typeface="Arial"/>
                <a:cs typeface="Arial"/>
              </a:rPr>
              <a:t>not</a:t>
            </a:r>
            <a:r>
              <a:rPr sz="1867" i="1" spc="-5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a</a:t>
            </a:r>
            <a:r>
              <a:rPr sz="1867" i="1" spc="-1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complete</a:t>
            </a:r>
            <a:r>
              <a:rPr sz="1867" i="1" spc="-5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solution.</a:t>
            </a:r>
            <a:r>
              <a:rPr sz="1867" i="1" spc="-7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Working</a:t>
            </a:r>
            <a:r>
              <a:rPr sz="1867" i="1" spc="-7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out</a:t>
            </a:r>
            <a:r>
              <a:rPr sz="1867" i="1" spc="-1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how</a:t>
            </a:r>
            <a:r>
              <a:rPr sz="1867" i="1" spc="-3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best</a:t>
            </a:r>
            <a:r>
              <a:rPr sz="1867" i="1" spc="-33" dirty="0">
                <a:latin typeface="Arial"/>
                <a:cs typeface="Arial"/>
              </a:rPr>
              <a:t> to </a:t>
            </a:r>
            <a:r>
              <a:rPr sz="1867" i="1" dirty="0">
                <a:latin typeface="Arial"/>
                <a:cs typeface="Arial"/>
              </a:rPr>
              <a:t>integrate</a:t>
            </a:r>
            <a:r>
              <a:rPr sz="1867" i="1" spc="-8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that</a:t>
            </a:r>
            <a:r>
              <a:rPr sz="1867" i="1" spc="-4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tool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into</a:t>
            </a:r>
            <a:r>
              <a:rPr sz="1867" i="1" spc="-3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the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research</a:t>
            </a:r>
            <a:r>
              <a:rPr sz="1867" i="1" spc="-73" dirty="0">
                <a:latin typeface="Arial"/>
                <a:cs typeface="Arial"/>
              </a:rPr>
              <a:t> </a:t>
            </a:r>
            <a:r>
              <a:rPr sz="1867" i="1" spc="-13" dirty="0">
                <a:latin typeface="Arial"/>
                <a:cs typeface="Arial"/>
              </a:rPr>
              <a:t>process </a:t>
            </a:r>
            <a:r>
              <a:rPr sz="1867" i="1" dirty="0">
                <a:latin typeface="Arial"/>
                <a:cs typeface="Arial"/>
              </a:rPr>
              <a:t>makes</a:t>
            </a:r>
            <a:r>
              <a:rPr sz="1867" i="1" spc="-6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it,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in</a:t>
            </a:r>
            <a:r>
              <a:rPr sz="1867" i="1" spc="-20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the</a:t>
            </a:r>
            <a:r>
              <a:rPr sz="1867" i="1" spc="-3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words</a:t>
            </a:r>
            <a:r>
              <a:rPr sz="1867" i="1" spc="-5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of</a:t>
            </a:r>
            <a:r>
              <a:rPr sz="1867" i="1" spc="-27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Richard</a:t>
            </a:r>
            <a:r>
              <a:rPr sz="1867" i="1" spc="-3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Colwell</a:t>
            </a:r>
            <a:r>
              <a:rPr sz="1867" i="1" spc="-13" dirty="0">
                <a:latin typeface="Arial"/>
                <a:cs typeface="Arial"/>
              </a:rPr>
              <a:t> </a:t>
            </a:r>
            <a:r>
              <a:rPr sz="1867" i="1" spc="-33" dirty="0">
                <a:latin typeface="Arial"/>
                <a:cs typeface="Arial"/>
              </a:rPr>
              <a:t>of </a:t>
            </a:r>
            <a:r>
              <a:rPr sz="1867" i="1" dirty="0">
                <a:latin typeface="Arial"/>
                <a:cs typeface="Arial"/>
              </a:rPr>
              <a:t>RedC,</a:t>
            </a:r>
            <a:r>
              <a:rPr sz="1867" i="1" spc="-33" dirty="0">
                <a:latin typeface="Arial"/>
                <a:cs typeface="Arial"/>
              </a:rPr>
              <a:t> </a:t>
            </a:r>
            <a:r>
              <a:rPr sz="1867" i="1" dirty="0">
                <a:latin typeface="Arial"/>
                <a:cs typeface="Arial"/>
              </a:rPr>
              <a:t>“a </a:t>
            </a:r>
            <a:r>
              <a:rPr sz="1867" i="1" spc="-13" dirty="0">
                <a:latin typeface="Arial"/>
                <a:cs typeface="Arial"/>
              </a:rPr>
              <a:t>game-changer”.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67733" y="6390942"/>
            <a:ext cx="5201920" cy="219718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6933">
              <a:spcBef>
                <a:spcPts val="33"/>
              </a:spcBef>
            </a:pPr>
            <a:r>
              <a:rPr sz="1400" dirty="0"/>
              <a:t>General</a:t>
            </a:r>
            <a:r>
              <a:rPr sz="1400" spc="-40" dirty="0"/>
              <a:t> </a:t>
            </a:r>
            <a:r>
              <a:rPr sz="1400" dirty="0"/>
              <a:t>Online</a:t>
            </a:r>
            <a:r>
              <a:rPr sz="1400" spc="-40" dirty="0"/>
              <a:t> </a:t>
            </a:r>
            <a:r>
              <a:rPr sz="1400" dirty="0"/>
              <a:t>Research</a:t>
            </a:r>
            <a:r>
              <a:rPr sz="1400" spc="-40" dirty="0"/>
              <a:t> </a:t>
            </a:r>
            <a:r>
              <a:rPr sz="1400" dirty="0"/>
              <a:t>Conference</a:t>
            </a:r>
            <a:r>
              <a:rPr sz="1400" spc="-20" dirty="0"/>
              <a:t> </a:t>
            </a:r>
            <a:r>
              <a:rPr sz="1400" dirty="0"/>
              <a:t>2023</a:t>
            </a:r>
            <a:r>
              <a:rPr sz="1400" spc="-33" dirty="0"/>
              <a:t> </a:t>
            </a:r>
            <a:r>
              <a:rPr sz="1400" dirty="0"/>
              <a:t>(GOR</a:t>
            </a:r>
            <a:r>
              <a:rPr sz="1400" spc="-47" dirty="0"/>
              <a:t> </a:t>
            </a:r>
            <a:r>
              <a:rPr sz="1400" dirty="0"/>
              <a:t>23),</a:t>
            </a:r>
            <a:r>
              <a:rPr sz="1400" spc="-40" dirty="0"/>
              <a:t> </a:t>
            </a:r>
            <a:r>
              <a:rPr sz="1400" spc="-13" dirty="0"/>
              <a:t>21.09.2023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r>
              <a:rPr spc="-33" dirty="0"/>
              <a:t>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92055" y="5307719"/>
            <a:ext cx="3816773" cy="63160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31789" marR="6773" indent="-415703">
              <a:spcBef>
                <a:spcPts val="127"/>
              </a:spcBef>
            </a:pPr>
            <a:r>
              <a:rPr sz="1333" dirty="0">
                <a:latin typeface="Arial"/>
                <a:cs typeface="Arial"/>
              </a:rPr>
              <a:t>The</a:t>
            </a:r>
            <a:r>
              <a:rPr sz="1333" spc="-67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Boston</a:t>
            </a:r>
            <a:r>
              <a:rPr sz="1333" spc="-53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Consulting</a:t>
            </a:r>
            <a:r>
              <a:rPr sz="1333" spc="-40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Group,</a:t>
            </a:r>
            <a:r>
              <a:rPr sz="1333" spc="-53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21</a:t>
            </a:r>
            <a:r>
              <a:rPr sz="1333" spc="-33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September</a:t>
            </a:r>
            <a:r>
              <a:rPr sz="1333" spc="-53" dirty="0">
                <a:latin typeface="Arial"/>
                <a:cs typeface="Arial"/>
              </a:rPr>
              <a:t> </a:t>
            </a:r>
            <a:r>
              <a:rPr sz="1333" spc="-27" dirty="0">
                <a:latin typeface="Arial"/>
                <a:cs typeface="Arial"/>
              </a:rPr>
              <a:t>2023 </a:t>
            </a:r>
            <a:r>
              <a:rPr sz="1333" u="sng" spc="-13" dirty="0">
                <a:solidFill>
                  <a:srgbClr val="1C438D"/>
                </a:solidFill>
                <a:uFill>
                  <a:solidFill>
                    <a:srgbClr val="1C438D"/>
                  </a:solidFill>
                </a:uFill>
                <a:latin typeface="Arial"/>
                <a:cs typeface="Arial"/>
                <a:hlinkClick r:id="rId4"/>
              </a:rPr>
              <a:t>https://www.bcg.com/publications/2023/</a:t>
            </a:r>
            <a:endParaRPr sz="1333">
              <a:latin typeface="Arial"/>
              <a:cs typeface="Arial"/>
            </a:endParaRPr>
          </a:p>
          <a:p>
            <a:pPr marL="71118"/>
            <a:r>
              <a:rPr sz="1333" u="sng" spc="-13" dirty="0">
                <a:solidFill>
                  <a:srgbClr val="1C438D"/>
                </a:solidFill>
                <a:uFill>
                  <a:solidFill>
                    <a:srgbClr val="1C438D"/>
                  </a:solidFill>
                </a:uFill>
                <a:latin typeface="Arial"/>
                <a:cs typeface="Arial"/>
                <a:hlinkClick r:id="rId5"/>
              </a:rPr>
              <a:t>how-people-create-and-destroy-value-with-gen-</a:t>
            </a:r>
            <a:r>
              <a:rPr sz="1333" u="sng" spc="-33" dirty="0">
                <a:solidFill>
                  <a:srgbClr val="1C438D"/>
                </a:solidFill>
                <a:uFill>
                  <a:solidFill>
                    <a:srgbClr val="1C438D"/>
                  </a:solidFill>
                </a:uFill>
                <a:latin typeface="Arial"/>
                <a:cs typeface="Arial"/>
                <a:hlinkClick r:id="rId5"/>
              </a:rPr>
              <a:t>ai</a:t>
            </a:r>
            <a:endParaRPr sz="1333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9786" y="5111835"/>
            <a:ext cx="4620260" cy="83672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847" algn="ctr">
              <a:spcBef>
                <a:spcPts val="127"/>
              </a:spcBef>
            </a:pPr>
            <a:r>
              <a:rPr sz="1333" i="1" dirty="0">
                <a:latin typeface="Arial"/>
                <a:cs typeface="Arial"/>
              </a:rPr>
              <a:t>The</a:t>
            </a:r>
            <a:r>
              <a:rPr sz="1333" i="1" spc="-47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human</a:t>
            </a:r>
            <a:r>
              <a:rPr sz="1333" i="1" spc="-27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effect?</a:t>
            </a:r>
            <a:r>
              <a:rPr sz="1333" i="1" spc="-53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Putting</a:t>
            </a:r>
            <a:r>
              <a:rPr sz="1333" i="1" spc="-13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AI</a:t>
            </a:r>
            <a:r>
              <a:rPr sz="1333" i="1" spc="-27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to</a:t>
            </a:r>
            <a:r>
              <a:rPr sz="1333" i="1" spc="-47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the</a:t>
            </a:r>
            <a:r>
              <a:rPr sz="1333" i="1" spc="-27" dirty="0">
                <a:latin typeface="Arial"/>
                <a:cs typeface="Arial"/>
              </a:rPr>
              <a:t> </a:t>
            </a:r>
            <a:r>
              <a:rPr sz="1333" i="1" dirty="0">
                <a:latin typeface="Arial"/>
                <a:cs typeface="Arial"/>
              </a:rPr>
              <a:t>storytelling</a:t>
            </a:r>
            <a:r>
              <a:rPr sz="1333" i="1" spc="-13" dirty="0">
                <a:latin typeface="Arial"/>
                <a:cs typeface="Arial"/>
              </a:rPr>
              <a:t> </a:t>
            </a:r>
            <a:r>
              <a:rPr sz="1333" i="1" spc="-27" dirty="0">
                <a:latin typeface="Arial"/>
                <a:cs typeface="Arial"/>
              </a:rPr>
              <a:t>test</a:t>
            </a:r>
            <a:endParaRPr sz="1333">
              <a:latin typeface="Arial"/>
              <a:cs typeface="Arial"/>
            </a:endParaRPr>
          </a:p>
          <a:p>
            <a:pPr marL="16086" marR="6773" algn="ctr"/>
            <a:r>
              <a:rPr sz="1333" dirty="0">
                <a:latin typeface="Arial"/>
                <a:cs typeface="Arial"/>
              </a:rPr>
              <a:t>Lucy</a:t>
            </a:r>
            <a:r>
              <a:rPr sz="1333" spc="-80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Davidson</a:t>
            </a:r>
            <a:r>
              <a:rPr sz="1333" spc="-47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(Keen</a:t>
            </a:r>
            <a:r>
              <a:rPr sz="1333" spc="-73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As</a:t>
            </a:r>
            <a:r>
              <a:rPr sz="1333" spc="-47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Mustard</a:t>
            </a:r>
            <a:r>
              <a:rPr sz="1333" spc="-53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Marketing),</a:t>
            </a:r>
            <a:r>
              <a:rPr sz="1333" spc="-53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ESOMAR</a:t>
            </a:r>
            <a:r>
              <a:rPr sz="1333" spc="-40" dirty="0">
                <a:latin typeface="Arial"/>
                <a:cs typeface="Arial"/>
              </a:rPr>
              <a:t> </a:t>
            </a:r>
            <a:r>
              <a:rPr sz="1333" spc="-27" dirty="0">
                <a:latin typeface="Arial"/>
                <a:cs typeface="Arial"/>
              </a:rPr>
              <a:t>2023 </a:t>
            </a:r>
            <a:r>
              <a:rPr sz="1333" u="sng" spc="-13" dirty="0">
                <a:solidFill>
                  <a:srgbClr val="1C438D"/>
                </a:solidFill>
                <a:uFill>
                  <a:solidFill>
                    <a:srgbClr val="1C438D"/>
                  </a:solidFill>
                </a:uFill>
                <a:latin typeface="Arial"/>
                <a:cs typeface="Arial"/>
                <a:hlinkClick r:id="rId6"/>
              </a:rPr>
              <a:t>https://researchworld.com/innovations/</a:t>
            </a:r>
            <a:endParaRPr sz="1333">
              <a:latin typeface="Arial"/>
              <a:cs typeface="Arial"/>
            </a:endParaRPr>
          </a:p>
          <a:p>
            <a:pPr marL="1693" algn="ctr"/>
            <a:r>
              <a:rPr sz="1333" u="sng" spc="-13" dirty="0">
                <a:solidFill>
                  <a:srgbClr val="1C438D"/>
                </a:solidFill>
                <a:uFill>
                  <a:solidFill>
                    <a:srgbClr val="1C438D"/>
                  </a:solidFill>
                </a:uFill>
                <a:latin typeface="Arial"/>
                <a:cs typeface="Arial"/>
                <a:hlinkClick r:id="rId6"/>
              </a:rPr>
              <a:t>the-human-effect-putting-ai-to-the-storytelling-</a:t>
            </a:r>
            <a:r>
              <a:rPr sz="1333" u="sng" spc="-27" dirty="0">
                <a:solidFill>
                  <a:srgbClr val="1C438D"/>
                </a:solidFill>
                <a:uFill>
                  <a:solidFill>
                    <a:srgbClr val="1C438D"/>
                  </a:solidFill>
                </a:uFill>
                <a:latin typeface="Arial"/>
                <a:cs typeface="Arial"/>
                <a:hlinkClick r:id="rId6"/>
              </a:rPr>
              <a:t>test</a:t>
            </a:r>
            <a:endParaRPr sz="13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38" y="536955"/>
            <a:ext cx="3929379" cy="146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75" dirty="0">
                <a:latin typeface="Century Gothic"/>
                <a:cs typeface="Century Gothic"/>
              </a:rPr>
              <a:t>Multi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Vector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26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10" dirty="0">
                <a:latin typeface="Century Gothic"/>
                <a:cs typeface="Century Gothic"/>
              </a:rPr>
              <a:t>SCV:</a:t>
            </a:r>
            <a:r>
              <a:rPr sz="20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Sequence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Compressive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Vectors,</a:t>
            </a:r>
            <a:r>
              <a:rPr sz="1200" spc="15" dirty="0">
                <a:latin typeface="Century Gothic"/>
                <a:cs typeface="Century Gothic"/>
              </a:rPr>
              <a:t> </a:t>
            </a:r>
            <a:r>
              <a:rPr sz="1200" spc="120" dirty="0">
                <a:latin typeface="Century Gothic"/>
                <a:cs typeface="Century Gothic"/>
              </a:rPr>
              <a:t>SKT</a:t>
            </a:r>
            <a:endParaRPr sz="1200">
              <a:latin typeface="Century Gothic"/>
              <a:cs typeface="Century Gothic"/>
            </a:endParaRPr>
          </a:p>
          <a:p>
            <a:pPr marL="518159" lvl="1" indent="-22796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518159" algn="l"/>
              </a:tabLst>
            </a:pPr>
            <a:r>
              <a:rPr sz="2000" spc="85" dirty="0">
                <a:latin typeface="Century Gothic"/>
                <a:cs typeface="Century Gothic"/>
              </a:rPr>
              <a:t>Single</a:t>
            </a:r>
            <a:r>
              <a:rPr sz="2000" spc="-2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vector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3433" y="2394429"/>
            <a:ext cx="1950085" cy="87058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35" dirty="0">
                <a:latin typeface="Century Gothic"/>
                <a:cs typeface="Century Gothic"/>
              </a:rPr>
              <a:t>Loss</a:t>
            </a:r>
            <a:r>
              <a:rPr sz="2000" spc="-20" dirty="0">
                <a:latin typeface="Century Gothic"/>
                <a:cs typeface="Century Gothic"/>
              </a:rPr>
              <a:t> </a:t>
            </a:r>
            <a:r>
              <a:rPr sz="2000" spc="40" dirty="0">
                <a:latin typeface="Century Gothic"/>
                <a:cs typeface="Century Gothic"/>
              </a:rPr>
              <a:t>function</a:t>
            </a:r>
            <a:endParaRPr sz="2000">
              <a:latin typeface="Century Gothic"/>
              <a:cs typeface="Century Gothic"/>
            </a:endParaRPr>
          </a:p>
          <a:p>
            <a:pPr marL="562610" lvl="1" indent="-228600">
              <a:lnSpc>
                <a:spcPct val="100000"/>
              </a:lnSpc>
              <a:spcBef>
                <a:spcPts val="995"/>
              </a:spcBef>
              <a:buFont typeface="Arial"/>
              <a:buChar char="•"/>
              <a:tabLst>
                <a:tab pos="562610" algn="l"/>
              </a:tabLst>
            </a:pPr>
            <a:r>
              <a:rPr sz="1800" spc="100" dirty="0">
                <a:latin typeface="Century Gothic"/>
                <a:cs typeface="Century Gothic"/>
              </a:rPr>
              <a:t>In-</a:t>
            </a:r>
            <a:r>
              <a:rPr sz="1800" spc="-10" dirty="0">
                <a:latin typeface="Century Gothic"/>
                <a:cs typeface="Century Gothic"/>
              </a:rPr>
              <a:t>batch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5378" y="3251708"/>
            <a:ext cx="1994535" cy="787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90" dirty="0">
                <a:latin typeface="Century Gothic"/>
                <a:cs typeface="Century Gothic"/>
              </a:rPr>
              <a:t>Pre-</a:t>
            </a:r>
            <a:r>
              <a:rPr sz="1800" spc="-20" dirty="0">
                <a:latin typeface="Century Gothic"/>
                <a:cs typeface="Century Gothic"/>
              </a:rPr>
              <a:t>batch</a:t>
            </a:r>
            <a:endParaRPr sz="1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55" dirty="0">
                <a:latin typeface="Century Gothic"/>
                <a:cs typeface="Century Gothic"/>
              </a:rPr>
              <a:t>Hard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negatives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3433" y="4857213"/>
            <a:ext cx="2797175" cy="166052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10" dirty="0">
                <a:latin typeface="Century Gothic"/>
                <a:cs typeface="Century Gothic"/>
              </a:rPr>
              <a:t>Multi-</a:t>
            </a:r>
            <a:r>
              <a:rPr sz="2000" spc="75" dirty="0">
                <a:latin typeface="Century Gothic"/>
                <a:cs typeface="Century Gothic"/>
              </a:rPr>
              <a:t>task</a:t>
            </a:r>
            <a:r>
              <a:rPr sz="2000" dirty="0">
                <a:latin typeface="Century Gothic"/>
                <a:cs typeface="Century Gothic"/>
              </a:rPr>
              <a:t> </a:t>
            </a:r>
            <a:r>
              <a:rPr sz="2000" spc="40" dirty="0">
                <a:latin typeface="Century Gothic"/>
                <a:cs typeface="Century Gothic"/>
              </a:rPr>
              <a:t>learning</a:t>
            </a:r>
            <a:endParaRPr sz="2000">
              <a:latin typeface="Century Gothic"/>
              <a:cs typeface="Century Gothic"/>
            </a:endParaRPr>
          </a:p>
          <a:p>
            <a:pPr marL="562610" lvl="1" indent="-228600">
              <a:lnSpc>
                <a:spcPct val="100000"/>
              </a:lnSpc>
              <a:spcBef>
                <a:spcPts val="995"/>
              </a:spcBef>
              <a:buFont typeface="Arial"/>
              <a:buChar char="•"/>
              <a:tabLst>
                <a:tab pos="562610" algn="l"/>
              </a:tabLst>
            </a:pPr>
            <a:r>
              <a:rPr sz="1800" dirty="0">
                <a:latin typeface="Century Gothic"/>
                <a:cs typeface="Century Gothic"/>
              </a:rPr>
              <a:t>SCV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spc="80" dirty="0">
                <a:latin typeface="Century Gothic"/>
                <a:cs typeface="Century Gothic"/>
              </a:rPr>
              <a:t>loss</a:t>
            </a:r>
            <a:endParaRPr sz="1800">
              <a:latin typeface="Century Gothic"/>
              <a:cs typeface="Century Gothic"/>
            </a:endParaRPr>
          </a:p>
          <a:p>
            <a:pPr marL="562610" lvl="1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62610" algn="l"/>
              </a:tabLst>
            </a:pPr>
            <a:r>
              <a:rPr sz="1800" spc="80" dirty="0">
                <a:latin typeface="Century Gothic"/>
                <a:cs typeface="Century Gothic"/>
              </a:rPr>
              <a:t>Token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spc="50" dirty="0">
                <a:latin typeface="Century Gothic"/>
                <a:cs typeface="Century Gothic"/>
              </a:rPr>
              <a:t>retriever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80" dirty="0">
                <a:latin typeface="Century Gothic"/>
                <a:cs typeface="Century Gothic"/>
              </a:rPr>
              <a:t>loss</a:t>
            </a:r>
            <a:endParaRPr sz="1800">
              <a:latin typeface="Century Gothic"/>
              <a:cs typeface="Century Gothic"/>
            </a:endParaRPr>
          </a:p>
          <a:p>
            <a:pPr marL="562610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62610" algn="l"/>
              </a:tabLst>
            </a:pPr>
            <a:r>
              <a:rPr sz="1800" spc="75" dirty="0">
                <a:latin typeface="Century Gothic"/>
                <a:cs typeface="Century Gothic"/>
              </a:rPr>
              <a:t>Single</a:t>
            </a:r>
            <a:r>
              <a:rPr sz="1800" spc="-4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vector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spc="80" dirty="0">
                <a:latin typeface="Century Gothic"/>
                <a:cs typeface="Century Gothic"/>
              </a:rPr>
              <a:t>loss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5597" y="1807163"/>
            <a:ext cx="2100034" cy="64020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56465" y="5881567"/>
            <a:ext cx="3030704" cy="26860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62326" y="3899028"/>
            <a:ext cx="4473773" cy="248083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559006" y="3529076"/>
            <a:ext cx="1241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0" dirty="0">
                <a:latin typeface="Century Gothic"/>
                <a:cs typeface="Century Gothic"/>
              </a:rPr>
              <a:t>MrTyDI-</a:t>
            </a:r>
            <a:r>
              <a:rPr sz="1800" spc="45" dirty="0">
                <a:latin typeface="Century Gothic"/>
                <a:cs typeface="Century Gothic"/>
              </a:rPr>
              <a:t>Ko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046300" y="840046"/>
            <a:ext cx="4250055" cy="2345055"/>
            <a:chOff x="7046300" y="840046"/>
            <a:chExt cx="4250055" cy="234505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25655" y="840046"/>
              <a:ext cx="3239478" cy="23303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3562" y="854293"/>
              <a:ext cx="862090" cy="233039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052650" y="2645172"/>
              <a:ext cx="4182110" cy="200660"/>
            </a:xfrm>
            <a:custGeom>
              <a:avLst/>
              <a:gdLst/>
              <a:ahLst/>
              <a:cxnLst/>
              <a:rect l="l" t="t" r="r" b="b"/>
              <a:pathLst>
                <a:path w="4182109" h="200660">
                  <a:moveTo>
                    <a:pt x="0" y="33376"/>
                  </a:moveTo>
                  <a:lnTo>
                    <a:pt x="2622" y="20384"/>
                  </a:lnTo>
                  <a:lnTo>
                    <a:pt x="9775" y="9775"/>
                  </a:lnTo>
                  <a:lnTo>
                    <a:pt x="20384" y="2622"/>
                  </a:lnTo>
                  <a:lnTo>
                    <a:pt x="33375" y="0"/>
                  </a:lnTo>
                  <a:lnTo>
                    <a:pt x="4148426" y="0"/>
                  </a:lnTo>
                  <a:lnTo>
                    <a:pt x="4161417" y="2622"/>
                  </a:lnTo>
                  <a:lnTo>
                    <a:pt x="4172026" y="9775"/>
                  </a:lnTo>
                  <a:lnTo>
                    <a:pt x="4179179" y="20384"/>
                  </a:lnTo>
                  <a:lnTo>
                    <a:pt x="4181802" y="33376"/>
                  </a:lnTo>
                  <a:lnTo>
                    <a:pt x="4181802" y="166881"/>
                  </a:lnTo>
                  <a:lnTo>
                    <a:pt x="4179179" y="179873"/>
                  </a:lnTo>
                  <a:lnTo>
                    <a:pt x="4172026" y="190482"/>
                  </a:lnTo>
                  <a:lnTo>
                    <a:pt x="4161417" y="197635"/>
                  </a:lnTo>
                  <a:lnTo>
                    <a:pt x="4148426" y="200258"/>
                  </a:lnTo>
                  <a:lnTo>
                    <a:pt x="33375" y="200258"/>
                  </a:lnTo>
                  <a:lnTo>
                    <a:pt x="20384" y="197635"/>
                  </a:lnTo>
                  <a:lnTo>
                    <a:pt x="9775" y="190482"/>
                  </a:lnTo>
                  <a:lnTo>
                    <a:pt x="2622" y="179873"/>
                  </a:lnTo>
                  <a:lnTo>
                    <a:pt x="0" y="166881"/>
                  </a:lnTo>
                  <a:lnTo>
                    <a:pt x="0" y="33376"/>
                  </a:lnTo>
                  <a:close/>
                </a:path>
              </a:pathLst>
            </a:custGeom>
            <a:ln w="127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996400" y="2264989"/>
              <a:ext cx="300355" cy="506730"/>
            </a:xfrm>
            <a:custGeom>
              <a:avLst/>
              <a:gdLst/>
              <a:ahLst/>
              <a:cxnLst/>
              <a:rect l="l" t="t" r="r" b="b"/>
              <a:pathLst>
                <a:path w="300354" h="506730">
                  <a:moveTo>
                    <a:pt x="70468" y="430875"/>
                  </a:moveTo>
                  <a:lnTo>
                    <a:pt x="0" y="478753"/>
                  </a:lnTo>
                  <a:lnTo>
                    <a:pt x="80582" y="506401"/>
                  </a:lnTo>
                  <a:lnTo>
                    <a:pt x="76170" y="473453"/>
                  </a:lnTo>
                  <a:lnTo>
                    <a:pt x="63472" y="473453"/>
                  </a:lnTo>
                  <a:lnTo>
                    <a:pt x="62405" y="467193"/>
                  </a:lnTo>
                  <a:lnTo>
                    <a:pt x="75043" y="465040"/>
                  </a:lnTo>
                  <a:lnTo>
                    <a:pt x="70468" y="430875"/>
                  </a:lnTo>
                  <a:close/>
                </a:path>
                <a:path w="300354" h="506730">
                  <a:moveTo>
                    <a:pt x="75043" y="465040"/>
                  </a:moveTo>
                  <a:lnTo>
                    <a:pt x="62405" y="467193"/>
                  </a:lnTo>
                  <a:lnTo>
                    <a:pt x="63472" y="473453"/>
                  </a:lnTo>
                  <a:lnTo>
                    <a:pt x="75887" y="471338"/>
                  </a:lnTo>
                  <a:lnTo>
                    <a:pt x="75043" y="465040"/>
                  </a:lnTo>
                  <a:close/>
                </a:path>
                <a:path w="300354" h="506730">
                  <a:moveTo>
                    <a:pt x="75887" y="471338"/>
                  </a:moveTo>
                  <a:lnTo>
                    <a:pt x="63472" y="473453"/>
                  </a:lnTo>
                  <a:lnTo>
                    <a:pt x="76170" y="473453"/>
                  </a:lnTo>
                  <a:lnTo>
                    <a:pt x="75887" y="471338"/>
                  </a:lnTo>
                  <a:close/>
                </a:path>
                <a:path w="300354" h="506730">
                  <a:moveTo>
                    <a:pt x="14584" y="0"/>
                  </a:moveTo>
                  <a:lnTo>
                    <a:pt x="14305" y="5394"/>
                  </a:lnTo>
                  <a:lnTo>
                    <a:pt x="14257" y="6341"/>
                  </a:lnTo>
                  <a:lnTo>
                    <a:pt x="40582" y="7706"/>
                  </a:lnTo>
                  <a:lnTo>
                    <a:pt x="66540" y="11650"/>
                  </a:lnTo>
                  <a:lnTo>
                    <a:pt x="117005" y="26607"/>
                  </a:lnTo>
                  <a:lnTo>
                    <a:pt x="164021" y="49717"/>
                  </a:lnTo>
                  <a:lnTo>
                    <a:pt x="206340" y="79822"/>
                  </a:lnTo>
                  <a:lnTo>
                    <a:pt x="242075" y="115404"/>
                  </a:lnTo>
                  <a:lnTo>
                    <a:pt x="267739" y="152110"/>
                  </a:lnTo>
                  <a:lnTo>
                    <a:pt x="269581" y="155035"/>
                  </a:lnTo>
                  <a:lnTo>
                    <a:pt x="278617" y="173644"/>
                  </a:lnTo>
                  <a:lnTo>
                    <a:pt x="279744" y="175916"/>
                  </a:lnTo>
                  <a:lnTo>
                    <a:pt x="286690" y="195747"/>
                  </a:lnTo>
                  <a:lnTo>
                    <a:pt x="287251" y="197271"/>
                  </a:lnTo>
                  <a:lnTo>
                    <a:pt x="291733" y="218248"/>
                  </a:lnTo>
                  <a:lnTo>
                    <a:pt x="291909" y="218927"/>
                  </a:lnTo>
                  <a:lnTo>
                    <a:pt x="291895" y="262529"/>
                  </a:lnTo>
                  <a:lnTo>
                    <a:pt x="286904" y="284619"/>
                  </a:lnTo>
                  <a:lnTo>
                    <a:pt x="279199" y="305614"/>
                  </a:lnTo>
                  <a:lnTo>
                    <a:pt x="255198" y="346930"/>
                  </a:lnTo>
                  <a:lnTo>
                    <a:pt x="221848" y="384661"/>
                  </a:lnTo>
                  <a:lnTo>
                    <a:pt x="180607" y="417739"/>
                  </a:lnTo>
                  <a:lnTo>
                    <a:pt x="133064" y="444728"/>
                  </a:lnTo>
                  <a:lnTo>
                    <a:pt x="81479" y="463979"/>
                  </a:lnTo>
                  <a:lnTo>
                    <a:pt x="81271" y="463979"/>
                  </a:lnTo>
                  <a:lnTo>
                    <a:pt x="75043" y="465040"/>
                  </a:lnTo>
                  <a:lnTo>
                    <a:pt x="75887" y="471338"/>
                  </a:lnTo>
                  <a:lnTo>
                    <a:pt x="83233" y="470086"/>
                  </a:lnTo>
                  <a:lnTo>
                    <a:pt x="110055" y="461294"/>
                  </a:lnTo>
                  <a:lnTo>
                    <a:pt x="160638" y="437626"/>
                  </a:lnTo>
                  <a:lnTo>
                    <a:pt x="205967" y="406921"/>
                  </a:lnTo>
                  <a:lnTo>
                    <a:pt x="244316" y="370552"/>
                  </a:lnTo>
                  <a:lnTo>
                    <a:pt x="273949" y="329871"/>
                  </a:lnTo>
                  <a:lnTo>
                    <a:pt x="293082" y="286216"/>
                  </a:lnTo>
                  <a:lnTo>
                    <a:pt x="299862" y="241192"/>
                  </a:lnTo>
                  <a:lnTo>
                    <a:pt x="299861" y="240719"/>
                  </a:lnTo>
                  <a:lnTo>
                    <a:pt x="293418" y="195747"/>
                  </a:lnTo>
                  <a:lnTo>
                    <a:pt x="275220" y="152110"/>
                  </a:lnTo>
                  <a:lnTo>
                    <a:pt x="247028" y="111429"/>
                  </a:lnTo>
                  <a:lnTo>
                    <a:pt x="210532" y="75050"/>
                  </a:lnTo>
                  <a:lnTo>
                    <a:pt x="167386" y="44331"/>
                  </a:lnTo>
                  <a:lnTo>
                    <a:pt x="119228" y="20647"/>
                  </a:lnTo>
                  <a:lnTo>
                    <a:pt x="67693" y="5394"/>
                  </a:lnTo>
                  <a:lnTo>
                    <a:pt x="41169" y="1372"/>
                  </a:lnTo>
                  <a:lnTo>
                    <a:pt x="14584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090822" y="2309855"/>
            <a:ext cx="42418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0" spc="-20" dirty="0">
                <a:solidFill>
                  <a:srgbClr val="FF0000"/>
                </a:solidFill>
                <a:latin typeface="Montserrat Thin"/>
                <a:cs typeface="Montserrat Thin"/>
              </a:rPr>
              <a:t>x200</a:t>
            </a:r>
            <a:endParaRPr sz="1350">
              <a:latin typeface="Montserrat Thin"/>
              <a:cs typeface="Montserrat Thi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431102" y="2502777"/>
            <a:ext cx="199390" cy="265430"/>
          </a:xfrm>
          <a:custGeom>
            <a:avLst/>
            <a:gdLst/>
            <a:ahLst/>
            <a:cxnLst/>
            <a:rect l="l" t="t" r="r" b="b"/>
            <a:pathLst>
              <a:path w="199390" h="265430">
                <a:moveTo>
                  <a:pt x="108182" y="228987"/>
                </a:moveTo>
                <a:lnTo>
                  <a:pt x="101678" y="264855"/>
                </a:lnTo>
                <a:lnTo>
                  <a:pt x="183453" y="240964"/>
                </a:lnTo>
                <a:lnTo>
                  <a:pt x="172378" y="232666"/>
                </a:lnTo>
                <a:lnTo>
                  <a:pt x="120030" y="232666"/>
                </a:lnTo>
                <a:lnTo>
                  <a:pt x="108182" y="228987"/>
                </a:lnTo>
                <a:close/>
              </a:path>
              <a:path w="199390" h="265430">
                <a:moveTo>
                  <a:pt x="109324" y="222692"/>
                </a:moveTo>
                <a:lnTo>
                  <a:pt x="108182" y="228987"/>
                </a:lnTo>
                <a:lnTo>
                  <a:pt x="120030" y="232666"/>
                </a:lnTo>
                <a:lnTo>
                  <a:pt x="121914" y="226602"/>
                </a:lnTo>
                <a:lnTo>
                  <a:pt x="109324" y="222692"/>
                </a:lnTo>
                <a:close/>
              </a:path>
              <a:path w="199390" h="265430">
                <a:moveTo>
                  <a:pt x="115274" y="189878"/>
                </a:moveTo>
                <a:lnTo>
                  <a:pt x="109324" y="222692"/>
                </a:lnTo>
                <a:lnTo>
                  <a:pt x="121914" y="226602"/>
                </a:lnTo>
                <a:lnTo>
                  <a:pt x="120030" y="232666"/>
                </a:lnTo>
                <a:lnTo>
                  <a:pt x="172378" y="232666"/>
                </a:lnTo>
                <a:lnTo>
                  <a:pt x="115274" y="189878"/>
                </a:lnTo>
                <a:close/>
              </a:path>
              <a:path w="199390" h="265430">
                <a:moveTo>
                  <a:pt x="199017" y="0"/>
                </a:moveTo>
                <a:lnTo>
                  <a:pt x="144000" y="5943"/>
                </a:lnTo>
                <a:lnTo>
                  <a:pt x="92858" y="22176"/>
                </a:lnTo>
                <a:lnTo>
                  <a:pt x="49365" y="46441"/>
                </a:lnTo>
                <a:lnTo>
                  <a:pt x="17475" y="76478"/>
                </a:lnTo>
                <a:lnTo>
                  <a:pt x="0" y="121773"/>
                </a:lnTo>
                <a:lnTo>
                  <a:pt x="2" y="122387"/>
                </a:lnTo>
                <a:lnTo>
                  <a:pt x="929" y="132364"/>
                </a:lnTo>
                <a:lnTo>
                  <a:pt x="954" y="132634"/>
                </a:lnTo>
                <a:lnTo>
                  <a:pt x="24436" y="178090"/>
                </a:lnTo>
                <a:lnTo>
                  <a:pt x="57798" y="206494"/>
                </a:lnTo>
                <a:lnTo>
                  <a:pt x="108182" y="228987"/>
                </a:lnTo>
                <a:lnTo>
                  <a:pt x="109324" y="222692"/>
                </a:lnTo>
                <a:lnTo>
                  <a:pt x="88567" y="216246"/>
                </a:lnTo>
                <a:lnTo>
                  <a:pt x="88338" y="216246"/>
                </a:lnTo>
                <a:lnTo>
                  <a:pt x="87962" y="216085"/>
                </a:lnTo>
                <a:lnTo>
                  <a:pt x="49225" y="192535"/>
                </a:lnTo>
                <a:lnTo>
                  <a:pt x="21244" y="163898"/>
                </a:lnTo>
                <a:lnTo>
                  <a:pt x="15005" y="153818"/>
                </a:lnTo>
                <a:lnTo>
                  <a:pt x="14872" y="153630"/>
                </a:lnTo>
                <a:lnTo>
                  <a:pt x="14772" y="153442"/>
                </a:lnTo>
                <a:lnTo>
                  <a:pt x="10314" y="143409"/>
                </a:lnTo>
                <a:lnTo>
                  <a:pt x="10189" y="143173"/>
                </a:lnTo>
                <a:lnTo>
                  <a:pt x="10108" y="142948"/>
                </a:lnTo>
                <a:lnTo>
                  <a:pt x="7405" y="132906"/>
                </a:lnTo>
                <a:lnTo>
                  <a:pt x="7306" y="132634"/>
                </a:lnTo>
                <a:lnTo>
                  <a:pt x="7257" y="132364"/>
                </a:lnTo>
                <a:lnTo>
                  <a:pt x="6379" y="122387"/>
                </a:lnTo>
                <a:lnTo>
                  <a:pt x="6322" y="121773"/>
                </a:lnTo>
                <a:lnTo>
                  <a:pt x="7385" y="111840"/>
                </a:lnTo>
                <a:lnTo>
                  <a:pt x="7444" y="111255"/>
                </a:lnTo>
                <a:lnTo>
                  <a:pt x="7779" y="110319"/>
                </a:lnTo>
                <a:lnTo>
                  <a:pt x="10462" y="101279"/>
                </a:lnTo>
                <a:lnTo>
                  <a:pt x="10510" y="101041"/>
                </a:lnTo>
                <a:lnTo>
                  <a:pt x="10606" y="100794"/>
                </a:lnTo>
                <a:lnTo>
                  <a:pt x="11653" y="98737"/>
                </a:lnTo>
                <a:lnTo>
                  <a:pt x="15515" y="90796"/>
                </a:lnTo>
                <a:lnTo>
                  <a:pt x="15585" y="90615"/>
                </a:lnTo>
                <a:lnTo>
                  <a:pt x="15704" y="90408"/>
                </a:lnTo>
                <a:lnTo>
                  <a:pt x="17750" y="87430"/>
                </a:lnTo>
                <a:lnTo>
                  <a:pt x="22430" y="80488"/>
                </a:lnTo>
                <a:lnTo>
                  <a:pt x="22513" y="80345"/>
                </a:lnTo>
                <a:lnTo>
                  <a:pt x="31279" y="70227"/>
                </a:lnTo>
                <a:lnTo>
                  <a:pt x="65966" y="43099"/>
                </a:lnTo>
                <a:lnTo>
                  <a:pt x="127985" y="16471"/>
                </a:lnTo>
                <a:lnTo>
                  <a:pt x="180980" y="7026"/>
                </a:lnTo>
                <a:lnTo>
                  <a:pt x="199253" y="6344"/>
                </a:lnTo>
                <a:lnTo>
                  <a:pt x="199238" y="5943"/>
                </a:lnTo>
                <a:lnTo>
                  <a:pt x="199117" y="2698"/>
                </a:lnTo>
                <a:lnTo>
                  <a:pt x="199017" y="0"/>
                </a:lnTo>
                <a:close/>
              </a:path>
              <a:path w="199390" h="265430">
                <a:moveTo>
                  <a:pt x="88049" y="216085"/>
                </a:moveTo>
                <a:lnTo>
                  <a:pt x="88338" y="216246"/>
                </a:lnTo>
                <a:lnTo>
                  <a:pt x="88567" y="216246"/>
                </a:lnTo>
                <a:lnTo>
                  <a:pt x="88049" y="216085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205345" y="2364720"/>
            <a:ext cx="40767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0" spc="-10" dirty="0">
                <a:solidFill>
                  <a:srgbClr val="FF0000"/>
                </a:solidFill>
                <a:latin typeface="Montserrat Thin"/>
                <a:cs typeface="Montserrat Thin"/>
              </a:rPr>
              <a:t>x4</a:t>
            </a:r>
            <a:r>
              <a:rPr sz="1350" b="0" spc="-120" dirty="0">
                <a:solidFill>
                  <a:srgbClr val="FF0000"/>
                </a:solidFill>
                <a:latin typeface="Montserrat Thin"/>
                <a:cs typeface="Montserrat Thin"/>
              </a:rPr>
              <a:t> </a:t>
            </a:r>
            <a:r>
              <a:rPr sz="1350" b="0" dirty="0">
                <a:solidFill>
                  <a:srgbClr val="FF0000"/>
                </a:solidFill>
                <a:latin typeface="Montserrat Thin"/>
                <a:cs typeface="Montserrat Thin"/>
              </a:rPr>
              <a:t>.</a:t>
            </a:r>
            <a:r>
              <a:rPr sz="1350" b="0" spc="-110" dirty="0">
                <a:solidFill>
                  <a:srgbClr val="FF0000"/>
                </a:solidFill>
                <a:latin typeface="Montserrat Thin"/>
                <a:cs typeface="Montserrat Thin"/>
              </a:rPr>
              <a:t> </a:t>
            </a:r>
            <a:r>
              <a:rPr sz="1350" b="0" spc="-50" dirty="0">
                <a:solidFill>
                  <a:srgbClr val="FF0000"/>
                </a:solidFill>
                <a:latin typeface="Montserrat Thin"/>
                <a:cs typeface="Montserrat Thin"/>
              </a:rPr>
              <a:t>5</a:t>
            </a:r>
            <a:endParaRPr sz="1350">
              <a:latin typeface="Montserrat Thin"/>
              <a:cs typeface="Montserrat Thi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996399" y="1759723"/>
            <a:ext cx="523875" cy="989330"/>
          </a:xfrm>
          <a:custGeom>
            <a:avLst/>
            <a:gdLst/>
            <a:ahLst/>
            <a:cxnLst/>
            <a:rect l="l" t="t" r="r" b="b"/>
            <a:pathLst>
              <a:path w="523875" h="989330">
                <a:moveTo>
                  <a:pt x="76115" y="35598"/>
                </a:moveTo>
                <a:lnTo>
                  <a:pt x="75559" y="41936"/>
                </a:lnTo>
                <a:lnTo>
                  <a:pt x="96522" y="45149"/>
                </a:lnTo>
                <a:lnTo>
                  <a:pt x="120191" y="50940"/>
                </a:lnTo>
                <a:lnTo>
                  <a:pt x="189911" y="75270"/>
                </a:lnTo>
                <a:lnTo>
                  <a:pt x="234560" y="96767"/>
                </a:lnTo>
                <a:lnTo>
                  <a:pt x="277326" y="122092"/>
                </a:lnTo>
                <a:lnTo>
                  <a:pt x="317817" y="150895"/>
                </a:lnTo>
                <a:lnTo>
                  <a:pt x="355660" y="182827"/>
                </a:lnTo>
                <a:lnTo>
                  <a:pt x="390463" y="217538"/>
                </a:lnTo>
                <a:lnTo>
                  <a:pt x="421847" y="254674"/>
                </a:lnTo>
                <a:lnTo>
                  <a:pt x="449317" y="293698"/>
                </a:lnTo>
                <a:lnTo>
                  <a:pt x="472737" y="334603"/>
                </a:lnTo>
                <a:lnTo>
                  <a:pt x="491599" y="376868"/>
                </a:lnTo>
                <a:lnTo>
                  <a:pt x="505534" y="420143"/>
                </a:lnTo>
                <a:lnTo>
                  <a:pt x="514050" y="463345"/>
                </a:lnTo>
                <a:lnTo>
                  <a:pt x="517141" y="508543"/>
                </a:lnTo>
                <a:lnTo>
                  <a:pt x="515537" y="552773"/>
                </a:lnTo>
                <a:lnTo>
                  <a:pt x="510848" y="596888"/>
                </a:lnTo>
                <a:lnTo>
                  <a:pt x="503275" y="640312"/>
                </a:lnTo>
                <a:lnTo>
                  <a:pt x="493025" y="682694"/>
                </a:lnTo>
                <a:lnTo>
                  <a:pt x="480308" y="723682"/>
                </a:lnTo>
                <a:lnTo>
                  <a:pt x="465330" y="762924"/>
                </a:lnTo>
                <a:lnTo>
                  <a:pt x="448302" y="800065"/>
                </a:lnTo>
                <a:lnTo>
                  <a:pt x="429433" y="834754"/>
                </a:lnTo>
                <a:lnTo>
                  <a:pt x="408789" y="866847"/>
                </a:lnTo>
                <a:lnTo>
                  <a:pt x="363929" y="920589"/>
                </a:lnTo>
                <a:lnTo>
                  <a:pt x="314668" y="959378"/>
                </a:lnTo>
                <a:lnTo>
                  <a:pt x="276516" y="976491"/>
                </a:lnTo>
                <a:lnTo>
                  <a:pt x="250793" y="981749"/>
                </a:lnTo>
                <a:lnTo>
                  <a:pt x="250481" y="981749"/>
                </a:lnTo>
                <a:lnTo>
                  <a:pt x="235624" y="982525"/>
                </a:lnTo>
                <a:lnTo>
                  <a:pt x="237892" y="982525"/>
                </a:lnTo>
                <a:lnTo>
                  <a:pt x="238071" y="985955"/>
                </a:lnTo>
                <a:lnTo>
                  <a:pt x="238181" y="988048"/>
                </a:lnTo>
                <a:lnTo>
                  <a:pt x="238217" y="988749"/>
                </a:lnTo>
                <a:lnTo>
                  <a:pt x="251606" y="988048"/>
                </a:lnTo>
                <a:lnTo>
                  <a:pt x="265117" y="985955"/>
                </a:lnTo>
                <a:lnTo>
                  <a:pt x="304847" y="971966"/>
                </a:lnTo>
                <a:lnTo>
                  <a:pt x="343661" y="947077"/>
                </a:lnTo>
                <a:lnTo>
                  <a:pt x="391824" y="899552"/>
                </a:lnTo>
                <a:lnTo>
                  <a:pt x="434846" y="838090"/>
                </a:lnTo>
                <a:lnTo>
                  <a:pt x="453939" y="803004"/>
                </a:lnTo>
                <a:lnTo>
                  <a:pt x="471153" y="765477"/>
                </a:lnTo>
                <a:lnTo>
                  <a:pt x="486284" y="725854"/>
                </a:lnTo>
                <a:lnTo>
                  <a:pt x="499127" y="684481"/>
                </a:lnTo>
                <a:lnTo>
                  <a:pt x="509477" y="641706"/>
                </a:lnTo>
                <a:lnTo>
                  <a:pt x="517128" y="597875"/>
                </a:lnTo>
                <a:lnTo>
                  <a:pt x="521872" y="553335"/>
                </a:lnTo>
                <a:lnTo>
                  <a:pt x="523495" y="508543"/>
                </a:lnTo>
                <a:lnTo>
                  <a:pt x="522756" y="486393"/>
                </a:lnTo>
                <a:lnTo>
                  <a:pt x="516794" y="440922"/>
                </a:lnTo>
                <a:lnTo>
                  <a:pt x="505283" y="396543"/>
                </a:lnTo>
                <a:lnTo>
                  <a:pt x="488599" y="353077"/>
                </a:lnTo>
                <a:lnTo>
                  <a:pt x="467130" y="310871"/>
                </a:lnTo>
                <a:lnTo>
                  <a:pt x="426801" y="250681"/>
                </a:lnTo>
                <a:lnTo>
                  <a:pt x="395056" y="213136"/>
                </a:lnTo>
                <a:lnTo>
                  <a:pt x="359869" y="178059"/>
                </a:lnTo>
                <a:lnTo>
                  <a:pt x="321622" y="145796"/>
                </a:lnTo>
                <a:lnTo>
                  <a:pt x="280694" y="116695"/>
                </a:lnTo>
                <a:lnTo>
                  <a:pt x="237462" y="91104"/>
                </a:lnTo>
                <a:lnTo>
                  <a:pt x="192304" y="69375"/>
                </a:lnTo>
                <a:lnTo>
                  <a:pt x="145635" y="51870"/>
                </a:lnTo>
                <a:lnTo>
                  <a:pt x="97670" y="38893"/>
                </a:lnTo>
                <a:lnTo>
                  <a:pt x="76115" y="35598"/>
                </a:lnTo>
                <a:close/>
              </a:path>
              <a:path w="523875" h="989330">
                <a:moveTo>
                  <a:pt x="79239" y="0"/>
                </a:moveTo>
                <a:lnTo>
                  <a:pt x="0" y="31294"/>
                </a:lnTo>
                <a:lnTo>
                  <a:pt x="72577" y="75907"/>
                </a:lnTo>
                <a:lnTo>
                  <a:pt x="75559" y="41936"/>
                </a:lnTo>
                <a:lnTo>
                  <a:pt x="62777" y="39982"/>
                </a:lnTo>
                <a:lnTo>
                  <a:pt x="63737" y="33705"/>
                </a:lnTo>
                <a:lnTo>
                  <a:pt x="76281" y="33705"/>
                </a:lnTo>
                <a:lnTo>
                  <a:pt x="79239" y="0"/>
                </a:lnTo>
                <a:close/>
              </a:path>
              <a:path w="523875" h="989330">
                <a:moveTo>
                  <a:pt x="63737" y="33705"/>
                </a:moveTo>
                <a:lnTo>
                  <a:pt x="62777" y="39982"/>
                </a:lnTo>
                <a:lnTo>
                  <a:pt x="75559" y="41936"/>
                </a:lnTo>
                <a:lnTo>
                  <a:pt x="76115" y="35598"/>
                </a:lnTo>
                <a:lnTo>
                  <a:pt x="63737" y="33705"/>
                </a:lnTo>
                <a:close/>
              </a:path>
              <a:path w="523875" h="989330">
                <a:moveTo>
                  <a:pt x="76281" y="33705"/>
                </a:moveTo>
                <a:lnTo>
                  <a:pt x="63737" y="33705"/>
                </a:lnTo>
                <a:lnTo>
                  <a:pt x="76115" y="35598"/>
                </a:lnTo>
                <a:lnTo>
                  <a:pt x="76281" y="33705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390349" y="1962384"/>
            <a:ext cx="35496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0" spc="-20" dirty="0">
                <a:solidFill>
                  <a:srgbClr val="FF0000"/>
                </a:solidFill>
                <a:latin typeface="Montserrat Thin"/>
                <a:cs typeface="Montserrat Thin"/>
              </a:rPr>
              <a:t>x1</a:t>
            </a:r>
            <a:r>
              <a:rPr sz="1350" b="0" spc="-105" dirty="0">
                <a:solidFill>
                  <a:srgbClr val="FF0000"/>
                </a:solidFill>
                <a:latin typeface="Montserrat Thin"/>
                <a:cs typeface="Montserrat Thin"/>
              </a:rPr>
              <a:t> </a:t>
            </a:r>
            <a:r>
              <a:rPr sz="1350" b="0" dirty="0">
                <a:solidFill>
                  <a:srgbClr val="FF0000"/>
                </a:solidFill>
                <a:latin typeface="Montserrat Thin"/>
                <a:cs typeface="Montserrat Thin"/>
              </a:rPr>
              <a:t>.</a:t>
            </a:r>
            <a:r>
              <a:rPr sz="1350" b="0" spc="-105" dirty="0">
                <a:solidFill>
                  <a:srgbClr val="FF0000"/>
                </a:solidFill>
                <a:latin typeface="Montserrat Thin"/>
                <a:cs typeface="Montserrat Thin"/>
              </a:rPr>
              <a:t> </a:t>
            </a:r>
            <a:r>
              <a:rPr sz="1350" b="0" spc="-50" dirty="0">
                <a:solidFill>
                  <a:srgbClr val="FF0000"/>
                </a:solidFill>
                <a:latin typeface="Montserrat Thin"/>
                <a:cs typeface="Montserrat Thin"/>
              </a:rPr>
              <a:t>3</a:t>
            </a:r>
            <a:endParaRPr sz="1350">
              <a:latin typeface="Montserrat Thin"/>
              <a:cs typeface="Montserrat Thin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6476" y="4165108"/>
            <a:ext cx="5152797" cy="693401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4800600" y="6377940"/>
            <a:ext cx="6781800" cy="503085"/>
          </a:xfrm>
          <a:prstGeom prst="rect">
            <a:avLst/>
          </a:prstGeom>
        </p:spPr>
        <p:txBody>
          <a:bodyPr vert="horz" wrap="square" lIns="0" tIns="76580" rIns="0" bIns="0" rtlCol="0">
            <a:spAutoFit/>
          </a:bodyPr>
          <a:lstStyle/>
          <a:p>
            <a:pPr marL="1619250">
              <a:lnSpc>
                <a:spcPct val="100000"/>
              </a:lnSpc>
              <a:spcBef>
                <a:spcPts val="75"/>
              </a:spcBef>
            </a:pPr>
            <a:r>
              <a:rPr sz="800" spc="-20" dirty="0">
                <a:solidFill>
                  <a:srgbClr val="000000"/>
                </a:solidFill>
                <a:latin typeface="Century Gothic"/>
                <a:cs typeface="Century Gothic"/>
              </a:rPr>
              <a:t>SCV:</a:t>
            </a:r>
            <a:r>
              <a:rPr sz="800" spc="50" dirty="0">
                <a:solidFill>
                  <a:srgbClr val="000000"/>
                </a:solidFill>
                <a:latin typeface="Century Gothic"/>
                <a:cs typeface="Century Gothic"/>
              </a:rPr>
              <a:t> Light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and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Effective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Multi-Vector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Retrieval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with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Sequence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Compressive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Vectors,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Century Gothic"/>
                <a:cs typeface="Century Gothic"/>
              </a:rPr>
              <a:t>kcc24’</a:t>
            </a:r>
            <a:endParaRPr sz="800" dirty="0">
              <a:latin typeface="Century Gothic"/>
              <a:cs typeface="Century Gothic"/>
            </a:endParaRPr>
          </a:p>
          <a:p>
            <a:pPr marL="1606550" marR="43180" algn="r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8599170" cy="546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35" dirty="0">
                <a:latin typeface="Century Gothic"/>
                <a:cs typeface="Century Gothic"/>
              </a:rPr>
              <a:t>Benchmark</a:t>
            </a:r>
            <a:r>
              <a:rPr sz="2800" dirty="0">
                <a:latin typeface="Century Gothic"/>
                <a:cs typeface="Century Gothic"/>
              </a:rPr>
              <a:t> </a:t>
            </a:r>
            <a:r>
              <a:rPr sz="2800" spc="60" dirty="0">
                <a:latin typeface="Century Gothic"/>
                <a:cs typeface="Century Gothic"/>
              </a:rPr>
              <a:t>Datasets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060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150" dirty="0">
                <a:latin typeface="Century Gothic"/>
                <a:cs typeface="Century Gothic"/>
              </a:rPr>
              <a:t>MS</a:t>
            </a:r>
            <a:r>
              <a:rPr sz="2200" spc="-35" dirty="0">
                <a:latin typeface="Century Gothic"/>
                <a:cs typeface="Century Gothic"/>
              </a:rPr>
              <a:t> </a:t>
            </a:r>
            <a:r>
              <a:rPr sz="2200" spc="-20" dirty="0">
                <a:latin typeface="Century Gothic"/>
                <a:cs typeface="Century Gothic"/>
              </a:rPr>
              <a:t>MARCO</a:t>
            </a:r>
            <a:endParaRPr sz="22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518159" algn="l"/>
              </a:tabLst>
            </a:pPr>
            <a:r>
              <a:rPr sz="2200" dirty="0">
                <a:latin typeface="Century Gothic"/>
                <a:cs typeface="Century Gothic"/>
              </a:rPr>
              <a:t>Passage</a:t>
            </a:r>
            <a:r>
              <a:rPr sz="2200" spc="80" dirty="0">
                <a:latin typeface="Century Gothic"/>
                <a:cs typeface="Century Gothic"/>
              </a:rPr>
              <a:t> </a:t>
            </a:r>
            <a:r>
              <a:rPr sz="2200" spc="95" dirty="0">
                <a:latin typeface="Century Gothic"/>
                <a:cs typeface="Century Gothic"/>
              </a:rPr>
              <a:t>ranking </a:t>
            </a:r>
            <a:r>
              <a:rPr sz="2200" spc="70" dirty="0">
                <a:latin typeface="Century Gothic"/>
                <a:cs typeface="Century Gothic"/>
              </a:rPr>
              <a:t>task</a:t>
            </a:r>
            <a:endParaRPr sz="22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518159" algn="l"/>
                <a:tab pos="3083560" algn="l"/>
              </a:tabLst>
            </a:pPr>
            <a:r>
              <a:rPr sz="2200" spc="-10" dirty="0">
                <a:latin typeface="Century Gothic"/>
                <a:cs typeface="Century Gothic"/>
              </a:rPr>
              <a:t>Collection:</a:t>
            </a:r>
            <a:r>
              <a:rPr sz="2200" spc="-60" dirty="0">
                <a:latin typeface="Century Gothic"/>
                <a:cs typeface="Century Gothic"/>
              </a:rPr>
              <a:t> </a:t>
            </a:r>
            <a:r>
              <a:rPr sz="2200" spc="-20" dirty="0">
                <a:latin typeface="Century Gothic"/>
                <a:cs typeface="Century Gothic"/>
              </a:rPr>
              <a:t>8.8M,</a:t>
            </a:r>
            <a:r>
              <a:rPr sz="2200" dirty="0">
                <a:latin typeface="Century Gothic"/>
                <a:cs typeface="Century Gothic"/>
              </a:rPr>
              <a:t>	</a:t>
            </a:r>
            <a:r>
              <a:rPr sz="2200" spc="85" dirty="0">
                <a:latin typeface="Century Gothic"/>
                <a:cs typeface="Century Gothic"/>
              </a:rPr>
              <a:t>train</a:t>
            </a:r>
            <a:r>
              <a:rPr sz="2200" spc="1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set:</a:t>
            </a:r>
            <a:r>
              <a:rPr sz="2200" spc="10" dirty="0">
                <a:latin typeface="Century Gothic"/>
                <a:cs typeface="Century Gothic"/>
              </a:rPr>
              <a:t> </a:t>
            </a:r>
            <a:r>
              <a:rPr sz="2200" spc="160" dirty="0">
                <a:latin typeface="Century Gothic"/>
                <a:cs typeface="Century Gothic"/>
              </a:rPr>
              <a:t>500K</a:t>
            </a:r>
            <a:endParaRPr sz="22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518159" algn="l"/>
              </a:tabLst>
            </a:pPr>
            <a:r>
              <a:rPr sz="2200" spc="150" dirty="0">
                <a:latin typeface="Century Gothic"/>
                <a:cs typeface="Century Gothic"/>
              </a:rPr>
              <a:t>MS</a:t>
            </a:r>
            <a:r>
              <a:rPr sz="2200" spc="-40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MARCO</a:t>
            </a:r>
            <a:r>
              <a:rPr sz="2200" spc="-10" dirty="0">
                <a:latin typeface="Malgun Gothic"/>
                <a:cs typeface="Malgun Gothic"/>
              </a:rPr>
              <a:t>는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실제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웹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검색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로그에서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수집된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자연어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질의를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spc="-25" dirty="0">
                <a:latin typeface="Malgun Gothic"/>
                <a:cs typeface="Malgun Gothic"/>
              </a:rPr>
              <a:t>사용</a:t>
            </a:r>
            <a:endParaRPr sz="22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518159" algn="l"/>
              </a:tabLst>
            </a:pPr>
            <a:r>
              <a:rPr sz="2200" dirty="0">
                <a:latin typeface="Malgun Gothic"/>
                <a:cs typeface="Malgun Gothic"/>
              </a:rPr>
              <a:t>어려운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질의와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긴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문서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등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실제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정보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검색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시나리오를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spc="-25" dirty="0">
                <a:latin typeface="Malgun Gothic"/>
                <a:cs typeface="Malgun Gothic"/>
              </a:rPr>
              <a:t>반영</a:t>
            </a:r>
            <a:endParaRPr sz="22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518159" algn="l"/>
              </a:tabLst>
            </a:pPr>
            <a:r>
              <a:rPr sz="2200" spc="-30" dirty="0">
                <a:latin typeface="Century Gothic"/>
                <a:cs typeface="Century Gothic"/>
              </a:rPr>
              <a:t>QA</a:t>
            </a:r>
            <a:r>
              <a:rPr sz="2200" spc="-12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나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검색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모델의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주요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벤치마크로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spc="-25" dirty="0">
                <a:latin typeface="Malgun Gothic"/>
                <a:cs typeface="Malgun Gothic"/>
              </a:rPr>
              <a:t>사용</a:t>
            </a:r>
            <a:endParaRPr sz="22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250" dirty="0">
                <a:latin typeface="Century Gothic"/>
                <a:cs typeface="Century Gothic"/>
              </a:rPr>
              <a:t>BEIR</a:t>
            </a:r>
            <a:endParaRPr sz="22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518159" algn="l"/>
              </a:tabLst>
            </a:pPr>
            <a:r>
              <a:rPr sz="2200" dirty="0">
                <a:latin typeface="Malgun Gothic"/>
                <a:cs typeface="Malgun Gothic"/>
              </a:rPr>
              <a:t>다양한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spc="70" dirty="0">
                <a:latin typeface="Century Gothic"/>
                <a:cs typeface="Century Gothic"/>
              </a:rPr>
              <a:t>task</a:t>
            </a:r>
            <a:r>
              <a:rPr sz="2200" spc="70" dirty="0">
                <a:latin typeface="Malgun Gothic"/>
                <a:cs typeface="Malgun Gothic"/>
              </a:rPr>
              <a:t>를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포함한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spc="-20" dirty="0">
                <a:latin typeface="Malgun Gothic"/>
                <a:cs typeface="Malgun Gothic"/>
              </a:rPr>
              <a:t>데이터셋</a:t>
            </a:r>
            <a:endParaRPr sz="22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840105" algn="l"/>
              </a:tabLst>
            </a:pPr>
            <a:r>
              <a:rPr sz="1900" spc="-60" dirty="0">
                <a:latin typeface="Century Gothic"/>
                <a:cs typeface="Century Gothic"/>
              </a:rPr>
              <a:t>18</a:t>
            </a:r>
            <a:r>
              <a:rPr sz="1900" spc="-60" dirty="0">
                <a:latin typeface="Malgun Gothic"/>
                <a:cs typeface="Malgun Gothic"/>
              </a:rPr>
              <a:t>개의</a:t>
            </a:r>
            <a:r>
              <a:rPr sz="1900" spc="-155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공개</a:t>
            </a:r>
            <a:r>
              <a:rPr sz="1900" spc="-155" dirty="0">
                <a:latin typeface="Malgun Gothic"/>
                <a:cs typeface="Malgun Gothic"/>
              </a:rPr>
              <a:t> </a:t>
            </a:r>
            <a:r>
              <a:rPr sz="1900" spc="-20" dirty="0">
                <a:latin typeface="Malgun Gothic"/>
                <a:cs typeface="Malgun Gothic"/>
              </a:rPr>
              <a:t>데이터셋</a:t>
            </a:r>
            <a:endParaRPr sz="19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840105" algn="l"/>
              </a:tabLst>
            </a:pPr>
            <a:r>
              <a:rPr sz="1900" spc="-20" dirty="0">
                <a:latin typeface="Malgun Gothic"/>
                <a:cs typeface="Malgun Gothic"/>
              </a:rPr>
              <a:t>법률</a:t>
            </a:r>
            <a:r>
              <a:rPr sz="1900" spc="-20" dirty="0">
                <a:latin typeface="Century Gothic"/>
                <a:cs typeface="Century Gothic"/>
              </a:rPr>
              <a:t>,</a:t>
            </a:r>
            <a:r>
              <a:rPr sz="1900" spc="-114" dirty="0">
                <a:latin typeface="Century Gothic"/>
                <a:cs typeface="Century Gothic"/>
              </a:rPr>
              <a:t> </a:t>
            </a:r>
            <a:r>
              <a:rPr sz="1900" spc="-20" dirty="0">
                <a:latin typeface="Malgun Gothic"/>
                <a:cs typeface="Malgun Gothic"/>
              </a:rPr>
              <a:t>의료</a:t>
            </a:r>
            <a:r>
              <a:rPr sz="1900" spc="-20" dirty="0">
                <a:latin typeface="Century Gothic"/>
                <a:cs typeface="Century Gothic"/>
              </a:rPr>
              <a:t>,</a:t>
            </a:r>
            <a:r>
              <a:rPr sz="1900" spc="-80" dirty="0">
                <a:latin typeface="Century Gothic"/>
                <a:cs typeface="Century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과학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등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다양한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도메인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spc="-25" dirty="0">
                <a:latin typeface="Malgun Gothic"/>
                <a:cs typeface="Malgun Gothic"/>
              </a:rPr>
              <a:t>포함</a:t>
            </a:r>
            <a:endParaRPr sz="19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518159" algn="l"/>
              </a:tabLst>
            </a:pPr>
            <a:r>
              <a:rPr sz="2200" spc="100" dirty="0">
                <a:latin typeface="Century Gothic"/>
                <a:cs typeface="Century Gothic"/>
              </a:rPr>
              <a:t>Zero-</a:t>
            </a:r>
            <a:r>
              <a:rPr sz="2200" spc="105" dirty="0">
                <a:latin typeface="Century Gothic"/>
                <a:cs typeface="Century Gothic"/>
              </a:rPr>
              <a:t>shot</a:t>
            </a:r>
            <a:r>
              <a:rPr sz="2200" spc="-3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및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도메인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간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학습</a:t>
            </a:r>
            <a:r>
              <a:rPr sz="2200" spc="-190" dirty="0">
                <a:latin typeface="Malgun Gothic"/>
                <a:cs typeface="Malgun Gothic"/>
              </a:rPr>
              <a:t> </a:t>
            </a:r>
            <a:r>
              <a:rPr sz="2200" spc="-25" dirty="0">
                <a:latin typeface="Malgun Gothic"/>
                <a:cs typeface="Malgun Gothic"/>
              </a:rPr>
              <a:t>평가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3435" y="6078220"/>
            <a:ext cx="56769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Malgun Gothic"/>
                <a:cs typeface="Malgun Gothic"/>
              </a:rPr>
              <a:t>질문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spc="-20" dirty="0">
                <a:latin typeface="Malgun Gothic"/>
                <a:cs typeface="Malgun Gothic"/>
              </a:rPr>
              <a:t>답변</a:t>
            </a:r>
            <a:r>
              <a:rPr sz="2200" spc="-20" dirty="0">
                <a:latin typeface="Century Gothic"/>
                <a:cs typeface="Century Gothic"/>
              </a:rPr>
              <a:t>,</a:t>
            </a:r>
            <a:r>
              <a:rPr sz="2200" spc="-100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문서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검색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등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다양한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spc="195" dirty="0">
                <a:latin typeface="Century Gothic"/>
                <a:cs typeface="Century Gothic"/>
              </a:rPr>
              <a:t>IR</a:t>
            </a:r>
            <a:r>
              <a:rPr sz="2200" spc="-45" dirty="0">
                <a:latin typeface="Century Gothic"/>
                <a:cs typeface="Century Gothic"/>
              </a:rPr>
              <a:t> </a:t>
            </a:r>
            <a:r>
              <a:rPr sz="2200" spc="90" dirty="0">
                <a:latin typeface="Century Gothic"/>
                <a:cs typeface="Century Gothic"/>
              </a:rPr>
              <a:t>task</a:t>
            </a:r>
            <a:r>
              <a:rPr sz="2200" spc="-45" dirty="0">
                <a:latin typeface="Century Gothic"/>
                <a:cs typeface="Century Gothic"/>
              </a:rPr>
              <a:t> </a:t>
            </a:r>
            <a:r>
              <a:rPr sz="2200" spc="-25" dirty="0">
                <a:latin typeface="Malgun Gothic"/>
                <a:cs typeface="Malgun Gothic"/>
              </a:rPr>
              <a:t>지원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11598" y="6304788"/>
            <a:ext cx="4944110" cy="26352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indent="642620">
              <a:lnSpc>
                <a:spcPts val="910"/>
              </a:lnSpc>
              <a:spcBef>
                <a:spcPts val="170"/>
              </a:spcBef>
            </a:pPr>
            <a:r>
              <a:rPr sz="800" dirty="0">
                <a:latin typeface="Montserrat"/>
                <a:cs typeface="Montserrat"/>
              </a:rPr>
              <a:t>MS</a:t>
            </a:r>
            <a:r>
              <a:rPr sz="800" spc="-10" dirty="0">
                <a:latin typeface="Montserrat"/>
                <a:cs typeface="Montserrat"/>
              </a:rPr>
              <a:t> MARCO: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A</a:t>
            </a:r>
            <a:r>
              <a:rPr sz="800" spc="-1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Human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Generated MAchine Reading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COmprehension </a:t>
            </a:r>
            <a:r>
              <a:rPr sz="800" spc="-20" dirty="0">
                <a:latin typeface="Montserrat"/>
                <a:cs typeface="Montserrat"/>
              </a:rPr>
              <a:t>Dataset,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ICLR17’ </a:t>
            </a:r>
            <a:r>
              <a:rPr sz="800" dirty="0">
                <a:latin typeface="Montserrat"/>
                <a:cs typeface="Montserrat"/>
              </a:rPr>
              <a:t>A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Heterogeneous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Benchmark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20" dirty="0">
                <a:latin typeface="Montserrat"/>
                <a:cs typeface="Montserrat"/>
              </a:rPr>
              <a:t> Zero-</a:t>
            </a:r>
            <a:r>
              <a:rPr sz="800" dirty="0">
                <a:latin typeface="Montserrat"/>
                <a:cs typeface="Montserrat"/>
              </a:rPr>
              <a:t>shot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Evaluation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of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Information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Retrieval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Models,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NeurIPS21’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4523" y="1213250"/>
            <a:ext cx="404946" cy="42181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5496" y="3740872"/>
            <a:ext cx="6435435" cy="236571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15251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10916920" cy="3761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35" dirty="0">
                <a:latin typeface="Century Gothic"/>
                <a:cs typeface="Century Gothic"/>
              </a:rPr>
              <a:t>Benchmark</a:t>
            </a:r>
            <a:r>
              <a:rPr sz="2800" dirty="0">
                <a:latin typeface="Century Gothic"/>
                <a:cs typeface="Century Gothic"/>
              </a:rPr>
              <a:t> </a:t>
            </a:r>
            <a:r>
              <a:rPr sz="2800" spc="60" dirty="0">
                <a:latin typeface="Century Gothic"/>
                <a:cs typeface="Century Gothic"/>
              </a:rPr>
              <a:t>Datasets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955"/>
              </a:spcBef>
              <a:buFont typeface="Arial"/>
              <a:buChar char="•"/>
              <a:tabLst>
                <a:tab pos="240665" algn="l"/>
              </a:tabLst>
            </a:pPr>
            <a:r>
              <a:rPr sz="1900" spc="20" dirty="0">
                <a:latin typeface="Century Gothic"/>
                <a:cs typeface="Century Gothic"/>
              </a:rPr>
              <a:t>Mr.</a:t>
            </a:r>
            <a:r>
              <a:rPr sz="1900" spc="55" dirty="0">
                <a:latin typeface="Century Gothic"/>
                <a:cs typeface="Century Gothic"/>
              </a:rPr>
              <a:t> </a:t>
            </a:r>
            <a:r>
              <a:rPr sz="1900" spc="90" dirty="0">
                <a:latin typeface="Century Gothic"/>
                <a:cs typeface="Century Gothic"/>
              </a:rPr>
              <a:t>TyDI:</a:t>
            </a:r>
            <a:r>
              <a:rPr sz="1900" spc="60" dirty="0">
                <a:latin typeface="Century Gothic"/>
                <a:cs typeface="Century Gothic"/>
              </a:rPr>
              <a:t> </a:t>
            </a:r>
            <a:r>
              <a:rPr sz="1100" spc="20" dirty="0">
                <a:latin typeface="Century Gothic"/>
                <a:cs typeface="Century Gothic"/>
              </a:rPr>
              <a:t>A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spc="55" dirty="0">
                <a:latin typeface="Century Gothic"/>
                <a:cs typeface="Century Gothic"/>
              </a:rPr>
              <a:t>Multi-</a:t>
            </a:r>
            <a:r>
              <a:rPr sz="1100" spc="20" dirty="0">
                <a:latin typeface="Century Gothic"/>
                <a:cs typeface="Century Gothic"/>
              </a:rPr>
              <a:t>lingual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20" dirty="0">
                <a:latin typeface="Century Gothic"/>
                <a:cs typeface="Century Gothic"/>
              </a:rPr>
              <a:t>Benchmark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20" dirty="0">
                <a:latin typeface="Century Gothic"/>
                <a:cs typeface="Century Gothic"/>
              </a:rPr>
              <a:t>for</a:t>
            </a:r>
            <a:r>
              <a:rPr sz="1100" spc="25" dirty="0">
                <a:latin typeface="Century Gothic"/>
                <a:cs typeface="Century Gothic"/>
              </a:rPr>
              <a:t> </a:t>
            </a:r>
            <a:r>
              <a:rPr sz="1100" spc="20" dirty="0">
                <a:latin typeface="Century Gothic"/>
                <a:cs typeface="Century Gothic"/>
              </a:rPr>
              <a:t>Dense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Retrieval</a:t>
            </a:r>
            <a:endParaRPr sz="11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518159" algn="l"/>
              </a:tabLst>
            </a:pPr>
            <a:r>
              <a:rPr sz="1900" dirty="0">
                <a:latin typeface="Malgun Gothic"/>
                <a:cs typeface="Malgun Gothic"/>
              </a:rPr>
              <a:t>비영어권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언어에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대한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spc="180" dirty="0">
                <a:latin typeface="Century Gothic"/>
                <a:cs typeface="Century Gothic"/>
              </a:rPr>
              <a:t>IR</a:t>
            </a:r>
            <a:r>
              <a:rPr sz="1900" spc="-25" dirty="0">
                <a:latin typeface="Century Gothic"/>
                <a:cs typeface="Century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연구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촉진을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위해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spc="-25" dirty="0">
                <a:latin typeface="Malgun Gothic"/>
                <a:cs typeface="Malgun Gothic"/>
              </a:rPr>
              <a:t>구축</a:t>
            </a:r>
            <a:endParaRPr sz="1900">
              <a:latin typeface="Malgun Gothic"/>
              <a:cs typeface="Malgun Gothic"/>
            </a:endParaRPr>
          </a:p>
          <a:p>
            <a:pPr marL="518159" marR="5080" lvl="1" indent="-2286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518159" algn="l"/>
              </a:tabLst>
            </a:pPr>
            <a:r>
              <a:rPr sz="1900" spc="-10" dirty="0">
                <a:latin typeface="Malgun Gothic"/>
                <a:cs typeface="Malgun Gothic"/>
              </a:rPr>
              <a:t>벵골어</a:t>
            </a:r>
            <a:r>
              <a:rPr sz="1900" spc="-10" dirty="0">
                <a:latin typeface="Century Gothic"/>
                <a:cs typeface="Century Gothic"/>
              </a:rPr>
              <a:t>,</a:t>
            </a:r>
            <a:r>
              <a:rPr sz="1900" spc="-125" dirty="0">
                <a:latin typeface="Century Gothic"/>
                <a:cs typeface="Century Gothic"/>
              </a:rPr>
              <a:t> </a:t>
            </a:r>
            <a:r>
              <a:rPr sz="1900" spc="-10" dirty="0">
                <a:latin typeface="Malgun Gothic"/>
                <a:cs typeface="Malgun Gothic"/>
              </a:rPr>
              <a:t>핀란드어</a:t>
            </a:r>
            <a:r>
              <a:rPr sz="1900" spc="-10" dirty="0">
                <a:latin typeface="Century Gothic"/>
                <a:cs typeface="Century Gothic"/>
              </a:rPr>
              <a:t>,</a:t>
            </a:r>
            <a:r>
              <a:rPr sz="1900" spc="-120" dirty="0">
                <a:latin typeface="Century Gothic"/>
                <a:cs typeface="Century Gothic"/>
              </a:rPr>
              <a:t> </a:t>
            </a:r>
            <a:r>
              <a:rPr sz="1900" spc="-10" dirty="0">
                <a:latin typeface="Malgun Gothic"/>
                <a:cs typeface="Malgun Gothic"/>
              </a:rPr>
              <a:t>인도네시아어</a:t>
            </a:r>
            <a:r>
              <a:rPr sz="1900" spc="-10" dirty="0">
                <a:latin typeface="Century Gothic"/>
                <a:cs typeface="Century Gothic"/>
              </a:rPr>
              <a:t>,</a:t>
            </a:r>
            <a:r>
              <a:rPr sz="1900" spc="-120" dirty="0">
                <a:latin typeface="Century Gothic"/>
                <a:cs typeface="Century Gothic"/>
              </a:rPr>
              <a:t> </a:t>
            </a:r>
            <a:r>
              <a:rPr sz="1900" spc="-10" dirty="0">
                <a:latin typeface="Malgun Gothic"/>
                <a:cs typeface="Malgun Gothic"/>
              </a:rPr>
              <a:t>일본어</a:t>
            </a:r>
            <a:r>
              <a:rPr sz="1900" spc="-10" dirty="0">
                <a:latin typeface="Century Gothic"/>
                <a:cs typeface="Century Gothic"/>
              </a:rPr>
              <a:t>,</a:t>
            </a:r>
            <a:r>
              <a:rPr sz="1900" spc="-120" dirty="0">
                <a:latin typeface="Century Gothic"/>
                <a:cs typeface="Century Gothic"/>
              </a:rPr>
              <a:t> </a:t>
            </a:r>
            <a:r>
              <a:rPr sz="1900" spc="-10" dirty="0">
                <a:latin typeface="Malgun Gothic"/>
                <a:cs typeface="Malgun Gothic"/>
              </a:rPr>
              <a:t>한국어</a:t>
            </a:r>
            <a:r>
              <a:rPr sz="1900" spc="-10" dirty="0">
                <a:latin typeface="Century Gothic"/>
                <a:cs typeface="Century Gothic"/>
              </a:rPr>
              <a:t>,</a:t>
            </a:r>
            <a:r>
              <a:rPr sz="1900" spc="-95" dirty="0">
                <a:latin typeface="Century Gothic"/>
                <a:cs typeface="Century Gothic"/>
              </a:rPr>
              <a:t> </a:t>
            </a:r>
            <a:r>
              <a:rPr sz="1900" spc="-10" dirty="0">
                <a:latin typeface="Malgun Gothic"/>
                <a:cs typeface="Malgun Gothic"/>
              </a:rPr>
              <a:t>러시아어</a:t>
            </a:r>
            <a:r>
              <a:rPr sz="1900" spc="-10" dirty="0">
                <a:latin typeface="Century Gothic"/>
                <a:cs typeface="Century Gothic"/>
              </a:rPr>
              <a:t>,</a:t>
            </a:r>
            <a:r>
              <a:rPr sz="1900" spc="-90" dirty="0">
                <a:latin typeface="Century Gothic"/>
                <a:cs typeface="Century Gothic"/>
              </a:rPr>
              <a:t> </a:t>
            </a:r>
            <a:r>
              <a:rPr sz="1900" spc="-10" dirty="0">
                <a:latin typeface="Malgun Gothic"/>
                <a:cs typeface="Malgun Gothic"/>
              </a:rPr>
              <a:t>스와힐리어</a:t>
            </a:r>
            <a:r>
              <a:rPr sz="1900" spc="-10" dirty="0">
                <a:latin typeface="Century Gothic"/>
                <a:cs typeface="Century Gothic"/>
              </a:rPr>
              <a:t>,</a:t>
            </a:r>
            <a:r>
              <a:rPr sz="1900" spc="-90" dirty="0">
                <a:latin typeface="Century Gothic"/>
                <a:cs typeface="Century Gothic"/>
              </a:rPr>
              <a:t> </a:t>
            </a:r>
            <a:r>
              <a:rPr sz="1900" spc="-10" dirty="0">
                <a:latin typeface="Malgun Gothic"/>
                <a:cs typeface="Malgun Gothic"/>
              </a:rPr>
              <a:t>텔루구어</a:t>
            </a:r>
            <a:r>
              <a:rPr sz="1900" spc="-10" dirty="0">
                <a:latin typeface="Century Gothic"/>
                <a:cs typeface="Century Gothic"/>
              </a:rPr>
              <a:t>,</a:t>
            </a:r>
            <a:r>
              <a:rPr sz="1900" spc="-90" dirty="0">
                <a:latin typeface="Century Gothic"/>
                <a:cs typeface="Century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태국어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등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spc="-180" dirty="0">
                <a:latin typeface="Century Gothic"/>
                <a:cs typeface="Century Gothic"/>
              </a:rPr>
              <a:t>11</a:t>
            </a:r>
            <a:r>
              <a:rPr sz="1900" spc="-180" dirty="0">
                <a:latin typeface="Malgun Gothic"/>
                <a:cs typeface="Malgun Gothic"/>
              </a:rPr>
              <a:t>개의 </a:t>
            </a:r>
            <a:r>
              <a:rPr sz="1900" dirty="0">
                <a:latin typeface="Malgun Gothic"/>
                <a:cs typeface="Malgun Gothic"/>
              </a:rPr>
              <a:t>언어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spc="-35" dirty="0">
                <a:latin typeface="Malgun Gothic"/>
                <a:cs typeface="Malgun Gothic"/>
              </a:rPr>
              <a:t>포함</a:t>
            </a:r>
            <a:endParaRPr sz="19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434"/>
              </a:spcBef>
              <a:buFont typeface="Arial"/>
              <a:buChar char="•"/>
            </a:pPr>
            <a:endParaRPr sz="19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900" spc="155" dirty="0">
                <a:latin typeface="Century Gothic"/>
                <a:cs typeface="Century Gothic"/>
              </a:rPr>
              <a:t>MTEB:</a:t>
            </a:r>
            <a:r>
              <a:rPr sz="1900" spc="95" dirty="0">
                <a:latin typeface="Century Gothic"/>
                <a:cs typeface="Century Gothic"/>
              </a:rPr>
              <a:t> </a:t>
            </a:r>
            <a:r>
              <a:rPr sz="1100" spc="10" dirty="0">
                <a:latin typeface="Century Gothic"/>
                <a:cs typeface="Century Gothic"/>
              </a:rPr>
              <a:t>Massive</a:t>
            </a:r>
            <a:r>
              <a:rPr sz="1100" spc="50" dirty="0">
                <a:latin typeface="Century Gothic"/>
                <a:cs typeface="Century Gothic"/>
              </a:rPr>
              <a:t> </a:t>
            </a:r>
            <a:r>
              <a:rPr sz="1100" spc="60" dirty="0">
                <a:latin typeface="Century Gothic"/>
                <a:cs typeface="Century Gothic"/>
              </a:rPr>
              <a:t>Text </a:t>
            </a:r>
            <a:r>
              <a:rPr sz="1100" spc="10" dirty="0">
                <a:latin typeface="Century Gothic"/>
                <a:cs typeface="Century Gothic"/>
              </a:rPr>
              <a:t>Embedding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Benchmark</a:t>
            </a:r>
            <a:endParaRPr sz="1100">
              <a:latin typeface="Century Gothic"/>
              <a:cs typeface="Century Gothic"/>
            </a:endParaRPr>
          </a:p>
          <a:p>
            <a:pPr marL="518159" marR="5601970" lvl="1" indent="-228600">
              <a:lnSpc>
                <a:spcPct val="101099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900" dirty="0">
                <a:latin typeface="Malgun Gothic"/>
                <a:cs typeface="Malgun Gothic"/>
              </a:rPr>
              <a:t>광범위한</a:t>
            </a:r>
            <a:r>
              <a:rPr sz="1900" spc="-17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벤치마크셋으로</a:t>
            </a:r>
            <a:r>
              <a:rPr sz="1900" spc="-165" dirty="0">
                <a:latin typeface="Malgun Gothic"/>
                <a:cs typeface="Malgun Gothic"/>
              </a:rPr>
              <a:t> </a:t>
            </a:r>
            <a:r>
              <a:rPr sz="1900" spc="95" dirty="0">
                <a:latin typeface="Century Gothic"/>
                <a:cs typeface="Century Gothic"/>
              </a:rPr>
              <a:t>Text</a:t>
            </a:r>
            <a:r>
              <a:rPr sz="1900" spc="-20" dirty="0">
                <a:latin typeface="Century Gothic"/>
                <a:cs typeface="Century Gothic"/>
              </a:rPr>
              <a:t> </a:t>
            </a:r>
            <a:r>
              <a:rPr sz="1900" spc="-10" dirty="0">
                <a:latin typeface="Century Gothic"/>
                <a:cs typeface="Century Gothic"/>
              </a:rPr>
              <a:t>embedding </a:t>
            </a:r>
            <a:r>
              <a:rPr sz="1900" dirty="0">
                <a:latin typeface="Century Gothic"/>
                <a:cs typeface="Century Gothic"/>
              </a:rPr>
              <a:t>model</a:t>
            </a:r>
            <a:r>
              <a:rPr sz="1900" dirty="0">
                <a:latin typeface="Malgun Gothic"/>
                <a:cs typeface="Malgun Gothic"/>
              </a:rPr>
              <a:t>을</a:t>
            </a:r>
            <a:r>
              <a:rPr sz="1900" spc="-12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평가하기</a:t>
            </a:r>
            <a:r>
              <a:rPr sz="1900" spc="-120" dirty="0">
                <a:latin typeface="Malgun Gothic"/>
                <a:cs typeface="Malgun Gothic"/>
              </a:rPr>
              <a:t> </a:t>
            </a:r>
            <a:r>
              <a:rPr sz="1900" dirty="0">
                <a:latin typeface="Malgun Gothic"/>
                <a:cs typeface="Malgun Gothic"/>
              </a:rPr>
              <a:t>위해</a:t>
            </a:r>
            <a:r>
              <a:rPr sz="1900" spc="-120" dirty="0">
                <a:latin typeface="Malgun Gothic"/>
                <a:cs typeface="Malgun Gothic"/>
              </a:rPr>
              <a:t> </a:t>
            </a:r>
            <a:r>
              <a:rPr sz="1900" spc="-25" dirty="0">
                <a:latin typeface="Malgun Gothic"/>
                <a:cs typeface="Malgun Gothic"/>
              </a:rPr>
              <a:t>구축</a:t>
            </a:r>
            <a:endParaRPr sz="19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518159" algn="l"/>
              </a:tabLst>
            </a:pPr>
            <a:r>
              <a:rPr sz="1900" spc="75" dirty="0">
                <a:latin typeface="Century Gothic"/>
                <a:cs typeface="Century Gothic"/>
              </a:rPr>
              <a:t>8</a:t>
            </a:r>
            <a:r>
              <a:rPr sz="1900" spc="75" dirty="0">
                <a:latin typeface="Malgun Gothic"/>
                <a:cs typeface="Malgun Gothic"/>
              </a:rPr>
              <a:t>개</a:t>
            </a:r>
            <a:r>
              <a:rPr sz="1900" spc="-130" dirty="0">
                <a:latin typeface="Malgun Gothic"/>
                <a:cs typeface="Malgun Gothic"/>
              </a:rPr>
              <a:t> </a:t>
            </a:r>
            <a:r>
              <a:rPr sz="1900" dirty="0">
                <a:latin typeface="Century Gothic"/>
                <a:cs typeface="Century Gothic"/>
              </a:rPr>
              <a:t>embedding</a:t>
            </a:r>
            <a:r>
              <a:rPr sz="1900" spc="15" dirty="0">
                <a:latin typeface="Century Gothic"/>
                <a:cs typeface="Century Gothic"/>
              </a:rPr>
              <a:t> </a:t>
            </a:r>
            <a:r>
              <a:rPr sz="1900" spc="55" dirty="0">
                <a:latin typeface="Century Gothic"/>
                <a:cs typeface="Century Gothic"/>
              </a:rPr>
              <a:t>tasks,</a:t>
            </a:r>
            <a:r>
              <a:rPr sz="1900" spc="15" dirty="0">
                <a:latin typeface="Century Gothic"/>
                <a:cs typeface="Century Gothic"/>
              </a:rPr>
              <a:t> </a:t>
            </a:r>
            <a:r>
              <a:rPr sz="1900" spc="55" dirty="0">
                <a:latin typeface="Century Gothic"/>
                <a:cs typeface="Century Gothic"/>
              </a:rPr>
              <a:t>58</a:t>
            </a:r>
            <a:r>
              <a:rPr sz="1900" spc="55" dirty="0">
                <a:latin typeface="Malgun Gothic"/>
                <a:cs typeface="Malgun Gothic"/>
              </a:rPr>
              <a:t>개</a:t>
            </a:r>
            <a:r>
              <a:rPr sz="1900" spc="-130" dirty="0">
                <a:latin typeface="Malgun Gothic"/>
                <a:cs typeface="Malgun Gothic"/>
              </a:rPr>
              <a:t> </a:t>
            </a:r>
            <a:r>
              <a:rPr sz="1900" dirty="0">
                <a:latin typeface="Century Gothic"/>
                <a:cs typeface="Century Gothic"/>
              </a:rPr>
              <a:t>datasets,</a:t>
            </a:r>
            <a:r>
              <a:rPr sz="1900" spc="15" dirty="0">
                <a:latin typeface="Century Gothic"/>
                <a:cs typeface="Century Gothic"/>
              </a:rPr>
              <a:t> </a:t>
            </a:r>
            <a:r>
              <a:rPr sz="1900" spc="-185" dirty="0">
                <a:latin typeface="Century Gothic"/>
                <a:cs typeface="Century Gothic"/>
              </a:rPr>
              <a:t>112</a:t>
            </a:r>
            <a:r>
              <a:rPr sz="1900" spc="-185" dirty="0">
                <a:latin typeface="Malgun Gothic"/>
                <a:cs typeface="Malgun Gothic"/>
              </a:rPr>
              <a:t>개</a:t>
            </a:r>
            <a:r>
              <a:rPr sz="1900" spc="-125" dirty="0">
                <a:latin typeface="Malgun Gothic"/>
                <a:cs typeface="Malgun Gothic"/>
              </a:rPr>
              <a:t> </a:t>
            </a:r>
            <a:r>
              <a:rPr sz="1900" spc="-25" dirty="0">
                <a:latin typeface="Malgun Gothic"/>
                <a:cs typeface="Malgun Gothic"/>
              </a:rPr>
              <a:t>언어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4744720"/>
            <a:ext cx="4172585" cy="144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900" spc="-10" dirty="0">
                <a:latin typeface="Century Gothic"/>
                <a:cs typeface="Century Gothic"/>
              </a:rPr>
              <a:t>MIRACL:</a:t>
            </a:r>
            <a:endParaRPr sz="1900">
              <a:latin typeface="Century Gothic"/>
              <a:cs typeface="Century Gothic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Century Gothic"/>
                <a:cs typeface="Century Gothic"/>
              </a:rPr>
              <a:t>Multilingual</a:t>
            </a:r>
            <a:r>
              <a:rPr sz="900" spc="165" dirty="0">
                <a:latin typeface="Century Gothic"/>
                <a:cs typeface="Century Gothic"/>
              </a:rPr>
              <a:t> </a:t>
            </a:r>
            <a:r>
              <a:rPr sz="900" dirty="0">
                <a:latin typeface="Century Gothic"/>
                <a:cs typeface="Century Gothic"/>
              </a:rPr>
              <a:t>Information</a:t>
            </a:r>
            <a:r>
              <a:rPr sz="900" spc="185" dirty="0">
                <a:latin typeface="Century Gothic"/>
                <a:cs typeface="Century Gothic"/>
              </a:rPr>
              <a:t> </a:t>
            </a:r>
            <a:r>
              <a:rPr sz="900" dirty="0">
                <a:latin typeface="Century Gothic"/>
                <a:cs typeface="Century Gothic"/>
              </a:rPr>
              <a:t>Retrieval</a:t>
            </a:r>
            <a:r>
              <a:rPr sz="900" spc="170" dirty="0">
                <a:latin typeface="Century Gothic"/>
                <a:cs typeface="Century Gothic"/>
              </a:rPr>
              <a:t> </a:t>
            </a:r>
            <a:r>
              <a:rPr sz="900" dirty="0">
                <a:latin typeface="Century Gothic"/>
                <a:cs typeface="Century Gothic"/>
              </a:rPr>
              <a:t>Across</a:t>
            </a:r>
            <a:r>
              <a:rPr sz="900" spc="175" dirty="0">
                <a:latin typeface="Century Gothic"/>
                <a:cs typeface="Century Gothic"/>
              </a:rPr>
              <a:t> </a:t>
            </a:r>
            <a:r>
              <a:rPr sz="900" spc="-90" dirty="0">
                <a:latin typeface="Century Gothic"/>
                <a:cs typeface="Century Gothic"/>
              </a:rPr>
              <a:t>a</a:t>
            </a:r>
            <a:r>
              <a:rPr sz="900" spc="170" dirty="0">
                <a:latin typeface="Century Gothic"/>
                <a:cs typeface="Century Gothic"/>
              </a:rPr>
              <a:t> </a:t>
            </a:r>
            <a:r>
              <a:rPr sz="900" dirty="0">
                <a:latin typeface="Century Gothic"/>
                <a:cs typeface="Century Gothic"/>
              </a:rPr>
              <a:t>Continuum</a:t>
            </a:r>
            <a:r>
              <a:rPr sz="900" spc="165" dirty="0">
                <a:latin typeface="Century Gothic"/>
                <a:cs typeface="Century Gothic"/>
              </a:rPr>
              <a:t> </a:t>
            </a:r>
            <a:r>
              <a:rPr sz="900" dirty="0">
                <a:latin typeface="Century Gothic"/>
                <a:cs typeface="Century Gothic"/>
              </a:rPr>
              <a:t>of</a:t>
            </a:r>
            <a:r>
              <a:rPr sz="900" spc="170" dirty="0">
                <a:latin typeface="Century Gothic"/>
                <a:cs typeface="Century Gothic"/>
              </a:rPr>
              <a:t> </a:t>
            </a:r>
            <a:r>
              <a:rPr sz="900" spc="-10" dirty="0">
                <a:latin typeface="Century Gothic"/>
                <a:cs typeface="Century Gothic"/>
              </a:rPr>
              <a:t>Languages</a:t>
            </a:r>
            <a:endParaRPr sz="9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518159" algn="l"/>
              </a:tabLst>
            </a:pPr>
            <a:r>
              <a:rPr sz="1200" dirty="0">
                <a:latin typeface="Malgun Gothic"/>
                <a:cs typeface="Malgun Gothic"/>
              </a:rPr>
              <a:t>다국어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정보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검색을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위한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데이터셋</a:t>
            </a:r>
            <a:endParaRPr sz="12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518159" algn="l"/>
              </a:tabLst>
            </a:pPr>
            <a:r>
              <a:rPr sz="1200" dirty="0">
                <a:latin typeface="Century Gothic"/>
                <a:cs typeface="Century Gothic"/>
              </a:rPr>
              <a:t>Query</a:t>
            </a:r>
            <a:r>
              <a:rPr sz="1200" spc="30" dirty="0">
                <a:latin typeface="Century Gothic"/>
                <a:cs typeface="Century Gothic"/>
              </a:rPr>
              <a:t> </a:t>
            </a:r>
            <a:r>
              <a:rPr sz="1200" spc="65" dirty="0">
                <a:latin typeface="Century Gothic"/>
                <a:cs typeface="Century Gothic"/>
              </a:rPr>
              <a:t>77k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이상</a:t>
            </a:r>
            <a:endParaRPr sz="12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518159" algn="l"/>
              </a:tabLst>
            </a:pPr>
            <a:r>
              <a:rPr sz="1200" dirty="0">
                <a:latin typeface="Malgun Gothic"/>
                <a:cs typeface="Malgun Gothic"/>
              </a:rPr>
              <a:t>위키피디아</a:t>
            </a:r>
            <a:r>
              <a:rPr sz="1200" spc="-100" dirty="0">
                <a:latin typeface="Malgun Gothic"/>
                <a:cs typeface="Malgun Gothic"/>
              </a:rPr>
              <a:t> </a:t>
            </a:r>
            <a:r>
              <a:rPr sz="1200" spc="-55" dirty="0">
                <a:latin typeface="Century Gothic"/>
                <a:cs typeface="Century Gothic"/>
              </a:rPr>
              <a:t>18</a:t>
            </a:r>
            <a:r>
              <a:rPr sz="1200" spc="-55" dirty="0">
                <a:latin typeface="Malgun Gothic"/>
                <a:cs typeface="Malgun Gothic"/>
              </a:rPr>
              <a:t>개</a:t>
            </a:r>
            <a:r>
              <a:rPr sz="1200" spc="-9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언어</a:t>
            </a:r>
            <a:endParaRPr sz="12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518159" algn="l"/>
              </a:tabLst>
            </a:pPr>
            <a:r>
              <a:rPr sz="1200" dirty="0">
                <a:latin typeface="Malgun Gothic"/>
                <a:cs typeface="Malgun Gothic"/>
              </a:rPr>
              <a:t>모든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평가는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해당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언어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원어민에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의해</a:t>
            </a:r>
            <a:r>
              <a:rPr sz="1200" spc="-11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수행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33949" y="6179820"/>
            <a:ext cx="3921125" cy="38862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26820" marR="5080" indent="-469900" algn="r">
              <a:lnSpc>
                <a:spcPts val="890"/>
              </a:lnSpc>
              <a:spcBef>
                <a:spcPts val="185"/>
              </a:spcBef>
            </a:pPr>
            <a:r>
              <a:rPr sz="800" dirty="0">
                <a:latin typeface="Montserrat"/>
                <a:cs typeface="Montserrat"/>
              </a:rPr>
              <a:t>Mr.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TyDi: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A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Multi-lingual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Benchmark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Dense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Retrieval,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ACL21’ MTEB: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Massive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Text</a:t>
            </a:r>
            <a:r>
              <a:rPr sz="800" spc="-10" dirty="0">
                <a:latin typeface="Montserrat"/>
                <a:cs typeface="Montserrat"/>
              </a:rPr>
              <a:t> Embedding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Benchmark,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EACL23’</a:t>
            </a:r>
            <a:endParaRPr sz="800">
              <a:latin typeface="Montserrat"/>
              <a:cs typeface="Montserrat"/>
            </a:endParaRPr>
          </a:p>
          <a:p>
            <a:pPr marR="5080" algn="r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latin typeface="Montserrat"/>
                <a:cs typeface="Montserrat"/>
              </a:rPr>
              <a:t>Multilingual Information Retrieval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Across</a:t>
            </a:r>
            <a:r>
              <a:rPr sz="800" dirty="0">
                <a:latin typeface="Montserrat"/>
                <a:cs typeface="Montserrat"/>
              </a:rPr>
              <a:t> a</a:t>
            </a:r>
            <a:r>
              <a:rPr sz="800" spc="-10" dirty="0">
                <a:latin typeface="Montserrat"/>
                <a:cs typeface="Montserrat"/>
              </a:rPr>
              <a:t> Continuum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of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Languages,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TACL23’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192702"/>
            <a:ext cx="1566288" cy="3144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7009" y="2783888"/>
            <a:ext cx="5065234" cy="2856471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5671185" cy="404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40" dirty="0">
                <a:latin typeface="Century Gothic"/>
                <a:cs typeface="Century Gothic"/>
              </a:rPr>
              <a:t>Single</a:t>
            </a:r>
            <a:r>
              <a:rPr sz="2800" spc="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Vector</a:t>
            </a:r>
            <a:r>
              <a:rPr sz="2800" spc="35" dirty="0">
                <a:latin typeface="Century Gothic"/>
                <a:cs typeface="Century Gothic"/>
              </a:rPr>
              <a:t> </a:t>
            </a:r>
            <a:r>
              <a:rPr sz="2800" spc="75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145" dirty="0">
                <a:latin typeface="Century Gothic"/>
                <a:cs typeface="Century Gothic"/>
              </a:rPr>
              <a:t>DPR:</a:t>
            </a:r>
            <a:r>
              <a:rPr sz="2400" spc="11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Dense</a:t>
            </a:r>
            <a:r>
              <a:rPr sz="1400" spc="6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Passage</a:t>
            </a:r>
            <a:r>
              <a:rPr sz="1400" spc="65" dirty="0">
                <a:latin typeface="Century Gothic"/>
                <a:cs typeface="Century Gothic"/>
              </a:rPr>
              <a:t> </a:t>
            </a:r>
            <a:r>
              <a:rPr sz="1400" spc="-10" dirty="0">
                <a:latin typeface="Century Gothic"/>
                <a:cs typeface="Century Gothic"/>
              </a:rPr>
              <a:t>Retrieval</a:t>
            </a:r>
            <a:endParaRPr sz="1400">
              <a:latin typeface="Century Gothic"/>
              <a:cs typeface="Century Gothic"/>
            </a:endParaRPr>
          </a:p>
          <a:p>
            <a:pPr marL="516890" lvl="1" indent="-227329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516890" algn="l"/>
              </a:tabLst>
            </a:pPr>
            <a:r>
              <a:rPr sz="2400" dirty="0">
                <a:latin typeface="Century Gothic"/>
                <a:cs typeface="Century Gothic"/>
              </a:rPr>
              <a:t>Score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(dot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product)</a:t>
            </a:r>
            <a:endParaRPr sz="2400">
              <a:latin typeface="Century Gothic"/>
              <a:cs typeface="Century Gothic"/>
            </a:endParaRPr>
          </a:p>
          <a:p>
            <a:pPr lvl="1">
              <a:lnSpc>
                <a:spcPct val="100000"/>
              </a:lnSpc>
              <a:spcBef>
                <a:spcPts val="2165"/>
              </a:spcBef>
              <a:buFont typeface="Arial"/>
              <a:buChar char="•"/>
            </a:pPr>
            <a:endParaRPr sz="2400">
              <a:latin typeface="Century Gothic"/>
              <a:cs typeface="Century Gothic"/>
            </a:endParaRPr>
          </a:p>
          <a:p>
            <a:pPr marL="516890" lvl="1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16890" algn="l"/>
              </a:tabLst>
            </a:pPr>
            <a:r>
              <a:rPr sz="2400" spc="110" dirty="0">
                <a:latin typeface="Century Gothic"/>
                <a:cs typeface="Century Gothic"/>
              </a:rPr>
              <a:t>Training</a:t>
            </a:r>
            <a:endParaRPr sz="24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1019"/>
              </a:spcBef>
              <a:buFont typeface="Arial"/>
              <a:buChar char="•"/>
              <a:tabLst>
                <a:tab pos="840105" algn="l"/>
              </a:tabLst>
            </a:pPr>
            <a:r>
              <a:rPr sz="2000" spc="114" dirty="0">
                <a:latin typeface="Century Gothic"/>
                <a:cs typeface="Century Gothic"/>
              </a:rPr>
              <a:t>In-</a:t>
            </a:r>
            <a:r>
              <a:rPr sz="2000" spc="-10" dirty="0">
                <a:latin typeface="Century Gothic"/>
                <a:cs typeface="Century Gothic"/>
              </a:rPr>
              <a:t>batch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negative</a:t>
            </a:r>
            <a:r>
              <a:rPr sz="2000" spc="-7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sample</a:t>
            </a:r>
            <a:endParaRPr sz="200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lvl="2">
              <a:lnSpc>
                <a:spcPct val="100000"/>
              </a:lnSpc>
              <a:spcBef>
                <a:spcPts val="495"/>
              </a:spcBef>
              <a:buFont typeface="Arial"/>
              <a:buChar char="•"/>
            </a:pPr>
            <a:endParaRPr sz="20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840105" algn="l"/>
              </a:tabLst>
            </a:pPr>
            <a:r>
              <a:rPr sz="2000" spc="135" dirty="0">
                <a:latin typeface="Century Gothic"/>
                <a:cs typeface="Century Gothic"/>
              </a:rPr>
              <a:t>Loss</a:t>
            </a:r>
            <a:r>
              <a:rPr sz="2000" spc="-30" dirty="0">
                <a:latin typeface="Century Gothic"/>
                <a:cs typeface="Century Gothic"/>
              </a:rPr>
              <a:t> </a:t>
            </a:r>
            <a:r>
              <a:rPr sz="2000" spc="50" dirty="0">
                <a:latin typeface="Century Gothic"/>
                <a:cs typeface="Century Gothic"/>
              </a:rPr>
              <a:t>function</a:t>
            </a:r>
            <a:r>
              <a:rPr sz="2000" spc="-2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(negative</a:t>
            </a:r>
            <a:r>
              <a:rPr sz="2000" spc="-2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log</a:t>
            </a:r>
            <a:r>
              <a:rPr sz="2000" spc="-2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likelihood)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5261" y="1324060"/>
            <a:ext cx="4628985" cy="289992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8142" y="2377568"/>
            <a:ext cx="3306634" cy="3300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65996" y="4787780"/>
            <a:ext cx="4424798" cy="13110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32048" y="3677782"/>
            <a:ext cx="4376553" cy="40831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085893" y="6228588"/>
            <a:ext cx="35699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latin typeface="Montserrat"/>
                <a:cs typeface="Montserrat"/>
              </a:rPr>
              <a:t>Dense</a:t>
            </a:r>
            <a:r>
              <a:rPr sz="800" spc="-10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Passage</a:t>
            </a:r>
            <a:r>
              <a:rPr sz="800" spc="-10" dirty="0">
                <a:latin typeface="Montserrat"/>
                <a:cs typeface="Montserrat"/>
              </a:rPr>
              <a:t> </a:t>
            </a:r>
            <a:r>
              <a:rPr sz="800" spc="-35" dirty="0">
                <a:latin typeface="Montserrat"/>
                <a:cs typeface="Montserrat"/>
              </a:rPr>
              <a:t>Retrieval</a:t>
            </a:r>
            <a:r>
              <a:rPr sz="800" spc="10" dirty="0">
                <a:latin typeface="Montserrat"/>
                <a:cs typeface="Montserrat"/>
              </a:rPr>
              <a:t> </a:t>
            </a:r>
            <a:r>
              <a:rPr sz="800" spc="-30" dirty="0">
                <a:latin typeface="Montserrat"/>
                <a:cs typeface="Montserrat"/>
              </a:rPr>
              <a:t>for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45" dirty="0">
                <a:latin typeface="Montserrat"/>
                <a:cs typeface="Montserrat"/>
              </a:rPr>
              <a:t>Open-</a:t>
            </a:r>
            <a:r>
              <a:rPr sz="800" spc="-40" dirty="0">
                <a:latin typeface="Montserrat"/>
                <a:cs typeface="Montserrat"/>
              </a:rPr>
              <a:t>Domain</a:t>
            </a:r>
            <a:r>
              <a:rPr sz="800" spc="-30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Question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Answering,</a:t>
            </a:r>
            <a:r>
              <a:rPr sz="800" spc="1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EMNLP20’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52234" y="776351"/>
            <a:ext cx="1780539" cy="6883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125" dirty="0">
                <a:latin typeface="Century Gothic"/>
                <a:cs typeface="Century Gothic"/>
              </a:rPr>
              <a:t>Loss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spc="35" dirty="0">
                <a:latin typeface="Century Gothic"/>
                <a:cs typeface="Century Gothic"/>
              </a:rPr>
              <a:t>function</a:t>
            </a:r>
            <a:endParaRPr sz="1800">
              <a:latin typeface="Century Gothic"/>
              <a:cs typeface="Century Gothic"/>
            </a:endParaRPr>
          </a:p>
          <a:p>
            <a:pPr marL="562610" lvl="1" indent="-228600">
              <a:lnSpc>
                <a:spcPct val="100000"/>
              </a:lnSpc>
              <a:spcBef>
                <a:spcPts val="535"/>
              </a:spcBef>
              <a:buFont typeface="Arial"/>
              <a:buChar char="•"/>
              <a:tabLst>
                <a:tab pos="562610" algn="l"/>
              </a:tabLst>
            </a:pPr>
            <a:r>
              <a:rPr sz="1600" spc="95" dirty="0">
                <a:latin typeface="Century Gothic"/>
                <a:cs typeface="Century Gothic"/>
              </a:rPr>
              <a:t>In-</a:t>
            </a:r>
            <a:r>
              <a:rPr sz="1600" spc="-10" dirty="0">
                <a:latin typeface="Century Gothic"/>
                <a:cs typeface="Century Gothic"/>
              </a:rPr>
              <a:t>batch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4180" y="2109723"/>
            <a:ext cx="9429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135" dirty="0">
                <a:latin typeface="Century Gothic"/>
                <a:cs typeface="Century Gothic"/>
              </a:rPr>
              <a:t>FLOPS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61834" y="2426715"/>
            <a:ext cx="4095750" cy="105600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41300" marR="5080" indent="-228600">
              <a:lnSpc>
                <a:spcPts val="1900"/>
              </a:lnSpc>
              <a:spcBef>
                <a:spcPts val="180"/>
              </a:spcBef>
              <a:buFont typeface="Arial"/>
              <a:buChar char="•"/>
              <a:tabLst>
                <a:tab pos="241300" algn="l"/>
              </a:tabLst>
            </a:pPr>
            <a:r>
              <a:rPr sz="1600" spc="140" dirty="0">
                <a:latin typeface="Century Gothic"/>
                <a:cs typeface="Century Gothic"/>
              </a:rPr>
              <a:t>SPLADE</a:t>
            </a:r>
            <a:r>
              <a:rPr sz="1600" spc="6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scoring</a:t>
            </a:r>
            <a:r>
              <a:rPr sz="1600" dirty="0">
                <a:latin typeface="Malgun Gothic"/>
                <a:cs typeface="Malgun Gothic"/>
              </a:rPr>
              <a:t>은</a:t>
            </a:r>
            <a:r>
              <a:rPr sz="1600" spc="-6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중요한</a:t>
            </a:r>
            <a:r>
              <a:rPr sz="1600" spc="-6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단어만</a:t>
            </a:r>
            <a:r>
              <a:rPr sz="1600" spc="-6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지나치 </a:t>
            </a:r>
            <a:r>
              <a:rPr sz="1600" dirty="0">
                <a:latin typeface="Malgun Gothic"/>
                <a:cs typeface="Malgun Gothic"/>
              </a:rPr>
              <a:t>게</a:t>
            </a:r>
            <a:r>
              <a:rPr sz="1600" spc="-1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커질</a:t>
            </a:r>
            <a:r>
              <a:rPr sz="1600" spc="-1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수</a:t>
            </a:r>
            <a:r>
              <a:rPr sz="1600" spc="-14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있음</a:t>
            </a:r>
            <a:endParaRPr sz="1600">
              <a:latin typeface="Malgun Gothic"/>
              <a:cs typeface="Malgun Gothic"/>
            </a:endParaRPr>
          </a:p>
          <a:p>
            <a:pPr marL="227965" marR="739775" indent="-227965" algn="r">
              <a:lnSpc>
                <a:spcPts val="1910"/>
              </a:lnSpc>
              <a:spcBef>
                <a:spcPts val="415"/>
              </a:spcBef>
              <a:buFont typeface="Arial"/>
              <a:buChar char="•"/>
              <a:tabLst>
                <a:tab pos="227965" algn="l"/>
              </a:tabLst>
            </a:pPr>
            <a:r>
              <a:rPr sz="1600" spc="45" dirty="0">
                <a:latin typeface="Century Gothic"/>
                <a:cs typeface="Century Gothic"/>
              </a:rPr>
              <a:t>Regularization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60" dirty="0">
                <a:latin typeface="Century Gothic"/>
                <a:cs typeface="Century Gothic"/>
              </a:rPr>
              <a:t>term</a:t>
            </a:r>
            <a:r>
              <a:rPr sz="1600" spc="60" dirty="0">
                <a:latin typeface="Malgun Gothic"/>
                <a:cs typeface="Malgun Gothic"/>
              </a:rPr>
              <a:t>으로</a:t>
            </a:r>
            <a:r>
              <a:rPr sz="1600" spc="-135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정규화</a:t>
            </a:r>
            <a:endParaRPr sz="1600">
              <a:latin typeface="Malgun Gothic"/>
              <a:cs typeface="Malgun Gothic"/>
            </a:endParaRPr>
          </a:p>
          <a:p>
            <a:pPr marR="697865" algn="r">
              <a:lnSpc>
                <a:spcPts val="1910"/>
              </a:lnSpc>
            </a:pPr>
            <a:r>
              <a:rPr sz="1600" spc="65" dirty="0">
                <a:latin typeface="Century Gothic"/>
                <a:cs typeface="Century Gothic"/>
              </a:rPr>
              <a:t>-</a:t>
            </a:r>
            <a:r>
              <a:rPr sz="1600" dirty="0">
                <a:latin typeface="Century Gothic"/>
                <a:cs typeface="Century Gothic"/>
              </a:rPr>
              <a:t>&gt;</a:t>
            </a:r>
            <a:r>
              <a:rPr sz="1600" spc="8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모델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일반화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및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overfitting</a:t>
            </a:r>
            <a:r>
              <a:rPr sz="1600" spc="85" dirty="0">
                <a:latin typeface="Century Gothic"/>
                <a:cs typeface="Century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방지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74180" y="4752340"/>
            <a:ext cx="13982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latin typeface="Century Gothic"/>
                <a:cs typeface="Century Gothic"/>
              </a:rPr>
              <a:t>Overall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60" dirty="0">
                <a:latin typeface="Century Gothic"/>
                <a:cs typeface="Century Gothic"/>
              </a:rPr>
              <a:t>loss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1834" y="4983988"/>
            <a:ext cx="3613785" cy="659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</a:tabLst>
            </a:pPr>
            <a:r>
              <a:rPr sz="1600" spc="95" dirty="0">
                <a:latin typeface="Century Gothic"/>
                <a:cs typeface="Century Gothic"/>
              </a:rPr>
              <a:t>In-</a:t>
            </a:r>
            <a:r>
              <a:rPr sz="1600" spc="-10" dirty="0">
                <a:latin typeface="Century Gothic"/>
                <a:cs typeface="Century Gothic"/>
              </a:rPr>
              <a:t>batch</a:t>
            </a:r>
            <a:r>
              <a:rPr sz="1600" spc="-60" dirty="0">
                <a:latin typeface="Century Gothic"/>
                <a:cs typeface="Century Gothic"/>
              </a:rPr>
              <a:t> </a:t>
            </a:r>
            <a:r>
              <a:rPr sz="1600" spc="60" dirty="0">
                <a:latin typeface="Century Gothic"/>
                <a:cs typeface="Century Gothic"/>
              </a:rPr>
              <a:t>loss</a:t>
            </a:r>
            <a:endParaRPr sz="16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latin typeface="Century Gothic"/>
                <a:cs typeface="Century Gothic"/>
              </a:rPr>
              <a:t>Query,</a:t>
            </a:r>
            <a:r>
              <a:rPr sz="1600" spc="6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document</a:t>
            </a:r>
            <a:r>
              <a:rPr sz="1600" spc="60" dirty="0">
                <a:latin typeface="Century Gothic"/>
                <a:cs typeface="Century Gothic"/>
              </a:rPr>
              <a:t> </a:t>
            </a:r>
            <a:r>
              <a:rPr sz="1600" spc="40" dirty="0">
                <a:latin typeface="Century Gothic"/>
                <a:cs typeface="Century Gothic"/>
              </a:rPr>
              <a:t>regularizations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536955"/>
            <a:ext cx="4128135" cy="129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40" dirty="0">
                <a:latin typeface="Century Gothic"/>
                <a:cs typeface="Century Gothic"/>
              </a:rPr>
              <a:t>Single</a:t>
            </a:r>
            <a:r>
              <a:rPr sz="2800" spc="30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Vector</a:t>
            </a:r>
            <a:r>
              <a:rPr sz="2800" spc="35" dirty="0">
                <a:latin typeface="Century Gothic"/>
                <a:cs typeface="Century Gothic"/>
              </a:rPr>
              <a:t> </a:t>
            </a:r>
            <a:r>
              <a:rPr sz="2800" spc="75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960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110" dirty="0">
                <a:latin typeface="Century Gothic"/>
                <a:cs typeface="Century Gothic"/>
              </a:rPr>
              <a:t>SPLADE:</a:t>
            </a:r>
            <a:r>
              <a:rPr sz="17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Sparse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Lexical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AnD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Expansion</a:t>
            </a:r>
            <a:endParaRPr sz="10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518159" algn="l"/>
              </a:tabLst>
            </a:pPr>
            <a:r>
              <a:rPr sz="1700" spc="80" dirty="0">
                <a:latin typeface="Century Gothic"/>
                <a:cs typeface="Century Gothic"/>
              </a:rPr>
              <a:t>Input</a:t>
            </a:r>
            <a:r>
              <a:rPr sz="1700" spc="-5" dirty="0">
                <a:latin typeface="Century Gothic"/>
                <a:cs typeface="Century Gothic"/>
              </a:rPr>
              <a:t> </a:t>
            </a:r>
            <a:r>
              <a:rPr sz="1700" spc="-10" dirty="0">
                <a:latin typeface="Century Gothic"/>
                <a:cs typeface="Century Gothic"/>
              </a:rPr>
              <a:t>sequence: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3435" y="2436331"/>
            <a:ext cx="4130675" cy="146812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65" dirty="0">
                <a:latin typeface="Century Gothic"/>
                <a:cs typeface="Century Gothic"/>
              </a:rPr>
              <a:t>Pooling</a:t>
            </a:r>
            <a:r>
              <a:rPr sz="1700" spc="7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Strategy</a:t>
            </a:r>
            <a:r>
              <a:rPr sz="1700" spc="8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(Splade</a:t>
            </a:r>
            <a:r>
              <a:rPr sz="1700" spc="80" dirty="0">
                <a:latin typeface="Century Gothic"/>
                <a:cs typeface="Century Gothic"/>
              </a:rPr>
              <a:t> </a:t>
            </a:r>
            <a:r>
              <a:rPr sz="1700" spc="-10" dirty="0">
                <a:latin typeface="Century Gothic"/>
                <a:cs typeface="Century Gothic"/>
              </a:rPr>
              <a:t>activation)</a:t>
            </a:r>
            <a:endParaRPr sz="1700">
              <a:latin typeface="Century Gothic"/>
              <a:cs typeface="Century Gothic"/>
            </a:endParaRPr>
          </a:p>
          <a:p>
            <a:pPr marL="562610" lvl="1" indent="-227965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562610" algn="l"/>
              </a:tabLst>
            </a:pPr>
            <a:r>
              <a:rPr sz="1400" spc="50" dirty="0">
                <a:latin typeface="Century Gothic"/>
                <a:cs typeface="Century Gothic"/>
              </a:rPr>
              <a:t>Log-</a:t>
            </a:r>
            <a:r>
              <a:rPr sz="1400" dirty="0">
                <a:latin typeface="Century Gothic"/>
                <a:cs typeface="Century Gothic"/>
              </a:rPr>
              <a:t>saturation</a:t>
            </a:r>
            <a:r>
              <a:rPr sz="1400" spc="140" dirty="0">
                <a:latin typeface="Century Gothic"/>
                <a:cs typeface="Century Gothic"/>
              </a:rPr>
              <a:t> </a:t>
            </a:r>
            <a:r>
              <a:rPr sz="1400" spc="-10" dirty="0">
                <a:latin typeface="Century Gothic"/>
                <a:cs typeface="Century Gothic"/>
              </a:rPr>
              <a:t>effect</a:t>
            </a:r>
            <a:r>
              <a:rPr sz="1400" spc="135" dirty="0">
                <a:latin typeface="Century Gothic"/>
                <a:cs typeface="Century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적용</a:t>
            </a:r>
            <a:endParaRPr sz="1400">
              <a:latin typeface="Malgun Gothic"/>
              <a:cs typeface="Malgun Gothic"/>
            </a:endParaRPr>
          </a:p>
          <a:p>
            <a:pPr marL="562610" lvl="1" indent="-22796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62610" algn="l"/>
              </a:tabLst>
            </a:pPr>
            <a:r>
              <a:rPr sz="1400" spc="50" dirty="0">
                <a:latin typeface="Century Gothic"/>
                <a:cs typeface="Century Gothic"/>
              </a:rPr>
              <a:t>Embedding</a:t>
            </a:r>
            <a:r>
              <a:rPr sz="1400" spc="8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weight</a:t>
            </a:r>
            <a:r>
              <a:rPr sz="1400" dirty="0">
                <a:latin typeface="Malgun Gothic"/>
                <a:cs typeface="Malgun Gothic"/>
              </a:rPr>
              <a:t>의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45" dirty="0">
                <a:latin typeface="Century Gothic"/>
                <a:cs typeface="Century Gothic"/>
              </a:rPr>
              <a:t>sparsity</a:t>
            </a:r>
            <a:r>
              <a:rPr sz="1400" spc="45" dirty="0">
                <a:latin typeface="Malgun Gothic"/>
                <a:cs typeface="Malgun Gothic"/>
              </a:rPr>
              <a:t>를</a:t>
            </a:r>
            <a:r>
              <a:rPr sz="1400" spc="-25" dirty="0">
                <a:latin typeface="Malgun Gothic"/>
                <a:cs typeface="Malgun Gothic"/>
              </a:rPr>
              <a:t> 높임</a:t>
            </a:r>
            <a:endParaRPr sz="1400">
              <a:latin typeface="Malgun Gothic"/>
              <a:cs typeface="Malgun Gothic"/>
            </a:endParaRPr>
          </a:p>
          <a:p>
            <a:pPr marL="850265" lvl="2" indent="-227965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850265" algn="l"/>
              </a:tabLst>
            </a:pPr>
            <a:r>
              <a:rPr sz="1400" dirty="0">
                <a:latin typeface="Malgun Gothic"/>
                <a:cs typeface="Malgun Gothic"/>
              </a:rPr>
              <a:t>중요하지</a:t>
            </a:r>
            <a:r>
              <a:rPr sz="1400" spc="-1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않은</a:t>
            </a:r>
            <a:r>
              <a:rPr sz="1400" spc="-1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단어는</a:t>
            </a:r>
            <a:r>
              <a:rPr sz="1400" spc="-130" dirty="0">
                <a:latin typeface="Malgun Gothic"/>
                <a:cs typeface="Malgun Gothic"/>
              </a:rPr>
              <a:t> </a:t>
            </a:r>
            <a:r>
              <a:rPr sz="1400" spc="70" dirty="0">
                <a:latin typeface="Century Gothic"/>
                <a:cs typeface="Century Gothic"/>
              </a:rPr>
              <a:t>0</a:t>
            </a:r>
            <a:r>
              <a:rPr sz="1400" spc="70" dirty="0">
                <a:latin typeface="Malgun Gothic"/>
                <a:cs typeface="Malgun Gothic"/>
              </a:rPr>
              <a:t>에</a:t>
            </a:r>
            <a:r>
              <a:rPr sz="1400" spc="-1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가깝게</a:t>
            </a:r>
            <a:r>
              <a:rPr sz="1400" spc="-13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정규화</a:t>
            </a:r>
            <a:endParaRPr sz="1400">
              <a:latin typeface="Malgun Gothic"/>
              <a:cs typeface="Malgun Gothic"/>
            </a:endParaRPr>
          </a:p>
          <a:p>
            <a:pPr marL="562610" lvl="1" indent="-2279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562610" algn="l"/>
              </a:tabLst>
            </a:pPr>
            <a:r>
              <a:rPr sz="1400" spc="135" dirty="0">
                <a:latin typeface="Century Gothic"/>
                <a:cs typeface="Century Gothic"/>
              </a:rPr>
              <a:t>Sum</a:t>
            </a:r>
            <a:r>
              <a:rPr sz="1400" spc="-20" dirty="0">
                <a:latin typeface="Century Gothic"/>
                <a:cs typeface="Century Gothic"/>
              </a:rPr>
              <a:t> </a:t>
            </a:r>
            <a:r>
              <a:rPr sz="1400" spc="-10" dirty="0">
                <a:latin typeface="Century Gothic"/>
                <a:cs typeface="Century Gothic"/>
              </a:rPr>
              <a:t>pooling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5380" y="4488179"/>
            <a:ext cx="1350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entury Gothic"/>
                <a:cs typeface="Century Gothic"/>
              </a:rPr>
              <a:t>Max</a:t>
            </a:r>
            <a:r>
              <a:rPr sz="1400" spc="-55" dirty="0">
                <a:latin typeface="Century Gothic"/>
                <a:cs typeface="Century Gothic"/>
              </a:rPr>
              <a:t> </a:t>
            </a:r>
            <a:r>
              <a:rPr sz="1400" spc="-10" dirty="0">
                <a:latin typeface="Century Gothic"/>
                <a:cs typeface="Century Gothic"/>
              </a:rPr>
              <a:t>pooling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3435" y="5344123"/>
            <a:ext cx="1831975" cy="90741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entury Gothic"/>
                <a:cs typeface="Century Gothic"/>
              </a:rPr>
              <a:t>Score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spc="35" dirty="0">
                <a:latin typeface="Century Gothic"/>
                <a:cs typeface="Century Gothic"/>
              </a:rPr>
              <a:t>function</a:t>
            </a:r>
            <a:endParaRPr sz="1700">
              <a:latin typeface="Century Gothic"/>
              <a:cs typeface="Century Gothic"/>
            </a:endParaRPr>
          </a:p>
          <a:p>
            <a:pPr marL="562610" lvl="1" indent="-227965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562610" algn="l"/>
              </a:tabLst>
            </a:pPr>
            <a:r>
              <a:rPr sz="1400" spc="55" dirty="0">
                <a:latin typeface="Century Gothic"/>
                <a:cs typeface="Century Gothic"/>
              </a:rPr>
              <a:t>Dot-</a:t>
            </a:r>
            <a:r>
              <a:rPr sz="1400" spc="-10" dirty="0">
                <a:latin typeface="Century Gothic"/>
                <a:cs typeface="Century Gothic"/>
              </a:rPr>
              <a:t>product</a:t>
            </a:r>
            <a:endParaRPr sz="1400">
              <a:latin typeface="Century Gothic"/>
              <a:cs typeface="Century Gothic"/>
            </a:endParaRPr>
          </a:p>
          <a:p>
            <a:pPr marL="562610" lvl="1" indent="-22796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62610" algn="l"/>
              </a:tabLst>
            </a:pPr>
            <a:r>
              <a:rPr sz="1400" spc="114" dirty="0">
                <a:latin typeface="Century Gothic"/>
                <a:cs typeface="Century Gothic"/>
              </a:rPr>
              <a:t>SPLADE-</a:t>
            </a:r>
            <a:r>
              <a:rPr sz="1400" spc="-20" dirty="0">
                <a:latin typeface="Century Gothic"/>
                <a:cs typeface="Century Gothic"/>
              </a:rPr>
              <a:t>doc: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4208" y="3987831"/>
            <a:ext cx="3076405" cy="58251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09234" y="1479575"/>
            <a:ext cx="4379339" cy="69933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8589" y="4883806"/>
            <a:ext cx="2996847" cy="376227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778084" y="6228588"/>
            <a:ext cx="3878579" cy="2603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198120">
              <a:lnSpc>
                <a:spcPts val="890"/>
              </a:lnSpc>
              <a:spcBef>
                <a:spcPts val="185"/>
              </a:spcBef>
            </a:pPr>
            <a:r>
              <a:rPr sz="800" spc="-45" dirty="0">
                <a:latin typeface="Montserrat"/>
                <a:cs typeface="Montserrat"/>
              </a:rPr>
              <a:t>SPLADE: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35" dirty="0">
                <a:latin typeface="Montserrat"/>
                <a:cs typeface="Montserrat"/>
              </a:rPr>
              <a:t>Sparse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Lexical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35" dirty="0">
                <a:latin typeface="Montserrat"/>
                <a:cs typeface="Montserrat"/>
              </a:rPr>
              <a:t>and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Expansion</a:t>
            </a:r>
            <a:r>
              <a:rPr sz="800" spc="-35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Model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30" dirty="0">
                <a:latin typeface="Montserrat"/>
                <a:cs typeface="Montserrat"/>
              </a:rPr>
              <a:t>for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30" dirty="0">
                <a:latin typeface="Montserrat"/>
                <a:cs typeface="Montserrat"/>
              </a:rPr>
              <a:t>First</a:t>
            </a:r>
            <a:r>
              <a:rPr sz="800" spc="-10" dirty="0">
                <a:latin typeface="Montserrat"/>
                <a:cs typeface="Montserrat"/>
              </a:rPr>
              <a:t> </a:t>
            </a:r>
            <a:r>
              <a:rPr sz="800" spc="-35" dirty="0">
                <a:latin typeface="Montserrat"/>
                <a:cs typeface="Montserrat"/>
              </a:rPr>
              <a:t>Stage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Ranking,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SIGIR21’ </a:t>
            </a:r>
            <a:r>
              <a:rPr sz="800" spc="-45" dirty="0">
                <a:latin typeface="Montserrat"/>
                <a:cs typeface="Montserrat"/>
              </a:rPr>
              <a:t>SPLADE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30" dirty="0">
                <a:latin typeface="Montserrat"/>
                <a:cs typeface="Montserrat"/>
              </a:rPr>
              <a:t>v2:</a:t>
            </a:r>
            <a:r>
              <a:rPr sz="800" spc="10" dirty="0">
                <a:latin typeface="Montserrat"/>
                <a:cs typeface="Montserrat"/>
              </a:rPr>
              <a:t> </a:t>
            </a:r>
            <a:r>
              <a:rPr sz="800" spc="-35" dirty="0">
                <a:latin typeface="Montserrat"/>
                <a:cs typeface="Montserrat"/>
              </a:rPr>
              <a:t>Sparse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Lexical</a:t>
            </a:r>
            <a:r>
              <a:rPr sz="800" spc="10" dirty="0">
                <a:latin typeface="Montserrat"/>
                <a:cs typeface="Montserrat"/>
              </a:rPr>
              <a:t> </a:t>
            </a:r>
            <a:r>
              <a:rPr sz="800" spc="-35" dirty="0">
                <a:latin typeface="Montserrat"/>
                <a:cs typeface="Montserrat"/>
              </a:rPr>
              <a:t>and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Expansion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Model</a:t>
            </a:r>
            <a:r>
              <a:rPr sz="800" spc="10" dirty="0">
                <a:latin typeface="Montserrat"/>
                <a:cs typeface="Montserrat"/>
              </a:rPr>
              <a:t> </a:t>
            </a:r>
            <a:r>
              <a:rPr sz="800" spc="-30" dirty="0">
                <a:latin typeface="Montserrat"/>
                <a:cs typeface="Montserrat"/>
              </a:rPr>
              <a:t>for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40" dirty="0">
                <a:latin typeface="Montserrat"/>
                <a:cs typeface="Montserrat"/>
              </a:rPr>
              <a:t>Information</a:t>
            </a:r>
            <a:r>
              <a:rPr sz="800" spc="-30" dirty="0">
                <a:latin typeface="Montserrat"/>
                <a:cs typeface="Montserrat"/>
              </a:rPr>
              <a:t> </a:t>
            </a:r>
            <a:r>
              <a:rPr sz="800" spc="-35" dirty="0">
                <a:latin typeface="Montserrat"/>
                <a:cs typeface="Montserrat"/>
              </a:rPr>
              <a:t>Retrieval,</a:t>
            </a:r>
            <a:r>
              <a:rPr sz="800" spc="1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Arxiv22’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59655" y="1601500"/>
            <a:ext cx="1722724" cy="24165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2847" y="2002160"/>
            <a:ext cx="5088844" cy="35299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95650" y="6190743"/>
            <a:ext cx="1363608" cy="51484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22943" y="3700047"/>
            <a:ext cx="3393043" cy="76700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16365" y="5742443"/>
            <a:ext cx="3300010" cy="311811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3929379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75" dirty="0">
                <a:latin typeface="Century Gothic"/>
                <a:cs typeface="Century Gothic"/>
              </a:rPr>
              <a:t>Multi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Vector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060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145" dirty="0">
                <a:latin typeface="Century Gothic"/>
                <a:cs typeface="Century Gothic"/>
              </a:rPr>
              <a:t>ColBERT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5380" y="6128511"/>
            <a:ext cx="18046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900" dirty="0">
                <a:latin typeface="Century Gothic"/>
                <a:cs typeface="Century Gothic"/>
              </a:rPr>
              <a:t>Doc-</a:t>
            </a:r>
            <a:r>
              <a:rPr sz="1900" spc="-10" dirty="0">
                <a:latin typeface="Century Gothic"/>
                <a:cs typeface="Century Gothic"/>
              </a:rPr>
              <a:t>product</a:t>
            </a:r>
            <a:endParaRPr sz="19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0486" y="6326123"/>
            <a:ext cx="5194300" cy="26352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845819" marR="5080" indent="-833755">
              <a:lnSpc>
                <a:spcPts val="910"/>
              </a:lnSpc>
              <a:spcBef>
                <a:spcPts val="170"/>
              </a:spcBef>
            </a:pPr>
            <a:r>
              <a:rPr sz="800" spc="-10" dirty="0">
                <a:latin typeface="Montserrat"/>
                <a:cs typeface="Montserrat"/>
              </a:rPr>
              <a:t>ColBERT: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Efficient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and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Effective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Passage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Search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via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Contextualized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Late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Interaction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over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BERT, SIGIR20’ </a:t>
            </a:r>
            <a:r>
              <a:rPr sz="800" dirty="0">
                <a:latin typeface="Montserrat"/>
                <a:cs typeface="Montserrat"/>
              </a:rPr>
              <a:t>On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Approximate Nearest Neighbour Selection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10" dirty="0">
                <a:latin typeface="Montserrat"/>
                <a:cs typeface="Montserrat"/>
              </a:rPr>
              <a:t> Multi-Stage Dense </a:t>
            </a:r>
            <a:r>
              <a:rPr sz="800" spc="-20" dirty="0">
                <a:latin typeface="Montserrat"/>
                <a:cs typeface="Montserrat"/>
              </a:rPr>
              <a:t>Retrieval,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CIKM21’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8161" y="1812401"/>
            <a:ext cx="2692578" cy="69466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6171" y="2722825"/>
            <a:ext cx="758721" cy="22648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23240" y="2643123"/>
            <a:ext cx="6348730" cy="3415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7825">
              <a:lnSpc>
                <a:spcPct val="100000"/>
              </a:lnSpc>
              <a:spcBef>
                <a:spcPts val="100"/>
              </a:spcBef>
            </a:pPr>
            <a:r>
              <a:rPr sz="1600" spc="35" dirty="0">
                <a:latin typeface="Cambria Math"/>
                <a:cs typeface="Cambria Math"/>
              </a:rPr>
              <a:t>max</a:t>
            </a:r>
            <a:r>
              <a:rPr sz="1800" spc="52" baseline="-13888" dirty="0">
                <a:latin typeface="Cambria Math"/>
                <a:cs typeface="Cambria Math"/>
              </a:rPr>
              <a:t>j</a:t>
            </a:r>
            <a:r>
              <a:rPr sz="1600" spc="35" dirty="0">
                <a:latin typeface="Cambria Math"/>
                <a:cs typeface="Cambria Math"/>
              </a:rPr>
              <a:t>(𝐪</a:t>
            </a:r>
            <a:r>
              <a:rPr sz="1800" spc="52" baseline="-13888" dirty="0">
                <a:latin typeface="Cambria Math"/>
                <a:cs typeface="Cambria Math"/>
              </a:rPr>
              <a:t>𝑖</a:t>
            </a:r>
            <a:r>
              <a:rPr sz="1600" spc="35" dirty="0">
                <a:latin typeface="Cambria Math"/>
                <a:cs typeface="Cambria Math"/>
              </a:rPr>
              <a:t>𝐝</a:t>
            </a:r>
            <a:r>
              <a:rPr sz="1800" spc="52" baseline="-13888" dirty="0">
                <a:latin typeface="Cambria Math"/>
                <a:cs typeface="Cambria Math"/>
              </a:rPr>
              <a:t>j</a:t>
            </a:r>
            <a:r>
              <a:rPr sz="1600" spc="35" dirty="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600">
              <a:latin typeface="Cambria Math"/>
              <a:cs typeface="Cambria Math"/>
            </a:endParaRPr>
          </a:p>
          <a:p>
            <a:pPr marL="530860" indent="-228600">
              <a:lnSpc>
                <a:spcPct val="100000"/>
              </a:lnSpc>
              <a:buFont typeface="Arial"/>
              <a:buChar char="•"/>
              <a:tabLst>
                <a:tab pos="530860" algn="l"/>
              </a:tabLst>
            </a:pPr>
            <a:r>
              <a:rPr sz="2200" spc="85" dirty="0">
                <a:latin typeface="Century Gothic"/>
                <a:cs typeface="Century Gothic"/>
              </a:rPr>
              <a:t>Training:</a:t>
            </a:r>
            <a:r>
              <a:rPr sz="2200" spc="-15" dirty="0">
                <a:latin typeface="Century Gothic"/>
                <a:cs typeface="Century Gothic"/>
              </a:rPr>
              <a:t> </a:t>
            </a:r>
            <a:r>
              <a:rPr sz="2200" spc="130" dirty="0">
                <a:latin typeface="Century Gothic"/>
                <a:cs typeface="Century Gothic"/>
              </a:rPr>
              <a:t>in-</a:t>
            </a:r>
            <a:r>
              <a:rPr sz="2200" spc="-50" dirty="0">
                <a:latin typeface="Century Gothic"/>
                <a:cs typeface="Century Gothic"/>
              </a:rPr>
              <a:t>batch,</a:t>
            </a:r>
            <a:r>
              <a:rPr sz="2200" spc="-10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hard</a:t>
            </a:r>
            <a:r>
              <a:rPr sz="2200" spc="-10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negative</a:t>
            </a:r>
            <a:r>
              <a:rPr sz="2200" spc="-10" dirty="0">
                <a:latin typeface="Century Gothic"/>
                <a:cs typeface="Century Gothic"/>
              </a:rPr>
              <a:t> </a:t>
            </a:r>
            <a:r>
              <a:rPr sz="2200" spc="60" dirty="0">
                <a:latin typeface="Century Gothic"/>
                <a:cs typeface="Century Gothic"/>
              </a:rPr>
              <a:t>samples</a:t>
            </a:r>
            <a:endParaRPr sz="2200">
              <a:latin typeface="Century Gothic"/>
              <a:cs typeface="Century Gothic"/>
            </a:endParaRPr>
          </a:p>
          <a:p>
            <a:pPr marL="253365" indent="-227965">
              <a:lnSpc>
                <a:spcPct val="100000"/>
              </a:lnSpc>
              <a:spcBef>
                <a:spcPts val="1270"/>
              </a:spcBef>
              <a:buFont typeface="Arial"/>
              <a:buChar char="•"/>
              <a:tabLst>
                <a:tab pos="253365" algn="l"/>
              </a:tabLst>
            </a:pPr>
            <a:r>
              <a:rPr sz="2200" spc="114" dirty="0">
                <a:latin typeface="Century Gothic"/>
                <a:cs typeface="Century Gothic"/>
              </a:rPr>
              <a:t>Multi-</a:t>
            </a:r>
            <a:r>
              <a:rPr sz="2200" dirty="0">
                <a:latin typeface="Century Gothic"/>
                <a:cs typeface="Century Gothic"/>
              </a:rPr>
              <a:t>stage</a:t>
            </a:r>
            <a:r>
              <a:rPr sz="2200" spc="140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Retrieval:</a:t>
            </a:r>
            <a:r>
              <a:rPr sz="2200" spc="140" dirty="0">
                <a:latin typeface="Century Gothic"/>
                <a:cs typeface="Century Gothic"/>
              </a:rPr>
              <a:t> </a:t>
            </a:r>
            <a:r>
              <a:rPr sz="2200" spc="60" dirty="0">
                <a:latin typeface="Century Gothic"/>
                <a:cs typeface="Century Gothic"/>
              </a:rPr>
              <a:t>ANN</a:t>
            </a:r>
            <a:endParaRPr sz="2200">
              <a:latin typeface="Century Gothic"/>
              <a:cs typeface="Century Gothic"/>
            </a:endParaRPr>
          </a:p>
          <a:p>
            <a:pPr marL="530860" lvl="1" indent="-2286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530860" algn="l"/>
              </a:tabLst>
            </a:pPr>
            <a:r>
              <a:rPr sz="2200" dirty="0">
                <a:latin typeface="Century Gothic"/>
                <a:cs typeface="Century Gothic"/>
              </a:rPr>
              <a:t>Approximately</a:t>
            </a:r>
            <a:r>
              <a:rPr sz="2200" spc="240" dirty="0">
                <a:latin typeface="Century Gothic"/>
                <a:cs typeface="Century Gothic"/>
              </a:rPr>
              <a:t> </a:t>
            </a:r>
            <a:r>
              <a:rPr sz="2200" spc="45" dirty="0">
                <a:latin typeface="Century Gothic"/>
                <a:cs typeface="Century Gothic"/>
              </a:rPr>
              <a:t>Nearest</a:t>
            </a:r>
            <a:r>
              <a:rPr sz="2200" spc="245" dirty="0">
                <a:latin typeface="Century Gothic"/>
                <a:cs typeface="Century Gothic"/>
              </a:rPr>
              <a:t> </a:t>
            </a:r>
            <a:r>
              <a:rPr sz="2200" spc="50" dirty="0">
                <a:latin typeface="Century Gothic"/>
                <a:cs typeface="Century Gothic"/>
              </a:rPr>
              <a:t>Neighbor</a:t>
            </a:r>
            <a:endParaRPr sz="2200">
              <a:latin typeface="Century Gothic"/>
              <a:cs typeface="Century Gothic"/>
            </a:endParaRPr>
          </a:p>
          <a:p>
            <a:pPr marL="852805" lvl="2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852805" algn="l"/>
              </a:tabLst>
            </a:pPr>
            <a:r>
              <a:rPr sz="1900" spc="75" dirty="0">
                <a:latin typeface="Century Gothic"/>
                <a:cs typeface="Century Gothic"/>
              </a:rPr>
              <a:t>Faiss,</a:t>
            </a:r>
            <a:r>
              <a:rPr sz="1900" spc="-20" dirty="0">
                <a:latin typeface="Century Gothic"/>
                <a:cs typeface="Century Gothic"/>
              </a:rPr>
              <a:t> </a:t>
            </a:r>
            <a:r>
              <a:rPr sz="1900" dirty="0">
                <a:latin typeface="Century Gothic"/>
                <a:cs typeface="Century Gothic"/>
              </a:rPr>
              <a:t>ScaNN,</a:t>
            </a:r>
            <a:r>
              <a:rPr sz="1900" spc="-20" dirty="0">
                <a:latin typeface="Century Gothic"/>
                <a:cs typeface="Century Gothic"/>
              </a:rPr>
              <a:t> </a:t>
            </a:r>
            <a:r>
              <a:rPr sz="1900" spc="-735" dirty="0">
                <a:latin typeface="Century Gothic"/>
                <a:cs typeface="Century Gothic"/>
              </a:rPr>
              <a:t>…</a:t>
            </a:r>
            <a:endParaRPr sz="1900">
              <a:latin typeface="Century Gothic"/>
              <a:cs typeface="Century Gothic"/>
            </a:endParaRPr>
          </a:p>
          <a:p>
            <a:pPr marL="530860" lvl="1" indent="-228600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530860" algn="l"/>
              </a:tabLst>
            </a:pPr>
            <a:r>
              <a:rPr sz="2200" dirty="0">
                <a:latin typeface="Century Gothic"/>
                <a:cs typeface="Century Gothic"/>
              </a:rPr>
              <a:t>1st-</a:t>
            </a:r>
            <a:r>
              <a:rPr sz="2200" spc="-20" dirty="0">
                <a:latin typeface="Century Gothic"/>
                <a:cs typeface="Century Gothic"/>
              </a:rPr>
              <a:t>stage</a:t>
            </a:r>
            <a:endParaRPr sz="2200">
              <a:latin typeface="Century Gothic"/>
              <a:cs typeface="Century Gothic"/>
            </a:endParaRPr>
          </a:p>
          <a:p>
            <a:pPr marL="852805" lvl="2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852805" algn="l"/>
              </a:tabLst>
            </a:pPr>
            <a:r>
              <a:rPr sz="1900" spc="114" dirty="0">
                <a:latin typeface="Century Gothic"/>
                <a:cs typeface="Century Gothic"/>
              </a:rPr>
              <a:t>Faiss</a:t>
            </a:r>
            <a:r>
              <a:rPr sz="1900" spc="-40" dirty="0">
                <a:latin typeface="Century Gothic"/>
                <a:cs typeface="Century Gothic"/>
              </a:rPr>
              <a:t> </a:t>
            </a:r>
            <a:r>
              <a:rPr sz="1900" spc="70" dirty="0">
                <a:latin typeface="Century Gothic"/>
                <a:cs typeface="Century Gothic"/>
              </a:rPr>
              <a:t>IVFPQ:</a:t>
            </a:r>
            <a:r>
              <a:rPr sz="1900" spc="-40" dirty="0">
                <a:latin typeface="Century Gothic"/>
                <a:cs typeface="Century Gothic"/>
              </a:rPr>
              <a:t> </a:t>
            </a:r>
            <a:r>
              <a:rPr sz="1900" dirty="0">
                <a:latin typeface="Century Gothic"/>
                <a:cs typeface="Century Gothic"/>
              </a:rPr>
              <a:t>vector</a:t>
            </a:r>
            <a:r>
              <a:rPr sz="1900" spc="-35" dirty="0">
                <a:latin typeface="Century Gothic"/>
                <a:cs typeface="Century Gothic"/>
              </a:rPr>
              <a:t> </a:t>
            </a:r>
            <a:r>
              <a:rPr sz="1900" spc="-10" dirty="0">
                <a:latin typeface="Century Gothic"/>
                <a:cs typeface="Century Gothic"/>
              </a:rPr>
              <a:t>quantization</a:t>
            </a:r>
            <a:endParaRPr sz="1900">
              <a:latin typeface="Century Gothic"/>
              <a:cs typeface="Century Gothic"/>
            </a:endParaRPr>
          </a:p>
          <a:p>
            <a:pPr marL="530860" lvl="1" indent="-228600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530860" algn="l"/>
              </a:tabLst>
            </a:pPr>
            <a:r>
              <a:rPr sz="2200" spc="55" dirty="0">
                <a:latin typeface="Century Gothic"/>
                <a:cs typeface="Century Gothic"/>
              </a:rPr>
              <a:t>2nd-</a:t>
            </a:r>
            <a:r>
              <a:rPr sz="2200" spc="-10" dirty="0">
                <a:latin typeface="Century Gothic"/>
                <a:cs typeface="Century Gothic"/>
              </a:rPr>
              <a:t>stage</a:t>
            </a:r>
            <a:endParaRPr sz="2200">
              <a:latin typeface="Century Gothic"/>
              <a:cs typeface="Century Gothic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06316" y="3691443"/>
            <a:ext cx="6281971" cy="254834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8045" y="634922"/>
            <a:ext cx="4176260" cy="294865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38" y="536955"/>
            <a:ext cx="4255135" cy="160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75" dirty="0">
                <a:latin typeface="Century Gothic"/>
                <a:cs typeface="Century Gothic"/>
              </a:rPr>
              <a:t>Multi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Vector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20" dirty="0">
                <a:latin typeface="Century Gothic"/>
                <a:cs typeface="Century Gothic"/>
              </a:rPr>
              <a:t>SCV:</a:t>
            </a:r>
            <a:r>
              <a:rPr sz="2400" spc="45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Sequence</a:t>
            </a:r>
            <a:r>
              <a:rPr sz="1400" spc="2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Compressive</a:t>
            </a:r>
            <a:r>
              <a:rPr sz="1400" spc="25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Vectors,</a:t>
            </a:r>
            <a:r>
              <a:rPr sz="1400" spc="20" dirty="0">
                <a:latin typeface="Century Gothic"/>
                <a:cs typeface="Century Gothic"/>
              </a:rPr>
              <a:t> </a:t>
            </a:r>
            <a:r>
              <a:rPr sz="1400" spc="145" dirty="0">
                <a:latin typeface="Century Gothic"/>
                <a:cs typeface="Century Gothic"/>
              </a:rPr>
              <a:t>SKT</a:t>
            </a:r>
            <a:endParaRPr sz="1400">
              <a:latin typeface="Century Gothic"/>
              <a:cs typeface="Century Gothic"/>
            </a:endParaRPr>
          </a:p>
          <a:p>
            <a:pPr marL="517525" lvl="1" indent="-227329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517525" algn="l"/>
              </a:tabLst>
            </a:pPr>
            <a:r>
              <a:rPr sz="2400" dirty="0">
                <a:latin typeface="Century Gothic"/>
                <a:cs typeface="Century Gothic"/>
              </a:rPr>
              <a:t>Score</a:t>
            </a:r>
            <a:r>
              <a:rPr sz="2400" spc="5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function: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3433" y="3257803"/>
            <a:ext cx="337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entury Gothic"/>
                <a:cs typeface="Century Gothic"/>
              </a:rPr>
              <a:t>Span</a:t>
            </a:r>
            <a:r>
              <a:rPr sz="2400" spc="120" dirty="0">
                <a:latin typeface="Century Gothic"/>
                <a:cs typeface="Century Gothic"/>
              </a:rPr>
              <a:t> </a:t>
            </a:r>
            <a:r>
              <a:rPr sz="2400" spc="40" dirty="0">
                <a:latin typeface="Century Gothic"/>
                <a:cs typeface="Century Gothic"/>
              </a:rPr>
              <a:t>representation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1638" y="2300291"/>
            <a:ext cx="2815956" cy="6522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21584" y="1691960"/>
            <a:ext cx="4940020" cy="345399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4431" y="3927027"/>
            <a:ext cx="3096630" cy="2083895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4343400" y="6377940"/>
            <a:ext cx="7239000" cy="503085"/>
          </a:xfrm>
          <a:prstGeom prst="rect">
            <a:avLst/>
          </a:prstGeom>
        </p:spPr>
        <p:txBody>
          <a:bodyPr vert="horz" wrap="square" lIns="0" tIns="76580" rIns="0" bIns="0" rtlCol="0">
            <a:spAutoFit/>
          </a:bodyPr>
          <a:lstStyle/>
          <a:p>
            <a:pPr marL="1619250">
              <a:lnSpc>
                <a:spcPct val="100000"/>
              </a:lnSpc>
              <a:spcBef>
                <a:spcPts val="75"/>
              </a:spcBef>
            </a:pPr>
            <a:r>
              <a:rPr sz="800" spc="-20" dirty="0">
                <a:solidFill>
                  <a:srgbClr val="000000"/>
                </a:solidFill>
                <a:latin typeface="Century Gothic"/>
                <a:cs typeface="Century Gothic"/>
              </a:rPr>
              <a:t>SCV:</a:t>
            </a:r>
            <a:r>
              <a:rPr sz="800" spc="50" dirty="0">
                <a:solidFill>
                  <a:srgbClr val="000000"/>
                </a:solidFill>
                <a:latin typeface="Century Gothic"/>
                <a:cs typeface="Century Gothic"/>
              </a:rPr>
              <a:t> Light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and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Effective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Multi-Vector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Retrieval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with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Sequence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Compressive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Vectors,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Century Gothic"/>
                <a:cs typeface="Century Gothic"/>
              </a:rPr>
              <a:t>kcc24’</a:t>
            </a:r>
            <a:endParaRPr sz="800" dirty="0">
              <a:latin typeface="Century Gothic"/>
              <a:cs typeface="Century Gothic"/>
            </a:endParaRPr>
          </a:p>
          <a:p>
            <a:pPr marL="1606550" marR="43180" algn="r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38" y="536955"/>
            <a:ext cx="3929379" cy="146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75" dirty="0">
                <a:latin typeface="Century Gothic"/>
                <a:cs typeface="Century Gothic"/>
              </a:rPr>
              <a:t>Multi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Vector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26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-10" dirty="0">
                <a:latin typeface="Century Gothic"/>
                <a:cs typeface="Century Gothic"/>
              </a:rPr>
              <a:t>SCV:</a:t>
            </a:r>
            <a:r>
              <a:rPr sz="20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Sequence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Compressive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Vectors,</a:t>
            </a:r>
            <a:r>
              <a:rPr sz="1200" spc="15" dirty="0">
                <a:latin typeface="Century Gothic"/>
                <a:cs typeface="Century Gothic"/>
              </a:rPr>
              <a:t> </a:t>
            </a:r>
            <a:r>
              <a:rPr sz="1200" spc="120" dirty="0">
                <a:latin typeface="Century Gothic"/>
                <a:cs typeface="Century Gothic"/>
              </a:rPr>
              <a:t>SKT</a:t>
            </a:r>
            <a:endParaRPr sz="1200">
              <a:latin typeface="Century Gothic"/>
              <a:cs typeface="Century Gothic"/>
            </a:endParaRPr>
          </a:p>
          <a:p>
            <a:pPr marL="518159" lvl="1" indent="-22796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518159" algn="l"/>
              </a:tabLst>
            </a:pPr>
            <a:r>
              <a:rPr sz="2000" spc="85" dirty="0">
                <a:latin typeface="Century Gothic"/>
                <a:cs typeface="Century Gothic"/>
              </a:rPr>
              <a:t>Single</a:t>
            </a:r>
            <a:r>
              <a:rPr sz="2000" spc="-2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vector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3433" y="2394429"/>
            <a:ext cx="1950085" cy="87058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35" dirty="0">
                <a:latin typeface="Century Gothic"/>
                <a:cs typeface="Century Gothic"/>
              </a:rPr>
              <a:t>Loss</a:t>
            </a:r>
            <a:r>
              <a:rPr sz="2000" spc="-20" dirty="0">
                <a:latin typeface="Century Gothic"/>
                <a:cs typeface="Century Gothic"/>
              </a:rPr>
              <a:t> </a:t>
            </a:r>
            <a:r>
              <a:rPr sz="2000" spc="40" dirty="0">
                <a:latin typeface="Century Gothic"/>
                <a:cs typeface="Century Gothic"/>
              </a:rPr>
              <a:t>function</a:t>
            </a:r>
            <a:endParaRPr sz="2000">
              <a:latin typeface="Century Gothic"/>
              <a:cs typeface="Century Gothic"/>
            </a:endParaRPr>
          </a:p>
          <a:p>
            <a:pPr marL="562610" lvl="1" indent="-228600">
              <a:lnSpc>
                <a:spcPct val="100000"/>
              </a:lnSpc>
              <a:spcBef>
                <a:spcPts val="995"/>
              </a:spcBef>
              <a:buFont typeface="Arial"/>
              <a:buChar char="•"/>
              <a:tabLst>
                <a:tab pos="562610" algn="l"/>
              </a:tabLst>
            </a:pPr>
            <a:r>
              <a:rPr sz="1800" spc="100" dirty="0">
                <a:latin typeface="Century Gothic"/>
                <a:cs typeface="Century Gothic"/>
              </a:rPr>
              <a:t>In-</a:t>
            </a:r>
            <a:r>
              <a:rPr sz="1800" spc="-10" dirty="0">
                <a:latin typeface="Century Gothic"/>
                <a:cs typeface="Century Gothic"/>
              </a:rPr>
              <a:t>batch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5378" y="3251708"/>
            <a:ext cx="1994535" cy="787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90" dirty="0">
                <a:latin typeface="Century Gothic"/>
                <a:cs typeface="Century Gothic"/>
              </a:rPr>
              <a:t>Pre-</a:t>
            </a:r>
            <a:r>
              <a:rPr sz="1800" spc="-20" dirty="0">
                <a:latin typeface="Century Gothic"/>
                <a:cs typeface="Century Gothic"/>
              </a:rPr>
              <a:t>batch</a:t>
            </a:r>
            <a:endParaRPr sz="1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55" dirty="0">
                <a:latin typeface="Century Gothic"/>
                <a:cs typeface="Century Gothic"/>
              </a:rPr>
              <a:t>Hard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negatives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3433" y="4857213"/>
            <a:ext cx="2797175" cy="166052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110" dirty="0">
                <a:latin typeface="Century Gothic"/>
                <a:cs typeface="Century Gothic"/>
              </a:rPr>
              <a:t>Multi-</a:t>
            </a:r>
            <a:r>
              <a:rPr sz="2000" spc="75" dirty="0">
                <a:latin typeface="Century Gothic"/>
                <a:cs typeface="Century Gothic"/>
              </a:rPr>
              <a:t>task</a:t>
            </a:r>
            <a:r>
              <a:rPr sz="2000" dirty="0">
                <a:latin typeface="Century Gothic"/>
                <a:cs typeface="Century Gothic"/>
              </a:rPr>
              <a:t> </a:t>
            </a:r>
            <a:r>
              <a:rPr sz="2000" spc="40" dirty="0">
                <a:latin typeface="Century Gothic"/>
                <a:cs typeface="Century Gothic"/>
              </a:rPr>
              <a:t>learning</a:t>
            </a:r>
            <a:endParaRPr sz="2000">
              <a:latin typeface="Century Gothic"/>
              <a:cs typeface="Century Gothic"/>
            </a:endParaRPr>
          </a:p>
          <a:p>
            <a:pPr marL="562610" lvl="1" indent="-228600">
              <a:lnSpc>
                <a:spcPct val="100000"/>
              </a:lnSpc>
              <a:spcBef>
                <a:spcPts val="995"/>
              </a:spcBef>
              <a:buFont typeface="Arial"/>
              <a:buChar char="•"/>
              <a:tabLst>
                <a:tab pos="562610" algn="l"/>
              </a:tabLst>
            </a:pPr>
            <a:r>
              <a:rPr sz="1800" dirty="0">
                <a:latin typeface="Century Gothic"/>
                <a:cs typeface="Century Gothic"/>
              </a:rPr>
              <a:t>SCV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spc="80" dirty="0">
                <a:latin typeface="Century Gothic"/>
                <a:cs typeface="Century Gothic"/>
              </a:rPr>
              <a:t>loss</a:t>
            </a:r>
            <a:endParaRPr sz="1800">
              <a:latin typeface="Century Gothic"/>
              <a:cs typeface="Century Gothic"/>
            </a:endParaRPr>
          </a:p>
          <a:p>
            <a:pPr marL="562610" lvl="1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62610" algn="l"/>
              </a:tabLst>
            </a:pPr>
            <a:r>
              <a:rPr sz="1800" spc="80" dirty="0">
                <a:latin typeface="Century Gothic"/>
                <a:cs typeface="Century Gothic"/>
              </a:rPr>
              <a:t>Token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spc="50" dirty="0">
                <a:latin typeface="Century Gothic"/>
                <a:cs typeface="Century Gothic"/>
              </a:rPr>
              <a:t>retriever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80" dirty="0">
                <a:latin typeface="Century Gothic"/>
                <a:cs typeface="Century Gothic"/>
              </a:rPr>
              <a:t>loss</a:t>
            </a:r>
            <a:endParaRPr sz="1800">
              <a:latin typeface="Century Gothic"/>
              <a:cs typeface="Century Gothic"/>
            </a:endParaRPr>
          </a:p>
          <a:p>
            <a:pPr marL="562610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62610" algn="l"/>
              </a:tabLst>
            </a:pPr>
            <a:r>
              <a:rPr sz="1800" spc="75" dirty="0">
                <a:latin typeface="Century Gothic"/>
                <a:cs typeface="Century Gothic"/>
              </a:rPr>
              <a:t>Single</a:t>
            </a:r>
            <a:r>
              <a:rPr sz="1800" spc="-4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vector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spc="80" dirty="0">
                <a:latin typeface="Century Gothic"/>
                <a:cs typeface="Century Gothic"/>
              </a:rPr>
              <a:t>loss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5597" y="1807163"/>
            <a:ext cx="2100034" cy="64020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56465" y="5881567"/>
            <a:ext cx="3030704" cy="26860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62326" y="3899028"/>
            <a:ext cx="4473773" cy="248083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559006" y="3529076"/>
            <a:ext cx="1241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0" dirty="0">
                <a:latin typeface="Century Gothic"/>
                <a:cs typeface="Century Gothic"/>
              </a:rPr>
              <a:t>MrTyDI-</a:t>
            </a:r>
            <a:r>
              <a:rPr sz="1800" spc="45" dirty="0">
                <a:latin typeface="Century Gothic"/>
                <a:cs typeface="Century Gothic"/>
              </a:rPr>
              <a:t>Ko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046300" y="840046"/>
            <a:ext cx="4250055" cy="2345055"/>
            <a:chOff x="7046300" y="840046"/>
            <a:chExt cx="4250055" cy="234505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25655" y="840046"/>
              <a:ext cx="3239478" cy="23303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3562" y="854293"/>
              <a:ext cx="862090" cy="233039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052650" y="2645172"/>
              <a:ext cx="4182110" cy="200660"/>
            </a:xfrm>
            <a:custGeom>
              <a:avLst/>
              <a:gdLst/>
              <a:ahLst/>
              <a:cxnLst/>
              <a:rect l="l" t="t" r="r" b="b"/>
              <a:pathLst>
                <a:path w="4182109" h="200660">
                  <a:moveTo>
                    <a:pt x="0" y="33376"/>
                  </a:moveTo>
                  <a:lnTo>
                    <a:pt x="2622" y="20384"/>
                  </a:lnTo>
                  <a:lnTo>
                    <a:pt x="9775" y="9775"/>
                  </a:lnTo>
                  <a:lnTo>
                    <a:pt x="20384" y="2622"/>
                  </a:lnTo>
                  <a:lnTo>
                    <a:pt x="33375" y="0"/>
                  </a:lnTo>
                  <a:lnTo>
                    <a:pt x="4148426" y="0"/>
                  </a:lnTo>
                  <a:lnTo>
                    <a:pt x="4161417" y="2622"/>
                  </a:lnTo>
                  <a:lnTo>
                    <a:pt x="4172026" y="9775"/>
                  </a:lnTo>
                  <a:lnTo>
                    <a:pt x="4179179" y="20384"/>
                  </a:lnTo>
                  <a:lnTo>
                    <a:pt x="4181802" y="33376"/>
                  </a:lnTo>
                  <a:lnTo>
                    <a:pt x="4181802" y="166881"/>
                  </a:lnTo>
                  <a:lnTo>
                    <a:pt x="4179179" y="179873"/>
                  </a:lnTo>
                  <a:lnTo>
                    <a:pt x="4172026" y="190482"/>
                  </a:lnTo>
                  <a:lnTo>
                    <a:pt x="4161417" y="197635"/>
                  </a:lnTo>
                  <a:lnTo>
                    <a:pt x="4148426" y="200258"/>
                  </a:lnTo>
                  <a:lnTo>
                    <a:pt x="33375" y="200258"/>
                  </a:lnTo>
                  <a:lnTo>
                    <a:pt x="20384" y="197635"/>
                  </a:lnTo>
                  <a:lnTo>
                    <a:pt x="9775" y="190482"/>
                  </a:lnTo>
                  <a:lnTo>
                    <a:pt x="2622" y="179873"/>
                  </a:lnTo>
                  <a:lnTo>
                    <a:pt x="0" y="166881"/>
                  </a:lnTo>
                  <a:lnTo>
                    <a:pt x="0" y="33376"/>
                  </a:lnTo>
                  <a:close/>
                </a:path>
              </a:pathLst>
            </a:custGeom>
            <a:ln w="127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996400" y="2264989"/>
              <a:ext cx="300355" cy="506730"/>
            </a:xfrm>
            <a:custGeom>
              <a:avLst/>
              <a:gdLst/>
              <a:ahLst/>
              <a:cxnLst/>
              <a:rect l="l" t="t" r="r" b="b"/>
              <a:pathLst>
                <a:path w="300354" h="506730">
                  <a:moveTo>
                    <a:pt x="70468" y="430875"/>
                  </a:moveTo>
                  <a:lnTo>
                    <a:pt x="0" y="478753"/>
                  </a:lnTo>
                  <a:lnTo>
                    <a:pt x="80582" y="506401"/>
                  </a:lnTo>
                  <a:lnTo>
                    <a:pt x="76170" y="473453"/>
                  </a:lnTo>
                  <a:lnTo>
                    <a:pt x="63472" y="473453"/>
                  </a:lnTo>
                  <a:lnTo>
                    <a:pt x="62405" y="467193"/>
                  </a:lnTo>
                  <a:lnTo>
                    <a:pt x="75043" y="465040"/>
                  </a:lnTo>
                  <a:lnTo>
                    <a:pt x="70468" y="430875"/>
                  </a:lnTo>
                  <a:close/>
                </a:path>
                <a:path w="300354" h="506730">
                  <a:moveTo>
                    <a:pt x="75043" y="465040"/>
                  </a:moveTo>
                  <a:lnTo>
                    <a:pt x="62405" y="467193"/>
                  </a:lnTo>
                  <a:lnTo>
                    <a:pt x="63472" y="473453"/>
                  </a:lnTo>
                  <a:lnTo>
                    <a:pt x="75887" y="471338"/>
                  </a:lnTo>
                  <a:lnTo>
                    <a:pt x="75043" y="465040"/>
                  </a:lnTo>
                  <a:close/>
                </a:path>
                <a:path w="300354" h="506730">
                  <a:moveTo>
                    <a:pt x="75887" y="471338"/>
                  </a:moveTo>
                  <a:lnTo>
                    <a:pt x="63472" y="473453"/>
                  </a:lnTo>
                  <a:lnTo>
                    <a:pt x="76170" y="473453"/>
                  </a:lnTo>
                  <a:lnTo>
                    <a:pt x="75887" y="471338"/>
                  </a:lnTo>
                  <a:close/>
                </a:path>
                <a:path w="300354" h="506730">
                  <a:moveTo>
                    <a:pt x="14584" y="0"/>
                  </a:moveTo>
                  <a:lnTo>
                    <a:pt x="14305" y="5394"/>
                  </a:lnTo>
                  <a:lnTo>
                    <a:pt x="14257" y="6341"/>
                  </a:lnTo>
                  <a:lnTo>
                    <a:pt x="40582" y="7706"/>
                  </a:lnTo>
                  <a:lnTo>
                    <a:pt x="66540" y="11650"/>
                  </a:lnTo>
                  <a:lnTo>
                    <a:pt x="117005" y="26607"/>
                  </a:lnTo>
                  <a:lnTo>
                    <a:pt x="164021" y="49717"/>
                  </a:lnTo>
                  <a:lnTo>
                    <a:pt x="206340" y="79822"/>
                  </a:lnTo>
                  <a:lnTo>
                    <a:pt x="242075" y="115404"/>
                  </a:lnTo>
                  <a:lnTo>
                    <a:pt x="267739" y="152110"/>
                  </a:lnTo>
                  <a:lnTo>
                    <a:pt x="269581" y="155035"/>
                  </a:lnTo>
                  <a:lnTo>
                    <a:pt x="278617" y="173644"/>
                  </a:lnTo>
                  <a:lnTo>
                    <a:pt x="279744" y="175916"/>
                  </a:lnTo>
                  <a:lnTo>
                    <a:pt x="286690" y="195747"/>
                  </a:lnTo>
                  <a:lnTo>
                    <a:pt x="287251" y="197271"/>
                  </a:lnTo>
                  <a:lnTo>
                    <a:pt x="291733" y="218248"/>
                  </a:lnTo>
                  <a:lnTo>
                    <a:pt x="291909" y="218927"/>
                  </a:lnTo>
                  <a:lnTo>
                    <a:pt x="291895" y="262529"/>
                  </a:lnTo>
                  <a:lnTo>
                    <a:pt x="286904" y="284619"/>
                  </a:lnTo>
                  <a:lnTo>
                    <a:pt x="279199" y="305614"/>
                  </a:lnTo>
                  <a:lnTo>
                    <a:pt x="255198" y="346930"/>
                  </a:lnTo>
                  <a:lnTo>
                    <a:pt x="221848" y="384661"/>
                  </a:lnTo>
                  <a:lnTo>
                    <a:pt x="180607" y="417739"/>
                  </a:lnTo>
                  <a:lnTo>
                    <a:pt x="133064" y="444728"/>
                  </a:lnTo>
                  <a:lnTo>
                    <a:pt x="81479" y="463979"/>
                  </a:lnTo>
                  <a:lnTo>
                    <a:pt x="81271" y="463979"/>
                  </a:lnTo>
                  <a:lnTo>
                    <a:pt x="75043" y="465040"/>
                  </a:lnTo>
                  <a:lnTo>
                    <a:pt x="75887" y="471338"/>
                  </a:lnTo>
                  <a:lnTo>
                    <a:pt x="83233" y="470086"/>
                  </a:lnTo>
                  <a:lnTo>
                    <a:pt x="110055" y="461294"/>
                  </a:lnTo>
                  <a:lnTo>
                    <a:pt x="160638" y="437626"/>
                  </a:lnTo>
                  <a:lnTo>
                    <a:pt x="205967" y="406921"/>
                  </a:lnTo>
                  <a:lnTo>
                    <a:pt x="244316" y="370552"/>
                  </a:lnTo>
                  <a:lnTo>
                    <a:pt x="273949" y="329871"/>
                  </a:lnTo>
                  <a:lnTo>
                    <a:pt x="293082" y="286216"/>
                  </a:lnTo>
                  <a:lnTo>
                    <a:pt x="299862" y="241192"/>
                  </a:lnTo>
                  <a:lnTo>
                    <a:pt x="299861" y="240719"/>
                  </a:lnTo>
                  <a:lnTo>
                    <a:pt x="293418" y="195747"/>
                  </a:lnTo>
                  <a:lnTo>
                    <a:pt x="275220" y="152110"/>
                  </a:lnTo>
                  <a:lnTo>
                    <a:pt x="247028" y="111429"/>
                  </a:lnTo>
                  <a:lnTo>
                    <a:pt x="210532" y="75050"/>
                  </a:lnTo>
                  <a:lnTo>
                    <a:pt x="167386" y="44331"/>
                  </a:lnTo>
                  <a:lnTo>
                    <a:pt x="119228" y="20647"/>
                  </a:lnTo>
                  <a:lnTo>
                    <a:pt x="67693" y="5394"/>
                  </a:lnTo>
                  <a:lnTo>
                    <a:pt x="41169" y="1372"/>
                  </a:lnTo>
                  <a:lnTo>
                    <a:pt x="14584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090822" y="2309855"/>
            <a:ext cx="42418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0" spc="-20" dirty="0">
                <a:solidFill>
                  <a:srgbClr val="FF0000"/>
                </a:solidFill>
                <a:latin typeface="Montserrat Thin"/>
                <a:cs typeface="Montserrat Thin"/>
              </a:rPr>
              <a:t>x200</a:t>
            </a:r>
            <a:endParaRPr sz="1350">
              <a:latin typeface="Montserrat Thin"/>
              <a:cs typeface="Montserrat Thi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431102" y="2502777"/>
            <a:ext cx="199390" cy="265430"/>
          </a:xfrm>
          <a:custGeom>
            <a:avLst/>
            <a:gdLst/>
            <a:ahLst/>
            <a:cxnLst/>
            <a:rect l="l" t="t" r="r" b="b"/>
            <a:pathLst>
              <a:path w="199390" h="265430">
                <a:moveTo>
                  <a:pt x="108182" y="228987"/>
                </a:moveTo>
                <a:lnTo>
                  <a:pt x="101678" y="264855"/>
                </a:lnTo>
                <a:lnTo>
                  <a:pt x="183453" y="240964"/>
                </a:lnTo>
                <a:lnTo>
                  <a:pt x="172378" y="232666"/>
                </a:lnTo>
                <a:lnTo>
                  <a:pt x="120030" y="232666"/>
                </a:lnTo>
                <a:lnTo>
                  <a:pt x="108182" y="228987"/>
                </a:lnTo>
                <a:close/>
              </a:path>
              <a:path w="199390" h="265430">
                <a:moveTo>
                  <a:pt x="109324" y="222692"/>
                </a:moveTo>
                <a:lnTo>
                  <a:pt x="108182" y="228987"/>
                </a:lnTo>
                <a:lnTo>
                  <a:pt x="120030" y="232666"/>
                </a:lnTo>
                <a:lnTo>
                  <a:pt x="121914" y="226602"/>
                </a:lnTo>
                <a:lnTo>
                  <a:pt x="109324" y="222692"/>
                </a:lnTo>
                <a:close/>
              </a:path>
              <a:path w="199390" h="265430">
                <a:moveTo>
                  <a:pt x="115274" y="189878"/>
                </a:moveTo>
                <a:lnTo>
                  <a:pt x="109324" y="222692"/>
                </a:lnTo>
                <a:lnTo>
                  <a:pt x="121914" y="226602"/>
                </a:lnTo>
                <a:lnTo>
                  <a:pt x="120030" y="232666"/>
                </a:lnTo>
                <a:lnTo>
                  <a:pt x="172378" y="232666"/>
                </a:lnTo>
                <a:lnTo>
                  <a:pt x="115274" y="189878"/>
                </a:lnTo>
                <a:close/>
              </a:path>
              <a:path w="199390" h="265430">
                <a:moveTo>
                  <a:pt x="199017" y="0"/>
                </a:moveTo>
                <a:lnTo>
                  <a:pt x="144000" y="5943"/>
                </a:lnTo>
                <a:lnTo>
                  <a:pt x="92858" y="22176"/>
                </a:lnTo>
                <a:lnTo>
                  <a:pt x="49365" y="46441"/>
                </a:lnTo>
                <a:lnTo>
                  <a:pt x="17475" y="76478"/>
                </a:lnTo>
                <a:lnTo>
                  <a:pt x="0" y="121773"/>
                </a:lnTo>
                <a:lnTo>
                  <a:pt x="2" y="122387"/>
                </a:lnTo>
                <a:lnTo>
                  <a:pt x="929" y="132364"/>
                </a:lnTo>
                <a:lnTo>
                  <a:pt x="954" y="132634"/>
                </a:lnTo>
                <a:lnTo>
                  <a:pt x="24436" y="178090"/>
                </a:lnTo>
                <a:lnTo>
                  <a:pt x="57798" y="206494"/>
                </a:lnTo>
                <a:lnTo>
                  <a:pt x="108182" y="228987"/>
                </a:lnTo>
                <a:lnTo>
                  <a:pt x="109324" y="222692"/>
                </a:lnTo>
                <a:lnTo>
                  <a:pt x="88567" y="216246"/>
                </a:lnTo>
                <a:lnTo>
                  <a:pt x="88338" y="216246"/>
                </a:lnTo>
                <a:lnTo>
                  <a:pt x="87962" y="216085"/>
                </a:lnTo>
                <a:lnTo>
                  <a:pt x="49225" y="192535"/>
                </a:lnTo>
                <a:lnTo>
                  <a:pt x="21244" y="163898"/>
                </a:lnTo>
                <a:lnTo>
                  <a:pt x="15005" y="153818"/>
                </a:lnTo>
                <a:lnTo>
                  <a:pt x="14872" y="153630"/>
                </a:lnTo>
                <a:lnTo>
                  <a:pt x="14772" y="153442"/>
                </a:lnTo>
                <a:lnTo>
                  <a:pt x="10314" y="143409"/>
                </a:lnTo>
                <a:lnTo>
                  <a:pt x="10189" y="143173"/>
                </a:lnTo>
                <a:lnTo>
                  <a:pt x="10108" y="142948"/>
                </a:lnTo>
                <a:lnTo>
                  <a:pt x="7405" y="132906"/>
                </a:lnTo>
                <a:lnTo>
                  <a:pt x="7306" y="132634"/>
                </a:lnTo>
                <a:lnTo>
                  <a:pt x="7257" y="132364"/>
                </a:lnTo>
                <a:lnTo>
                  <a:pt x="6379" y="122387"/>
                </a:lnTo>
                <a:lnTo>
                  <a:pt x="6322" y="121773"/>
                </a:lnTo>
                <a:lnTo>
                  <a:pt x="7385" y="111840"/>
                </a:lnTo>
                <a:lnTo>
                  <a:pt x="7444" y="111255"/>
                </a:lnTo>
                <a:lnTo>
                  <a:pt x="7779" y="110319"/>
                </a:lnTo>
                <a:lnTo>
                  <a:pt x="10462" y="101279"/>
                </a:lnTo>
                <a:lnTo>
                  <a:pt x="10510" y="101041"/>
                </a:lnTo>
                <a:lnTo>
                  <a:pt x="10606" y="100794"/>
                </a:lnTo>
                <a:lnTo>
                  <a:pt x="11653" y="98737"/>
                </a:lnTo>
                <a:lnTo>
                  <a:pt x="15515" y="90796"/>
                </a:lnTo>
                <a:lnTo>
                  <a:pt x="15585" y="90615"/>
                </a:lnTo>
                <a:lnTo>
                  <a:pt x="15704" y="90408"/>
                </a:lnTo>
                <a:lnTo>
                  <a:pt x="17750" y="87430"/>
                </a:lnTo>
                <a:lnTo>
                  <a:pt x="22430" y="80488"/>
                </a:lnTo>
                <a:lnTo>
                  <a:pt x="22513" y="80345"/>
                </a:lnTo>
                <a:lnTo>
                  <a:pt x="31279" y="70227"/>
                </a:lnTo>
                <a:lnTo>
                  <a:pt x="65966" y="43099"/>
                </a:lnTo>
                <a:lnTo>
                  <a:pt x="127985" y="16471"/>
                </a:lnTo>
                <a:lnTo>
                  <a:pt x="180980" y="7026"/>
                </a:lnTo>
                <a:lnTo>
                  <a:pt x="199253" y="6344"/>
                </a:lnTo>
                <a:lnTo>
                  <a:pt x="199238" y="5943"/>
                </a:lnTo>
                <a:lnTo>
                  <a:pt x="199117" y="2698"/>
                </a:lnTo>
                <a:lnTo>
                  <a:pt x="199017" y="0"/>
                </a:lnTo>
                <a:close/>
              </a:path>
              <a:path w="199390" h="265430">
                <a:moveTo>
                  <a:pt x="88049" y="216085"/>
                </a:moveTo>
                <a:lnTo>
                  <a:pt x="88338" y="216246"/>
                </a:lnTo>
                <a:lnTo>
                  <a:pt x="88567" y="216246"/>
                </a:lnTo>
                <a:lnTo>
                  <a:pt x="88049" y="216085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205345" y="2364720"/>
            <a:ext cx="40767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0" spc="-10" dirty="0">
                <a:solidFill>
                  <a:srgbClr val="FF0000"/>
                </a:solidFill>
                <a:latin typeface="Montserrat Thin"/>
                <a:cs typeface="Montserrat Thin"/>
              </a:rPr>
              <a:t>x4</a:t>
            </a:r>
            <a:r>
              <a:rPr sz="1350" b="0" spc="-120" dirty="0">
                <a:solidFill>
                  <a:srgbClr val="FF0000"/>
                </a:solidFill>
                <a:latin typeface="Montserrat Thin"/>
                <a:cs typeface="Montserrat Thin"/>
              </a:rPr>
              <a:t> </a:t>
            </a:r>
            <a:r>
              <a:rPr sz="1350" b="0" dirty="0">
                <a:solidFill>
                  <a:srgbClr val="FF0000"/>
                </a:solidFill>
                <a:latin typeface="Montserrat Thin"/>
                <a:cs typeface="Montserrat Thin"/>
              </a:rPr>
              <a:t>.</a:t>
            </a:r>
            <a:r>
              <a:rPr sz="1350" b="0" spc="-110" dirty="0">
                <a:solidFill>
                  <a:srgbClr val="FF0000"/>
                </a:solidFill>
                <a:latin typeface="Montserrat Thin"/>
                <a:cs typeface="Montserrat Thin"/>
              </a:rPr>
              <a:t> </a:t>
            </a:r>
            <a:r>
              <a:rPr sz="1350" b="0" spc="-50" dirty="0">
                <a:solidFill>
                  <a:srgbClr val="FF0000"/>
                </a:solidFill>
                <a:latin typeface="Montserrat Thin"/>
                <a:cs typeface="Montserrat Thin"/>
              </a:rPr>
              <a:t>5</a:t>
            </a:r>
            <a:endParaRPr sz="1350">
              <a:latin typeface="Montserrat Thin"/>
              <a:cs typeface="Montserrat Thi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996399" y="1759723"/>
            <a:ext cx="523875" cy="989330"/>
          </a:xfrm>
          <a:custGeom>
            <a:avLst/>
            <a:gdLst/>
            <a:ahLst/>
            <a:cxnLst/>
            <a:rect l="l" t="t" r="r" b="b"/>
            <a:pathLst>
              <a:path w="523875" h="989330">
                <a:moveTo>
                  <a:pt x="76115" y="35598"/>
                </a:moveTo>
                <a:lnTo>
                  <a:pt x="75559" y="41936"/>
                </a:lnTo>
                <a:lnTo>
                  <a:pt x="96522" y="45149"/>
                </a:lnTo>
                <a:lnTo>
                  <a:pt x="120191" y="50940"/>
                </a:lnTo>
                <a:lnTo>
                  <a:pt x="189911" y="75270"/>
                </a:lnTo>
                <a:lnTo>
                  <a:pt x="234560" y="96767"/>
                </a:lnTo>
                <a:lnTo>
                  <a:pt x="277326" y="122092"/>
                </a:lnTo>
                <a:lnTo>
                  <a:pt x="317817" y="150895"/>
                </a:lnTo>
                <a:lnTo>
                  <a:pt x="355660" y="182827"/>
                </a:lnTo>
                <a:lnTo>
                  <a:pt x="390463" y="217538"/>
                </a:lnTo>
                <a:lnTo>
                  <a:pt x="421847" y="254674"/>
                </a:lnTo>
                <a:lnTo>
                  <a:pt x="449317" y="293698"/>
                </a:lnTo>
                <a:lnTo>
                  <a:pt x="472737" y="334603"/>
                </a:lnTo>
                <a:lnTo>
                  <a:pt x="491599" y="376868"/>
                </a:lnTo>
                <a:lnTo>
                  <a:pt x="505534" y="420143"/>
                </a:lnTo>
                <a:lnTo>
                  <a:pt x="514050" y="463345"/>
                </a:lnTo>
                <a:lnTo>
                  <a:pt x="517141" y="508543"/>
                </a:lnTo>
                <a:lnTo>
                  <a:pt x="515537" y="552773"/>
                </a:lnTo>
                <a:lnTo>
                  <a:pt x="510848" y="596888"/>
                </a:lnTo>
                <a:lnTo>
                  <a:pt x="503275" y="640312"/>
                </a:lnTo>
                <a:lnTo>
                  <a:pt x="493025" y="682694"/>
                </a:lnTo>
                <a:lnTo>
                  <a:pt x="480308" y="723682"/>
                </a:lnTo>
                <a:lnTo>
                  <a:pt x="465330" y="762924"/>
                </a:lnTo>
                <a:lnTo>
                  <a:pt x="448302" y="800065"/>
                </a:lnTo>
                <a:lnTo>
                  <a:pt x="429433" y="834754"/>
                </a:lnTo>
                <a:lnTo>
                  <a:pt x="408789" y="866847"/>
                </a:lnTo>
                <a:lnTo>
                  <a:pt x="363929" y="920589"/>
                </a:lnTo>
                <a:lnTo>
                  <a:pt x="314668" y="959378"/>
                </a:lnTo>
                <a:lnTo>
                  <a:pt x="276516" y="976491"/>
                </a:lnTo>
                <a:lnTo>
                  <a:pt x="250793" y="981749"/>
                </a:lnTo>
                <a:lnTo>
                  <a:pt x="250481" y="981749"/>
                </a:lnTo>
                <a:lnTo>
                  <a:pt x="235624" y="982525"/>
                </a:lnTo>
                <a:lnTo>
                  <a:pt x="237892" y="982525"/>
                </a:lnTo>
                <a:lnTo>
                  <a:pt x="238071" y="985955"/>
                </a:lnTo>
                <a:lnTo>
                  <a:pt x="238181" y="988048"/>
                </a:lnTo>
                <a:lnTo>
                  <a:pt x="238217" y="988749"/>
                </a:lnTo>
                <a:lnTo>
                  <a:pt x="251606" y="988048"/>
                </a:lnTo>
                <a:lnTo>
                  <a:pt x="265117" y="985955"/>
                </a:lnTo>
                <a:lnTo>
                  <a:pt x="304847" y="971966"/>
                </a:lnTo>
                <a:lnTo>
                  <a:pt x="343661" y="947077"/>
                </a:lnTo>
                <a:lnTo>
                  <a:pt x="391824" y="899552"/>
                </a:lnTo>
                <a:lnTo>
                  <a:pt x="434846" y="838090"/>
                </a:lnTo>
                <a:lnTo>
                  <a:pt x="453939" y="803004"/>
                </a:lnTo>
                <a:lnTo>
                  <a:pt x="471153" y="765477"/>
                </a:lnTo>
                <a:lnTo>
                  <a:pt x="486284" y="725854"/>
                </a:lnTo>
                <a:lnTo>
                  <a:pt x="499127" y="684481"/>
                </a:lnTo>
                <a:lnTo>
                  <a:pt x="509477" y="641706"/>
                </a:lnTo>
                <a:lnTo>
                  <a:pt x="517128" y="597875"/>
                </a:lnTo>
                <a:lnTo>
                  <a:pt x="521872" y="553335"/>
                </a:lnTo>
                <a:lnTo>
                  <a:pt x="523495" y="508543"/>
                </a:lnTo>
                <a:lnTo>
                  <a:pt x="522756" y="486393"/>
                </a:lnTo>
                <a:lnTo>
                  <a:pt x="516794" y="440922"/>
                </a:lnTo>
                <a:lnTo>
                  <a:pt x="505283" y="396543"/>
                </a:lnTo>
                <a:lnTo>
                  <a:pt x="488599" y="353077"/>
                </a:lnTo>
                <a:lnTo>
                  <a:pt x="467130" y="310871"/>
                </a:lnTo>
                <a:lnTo>
                  <a:pt x="426801" y="250681"/>
                </a:lnTo>
                <a:lnTo>
                  <a:pt x="395056" y="213136"/>
                </a:lnTo>
                <a:lnTo>
                  <a:pt x="359869" y="178059"/>
                </a:lnTo>
                <a:lnTo>
                  <a:pt x="321622" y="145796"/>
                </a:lnTo>
                <a:lnTo>
                  <a:pt x="280694" y="116695"/>
                </a:lnTo>
                <a:lnTo>
                  <a:pt x="237462" y="91104"/>
                </a:lnTo>
                <a:lnTo>
                  <a:pt x="192304" y="69375"/>
                </a:lnTo>
                <a:lnTo>
                  <a:pt x="145635" y="51870"/>
                </a:lnTo>
                <a:lnTo>
                  <a:pt x="97670" y="38893"/>
                </a:lnTo>
                <a:lnTo>
                  <a:pt x="76115" y="35598"/>
                </a:lnTo>
                <a:close/>
              </a:path>
              <a:path w="523875" h="989330">
                <a:moveTo>
                  <a:pt x="79239" y="0"/>
                </a:moveTo>
                <a:lnTo>
                  <a:pt x="0" y="31294"/>
                </a:lnTo>
                <a:lnTo>
                  <a:pt x="72577" y="75907"/>
                </a:lnTo>
                <a:lnTo>
                  <a:pt x="75559" y="41936"/>
                </a:lnTo>
                <a:lnTo>
                  <a:pt x="62777" y="39982"/>
                </a:lnTo>
                <a:lnTo>
                  <a:pt x="63737" y="33705"/>
                </a:lnTo>
                <a:lnTo>
                  <a:pt x="76281" y="33705"/>
                </a:lnTo>
                <a:lnTo>
                  <a:pt x="79239" y="0"/>
                </a:lnTo>
                <a:close/>
              </a:path>
              <a:path w="523875" h="989330">
                <a:moveTo>
                  <a:pt x="63737" y="33705"/>
                </a:moveTo>
                <a:lnTo>
                  <a:pt x="62777" y="39982"/>
                </a:lnTo>
                <a:lnTo>
                  <a:pt x="75559" y="41936"/>
                </a:lnTo>
                <a:lnTo>
                  <a:pt x="76115" y="35598"/>
                </a:lnTo>
                <a:lnTo>
                  <a:pt x="63737" y="33705"/>
                </a:lnTo>
                <a:close/>
              </a:path>
              <a:path w="523875" h="989330">
                <a:moveTo>
                  <a:pt x="76281" y="33705"/>
                </a:moveTo>
                <a:lnTo>
                  <a:pt x="63737" y="33705"/>
                </a:lnTo>
                <a:lnTo>
                  <a:pt x="76115" y="35598"/>
                </a:lnTo>
                <a:lnTo>
                  <a:pt x="76281" y="33705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390349" y="1962384"/>
            <a:ext cx="35496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0" spc="-20" dirty="0">
                <a:solidFill>
                  <a:srgbClr val="FF0000"/>
                </a:solidFill>
                <a:latin typeface="Montserrat Thin"/>
                <a:cs typeface="Montserrat Thin"/>
              </a:rPr>
              <a:t>x1</a:t>
            </a:r>
            <a:r>
              <a:rPr sz="1350" b="0" spc="-105" dirty="0">
                <a:solidFill>
                  <a:srgbClr val="FF0000"/>
                </a:solidFill>
                <a:latin typeface="Montserrat Thin"/>
                <a:cs typeface="Montserrat Thin"/>
              </a:rPr>
              <a:t> </a:t>
            </a:r>
            <a:r>
              <a:rPr sz="1350" b="0" dirty="0">
                <a:solidFill>
                  <a:srgbClr val="FF0000"/>
                </a:solidFill>
                <a:latin typeface="Montserrat Thin"/>
                <a:cs typeface="Montserrat Thin"/>
              </a:rPr>
              <a:t>.</a:t>
            </a:r>
            <a:r>
              <a:rPr sz="1350" b="0" spc="-105" dirty="0">
                <a:solidFill>
                  <a:srgbClr val="FF0000"/>
                </a:solidFill>
                <a:latin typeface="Montserrat Thin"/>
                <a:cs typeface="Montserrat Thin"/>
              </a:rPr>
              <a:t> </a:t>
            </a:r>
            <a:r>
              <a:rPr sz="1350" b="0" spc="-50" dirty="0">
                <a:solidFill>
                  <a:srgbClr val="FF0000"/>
                </a:solidFill>
                <a:latin typeface="Montserrat Thin"/>
                <a:cs typeface="Montserrat Thin"/>
              </a:rPr>
              <a:t>3</a:t>
            </a:r>
            <a:endParaRPr sz="1350">
              <a:latin typeface="Montserrat Thin"/>
              <a:cs typeface="Montserrat Thin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6476" y="4165108"/>
            <a:ext cx="5152797" cy="693401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4953001" y="6377940"/>
            <a:ext cx="6629400" cy="503085"/>
          </a:xfrm>
          <a:prstGeom prst="rect">
            <a:avLst/>
          </a:prstGeom>
        </p:spPr>
        <p:txBody>
          <a:bodyPr vert="horz" wrap="square" lIns="0" tIns="76580" rIns="0" bIns="0" rtlCol="0">
            <a:spAutoFit/>
          </a:bodyPr>
          <a:lstStyle/>
          <a:p>
            <a:pPr marL="1619250">
              <a:lnSpc>
                <a:spcPct val="100000"/>
              </a:lnSpc>
              <a:spcBef>
                <a:spcPts val="75"/>
              </a:spcBef>
            </a:pPr>
            <a:r>
              <a:rPr sz="800" spc="-20" dirty="0">
                <a:solidFill>
                  <a:srgbClr val="000000"/>
                </a:solidFill>
                <a:latin typeface="Century Gothic"/>
                <a:cs typeface="Century Gothic"/>
              </a:rPr>
              <a:t>SCV:</a:t>
            </a:r>
            <a:r>
              <a:rPr sz="800" spc="50" dirty="0">
                <a:solidFill>
                  <a:srgbClr val="000000"/>
                </a:solidFill>
                <a:latin typeface="Century Gothic"/>
                <a:cs typeface="Century Gothic"/>
              </a:rPr>
              <a:t> Light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and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Effective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Multi-Vector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Retrieval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with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Sequence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Compressive</a:t>
            </a:r>
            <a:r>
              <a:rPr sz="800" spc="60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dirty="0">
                <a:solidFill>
                  <a:srgbClr val="000000"/>
                </a:solidFill>
                <a:latin typeface="Century Gothic"/>
                <a:cs typeface="Century Gothic"/>
              </a:rPr>
              <a:t>Vectors,</a:t>
            </a:r>
            <a:r>
              <a:rPr sz="800" spc="55" dirty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Century Gothic"/>
                <a:cs typeface="Century Gothic"/>
              </a:rPr>
              <a:t>kcc24’</a:t>
            </a:r>
            <a:endParaRPr sz="800" dirty="0">
              <a:latin typeface="Century Gothic"/>
              <a:cs typeface="Century Gothic"/>
            </a:endParaRPr>
          </a:p>
          <a:p>
            <a:pPr marL="1606550" marR="43180" algn="r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73809" y="65740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2622" y="779109"/>
            <a:ext cx="3787451" cy="26117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14276" y="6618731"/>
            <a:ext cx="62433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Montserrat"/>
                <a:cs typeface="Montserrat"/>
              </a:rPr>
              <a:t>CITADEL: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Conditional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Token Interaction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via</a:t>
            </a:r>
            <a:r>
              <a:rPr sz="800" spc="-10" dirty="0">
                <a:latin typeface="Montserrat"/>
                <a:cs typeface="Montserrat"/>
              </a:rPr>
              <a:t> Dynamic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Lexical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Routing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10" dirty="0">
                <a:latin typeface="Montserrat"/>
                <a:cs typeface="Montserrat"/>
              </a:rPr>
              <a:t> Efficient </a:t>
            </a:r>
            <a:r>
              <a:rPr sz="800" dirty="0">
                <a:latin typeface="Montserrat"/>
                <a:cs typeface="Montserrat"/>
              </a:rPr>
              <a:t>and</a:t>
            </a:r>
            <a:r>
              <a:rPr sz="800" spc="-10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Effective</a:t>
            </a:r>
            <a:r>
              <a:rPr sz="800" spc="-10" dirty="0">
                <a:latin typeface="Montserrat"/>
                <a:cs typeface="Montserrat"/>
              </a:rPr>
              <a:t> Multi-Vector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Retrieval,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ACL23’</a:t>
            </a:r>
            <a:endParaRPr sz="800">
              <a:latin typeface="Montserrat"/>
              <a:cs typeface="Montserra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7939" y="3632944"/>
            <a:ext cx="5568950" cy="2444750"/>
            <a:chOff x="617939" y="3632944"/>
            <a:chExt cx="5568950" cy="2444750"/>
          </a:xfrm>
        </p:grpSpPr>
        <p:sp>
          <p:nvSpPr>
            <p:cNvPr id="13" name="object 13"/>
            <p:cNvSpPr/>
            <p:nvPr/>
          </p:nvSpPr>
          <p:spPr>
            <a:xfrm>
              <a:off x="624289" y="3639294"/>
              <a:ext cx="5556250" cy="2432050"/>
            </a:xfrm>
            <a:custGeom>
              <a:avLst/>
              <a:gdLst/>
              <a:ahLst/>
              <a:cxnLst/>
              <a:rect l="l" t="t" r="r" b="b"/>
              <a:pathLst>
                <a:path w="5556250" h="2432050">
                  <a:moveTo>
                    <a:pt x="0" y="0"/>
                  </a:moveTo>
                  <a:lnTo>
                    <a:pt x="5556095" y="0"/>
                  </a:lnTo>
                  <a:lnTo>
                    <a:pt x="5556095" y="2431846"/>
                  </a:lnTo>
                  <a:lnTo>
                    <a:pt x="0" y="243184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2049" y="4352435"/>
              <a:ext cx="187523" cy="6263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72049" y="4352435"/>
              <a:ext cx="187960" cy="626745"/>
            </a:xfrm>
            <a:custGeom>
              <a:avLst/>
              <a:gdLst/>
              <a:ahLst/>
              <a:cxnLst/>
              <a:rect l="l" t="t" r="r" b="b"/>
              <a:pathLst>
                <a:path w="187960" h="626745">
                  <a:moveTo>
                    <a:pt x="0" y="532564"/>
                  </a:moveTo>
                  <a:lnTo>
                    <a:pt x="46880" y="532564"/>
                  </a:lnTo>
                  <a:lnTo>
                    <a:pt x="46880" y="0"/>
                  </a:lnTo>
                  <a:lnTo>
                    <a:pt x="140642" y="0"/>
                  </a:lnTo>
                  <a:lnTo>
                    <a:pt x="140642" y="532564"/>
                  </a:lnTo>
                  <a:lnTo>
                    <a:pt x="187523" y="532564"/>
                  </a:lnTo>
                  <a:lnTo>
                    <a:pt x="93761" y="626326"/>
                  </a:lnTo>
                  <a:lnTo>
                    <a:pt x="0" y="532564"/>
                  </a:lnTo>
                  <a:close/>
                </a:path>
              </a:pathLst>
            </a:custGeom>
            <a:ln w="6350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04747" y="4355631"/>
              <a:ext cx="187523" cy="6263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604747" y="4355631"/>
              <a:ext cx="187960" cy="626745"/>
            </a:xfrm>
            <a:custGeom>
              <a:avLst/>
              <a:gdLst/>
              <a:ahLst/>
              <a:cxnLst/>
              <a:rect l="l" t="t" r="r" b="b"/>
              <a:pathLst>
                <a:path w="187960" h="626745">
                  <a:moveTo>
                    <a:pt x="0" y="532564"/>
                  </a:moveTo>
                  <a:lnTo>
                    <a:pt x="46880" y="532564"/>
                  </a:lnTo>
                  <a:lnTo>
                    <a:pt x="46880" y="0"/>
                  </a:lnTo>
                  <a:lnTo>
                    <a:pt x="140642" y="0"/>
                  </a:lnTo>
                  <a:lnTo>
                    <a:pt x="140642" y="532564"/>
                  </a:lnTo>
                  <a:lnTo>
                    <a:pt x="187523" y="532564"/>
                  </a:lnTo>
                  <a:lnTo>
                    <a:pt x="93761" y="626326"/>
                  </a:lnTo>
                  <a:lnTo>
                    <a:pt x="0" y="532564"/>
                  </a:lnTo>
                  <a:close/>
                </a:path>
              </a:pathLst>
            </a:custGeom>
            <a:ln w="6350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6777" y="4105911"/>
              <a:ext cx="2040121" cy="19806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1682" y="4110066"/>
              <a:ext cx="406396" cy="13546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6854" y="4110872"/>
              <a:ext cx="1570880" cy="21434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58970" y="4500072"/>
              <a:ext cx="1058999" cy="24175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40110" y="4477320"/>
              <a:ext cx="1058999" cy="25779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69191" y="5101945"/>
              <a:ext cx="1881568" cy="37286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8141" y="4581521"/>
              <a:ext cx="954802" cy="11831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00352" y="5567802"/>
              <a:ext cx="2033343" cy="2942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08300" y="5120694"/>
              <a:ext cx="1979954" cy="3503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56689" y="5554029"/>
              <a:ext cx="1887638" cy="33511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84407" y="5098795"/>
            <a:ext cx="120967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0" marR="276225" indent="-196850">
              <a:lnSpc>
                <a:spcPct val="105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Lexicon</a:t>
            </a:r>
            <a:r>
              <a:rPr sz="1200" spc="2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key </a:t>
            </a:r>
            <a:r>
              <a:rPr sz="1200" spc="-10" dirty="0">
                <a:latin typeface="Century Gothic"/>
                <a:cs typeface="Century Gothic"/>
              </a:rPr>
              <a:t>(index)</a:t>
            </a:r>
            <a:endParaRPr sz="12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200" dirty="0">
                <a:latin typeface="Century Gothic"/>
                <a:cs typeface="Century Gothic"/>
              </a:rPr>
              <a:t>Lexicon</a:t>
            </a:r>
            <a:r>
              <a:rPr sz="1200" spc="22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weight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45715" y="4134965"/>
            <a:ext cx="1355090" cy="415925"/>
          </a:xfrm>
          <a:custGeom>
            <a:avLst/>
            <a:gdLst/>
            <a:ahLst/>
            <a:cxnLst/>
            <a:rect l="l" t="t" r="r" b="b"/>
            <a:pathLst>
              <a:path w="1355090" h="415925">
                <a:moveTo>
                  <a:pt x="1354858" y="0"/>
                </a:moveTo>
                <a:lnTo>
                  <a:pt x="0" y="0"/>
                </a:lnTo>
                <a:lnTo>
                  <a:pt x="0" y="415498"/>
                </a:lnTo>
                <a:lnTo>
                  <a:pt x="1354858" y="415498"/>
                </a:lnTo>
                <a:lnTo>
                  <a:pt x="13548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24455" y="4167123"/>
            <a:ext cx="11353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Top-k:</a:t>
            </a:r>
            <a:r>
              <a:rPr sz="1000" spc="229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query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entury Gothic"/>
                <a:cs typeface="Century Gothic"/>
              </a:rPr>
              <a:t>Top-L:</a:t>
            </a:r>
            <a:r>
              <a:rPr sz="1000" spc="2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document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25922" y="3750316"/>
            <a:ext cx="4503420" cy="233045"/>
            <a:chOff x="1625922" y="3750316"/>
            <a:chExt cx="4503420" cy="233045"/>
          </a:xfrm>
        </p:grpSpPr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25922" y="3764843"/>
              <a:ext cx="2010302" cy="2131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81379" y="3771877"/>
              <a:ext cx="454906" cy="16075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69516" y="3750316"/>
              <a:ext cx="1559677" cy="232582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42337" y="5361144"/>
            <a:ext cx="4602899" cy="65907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209125" y="4102142"/>
            <a:ext cx="3800740" cy="314147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123921" y="4998211"/>
            <a:ext cx="4773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solidFill>
                  <a:srgbClr val="296A9B"/>
                </a:solidFill>
                <a:latin typeface="Century Gothic"/>
                <a:cs typeface="Century Gothic"/>
              </a:rPr>
              <a:t>Dynamic</a:t>
            </a:r>
            <a:r>
              <a:rPr sz="1800" spc="3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Lexical</a:t>
            </a:r>
            <a:r>
              <a:rPr sz="1800" spc="3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spc="95" dirty="0">
                <a:solidFill>
                  <a:srgbClr val="296A9B"/>
                </a:solidFill>
                <a:latin typeface="Century Gothic"/>
                <a:cs typeface="Century Gothic"/>
              </a:rPr>
              <a:t>Routing</a:t>
            </a:r>
            <a:r>
              <a:rPr sz="1800" spc="4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(score</a:t>
            </a:r>
            <a:r>
              <a:rPr sz="1800" spc="2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96A9B"/>
                </a:solidFill>
                <a:latin typeface="Century Gothic"/>
                <a:cs typeface="Century Gothic"/>
              </a:rPr>
              <a:t>function)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5940" y="536955"/>
            <a:ext cx="11483975" cy="344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75" dirty="0">
                <a:latin typeface="Century Gothic"/>
                <a:cs typeface="Century Gothic"/>
              </a:rPr>
              <a:t>Multi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Vector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15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80" dirty="0">
                <a:latin typeface="Century Gothic"/>
                <a:cs typeface="Century Gothic"/>
              </a:rPr>
              <a:t>CITADEL:</a:t>
            </a:r>
            <a:r>
              <a:rPr sz="1800" spc="9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Conditional</a:t>
            </a:r>
            <a:r>
              <a:rPr sz="1100" spc="50" dirty="0">
                <a:latin typeface="Century Gothic"/>
                <a:cs typeface="Century Gothic"/>
              </a:rPr>
              <a:t> Token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Interaction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via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Dynamic</a:t>
            </a:r>
            <a:r>
              <a:rPr sz="1100" spc="5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Lexical</a:t>
            </a:r>
            <a:r>
              <a:rPr sz="1100" spc="50" dirty="0">
                <a:latin typeface="Century Gothic"/>
                <a:cs typeface="Century Gothic"/>
              </a:rPr>
              <a:t> </a:t>
            </a:r>
            <a:r>
              <a:rPr sz="1100" spc="40" dirty="0">
                <a:latin typeface="Century Gothic"/>
                <a:cs typeface="Century Gothic"/>
              </a:rPr>
              <a:t>Routing</a:t>
            </a:r>
            <a:endParaRPr sz="11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18159" algn="l"/>
              </a:tabLst>
            </a:pPr>
            <a:r>
              <a:rPr sz="1800" spc="130" dirty="0">
                <a:latin typeface="Century Gothic"/>
                <a:cs typeface="Century Gothic"/>
              </a:rPr>
              <a:t>ColBERT</a:t>
            </a:r>
            <a:r>
              <a:rPr sz="1800" spc="140" dirty="0">
                <a:latin typeface="Century Gothic"/>
                <a:cs typeface="Century Gothic"/>
              </a:rPr>
              <a:t> </a:t>
            </a:r>
            <a:r>
              <a:rPr sz="1800" spc="75" dirty="0">
                <a:latin typeface="Century Gothic"/>
                <a:cs typeface="Century Gothic"/>
              </a:rPr>
              <a:t>-</a:t>
            </a:r>
            <a:r>
              <a:rPr sz="1800" dirty="0">
                <a:latin typeface="Century Gothic"/>
                <a:cs typeface="Century Gothic"/>
              </a:rPr>
              <a:t>&gt;</a:t>
            </a:r>
            <a:r>
              <a:rPr sz="1800" spc="14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wasteful</a:t>
            </a:r>
            <a:r>
              <a:rPr sz="1800" spc="14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all-to-all</a:t>
            </a:r>
            <a:r>
              <a:rPr sz="1800" spc="145" dirty="0">
                <a:latin typeface="Century Gothic"/>
                <a:cs typeface="Century Gothic"/>
              </a:rPr>
              <a:t> </a:t>
            </a:r>
            <a:r>
              <a:rPr sz="1800" spc="70" dirty="0">
                <a:latin typeface="Century Gothic"/>
                <a:cs typeface="Century Gothic"/>
              </a:rPr>
              <a:t>routing</a:t>
            </a:r>
            <a:endParaRPr sz="18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Century Gothic"/>
                <a:cs typeface="Century Gothic"/>
              </a:rPr>
              <a:t>COIL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spc="75" dirty="0">
                <a:latin typeface="Century Gothic"/>
                <a:cs typeface="Century Gothic"/>
              </a:rPr>
              <a:t>-</a:t>
            </a:r>
            <a:r>
              <a:rPr sz="1800" dirty="0">
                <a:latin typeface="Century Gothic"/>
                <a:cs typeface="Century Gothic"/>
              </a:rPr>
              <a:t>&gt;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유연하지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못한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80" dirty="0">
                <a:latin typeface="Century Gothic"/>
                <a:cs typeface="Century Gothic"/>
              </a:rPr>
              <a:t>heuristics-</a:t>
            </a:r>
            <a:r>
              <a:rPr sz="1800" spc="-10" dirty="0">
                <a:latin typeface="Century Gothic"/>
                <a:cs typeface="Century Gothic"/>
              </a:rPr>
              <a:t>based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70" dirty="0">
                <a:latin typeface="Century Gothic"/>
                <a:cs typeface="Century Gothic"/>
              </a:rPr>
              <a:t>routing</a:t>
            </a:r>
            <a:endParaRPr sz="18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18159" algn="l"/>
              </a:tabLst>
            </a:pPr>
            <a:r>
              <a:rPr sz="1800" spc="50" dirty="0">
                <a:latin typeface="Century Gothic"/>
                <a:cs typeface="Century Gothic"/>
              </a:rPr>
              <a:t>Propose</a:t>
            </a:r>
            <a:r>
              <a:rPr sz="1800" spc="6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dynamic</a:t>
            </a:r>
            <a:r>
              <a:rPr sz="1800" spc="6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lexicon</a:t>
            </a:r>
            <a:r>
              <a:rPr sz="1800" spc="55" dirty="0">
                <a:latin typeface="Century Gothic"/>
                <a:cs typeface="Century Gothic"/>
              </a:rPr>
              <a:t> </a:t>
            </a:r>
            <a:r>
              <a:rPr sz="1800" spc="70" dirty="0">
                <a:latin typeface="Century Gothic"/>
                <a:cs typeface="Century Gothic"/>
              </a:rPr>
              <a:t>routing</a:t>
            </a:r>
            <a:endParaRPr sz="18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944"/>
              </a:spcBef>
              <a:buFont typeface="Arial"/>
              <a:buChar char="•"/>
              <a:tabLst>
                <a:tab pos="840105" algn="l"/>
              </a:tabLst>
            </a:pPr>
            <a:r>
              <a:rPr sz="1600" dirty="0">
                <a:latin typeface="Malgun Gothic"/>
                <a:cs typeface="Malgun Gothic"/>
              </a:rPr>
              <a:t>각</a:t>
            </a:r>
            <a:r>
              <a:rPr sz="1600" spc="-1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token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별로</a:t>
            </a:r>
            <a:r>
              <a:rPr sz="1600" spc="-120" dirty="0">
                <a:latin typeface="Malgun Gothic"/>
                <a:cs typeface="Malgun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splade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activation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수행</a:t>
            </a:r>
            <a:r>
              <a:rPr sz="1600" spc="-120" dirty="0">
                <a:latin typeface="Malgun Gothic"/>
                <a:cs typeface="Malgun Gothic"/>
              </a:rPr>
              <a:t> </a:t>
            </a:r>
            <a:r>
              <a:rPr sz="1600" spc="65" dirty="0">
                <a:latin typeface="Century Gothic"/>
                <a:cs typeface="Century Gothic"/>
              </a:rPr>
              <a:t>-</a:t>
            </a:r>
            <a:r>
              <a:rPr sz="1600" dirty="0">
                <a:latin typeface="Century Gothic"/>
                <a:cs typeface="Century Gothic"/>
              </a:rPr>
              <a:t>&gt;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spc="75" dirty="0">
                <a:latin typeface="Century Gothic"/>
                <a:cs typeface="Century Gothic"/>
              </a:rPr>
              <a:t>Topk</a:t>
            </a:r>
            <a:r>
              <a:rPr sz="160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추출</a:t>
            </a:r>
            <a:r>
              <a:rPr sz="1600" spc="-120" dirty="0">
                <a:latin typeface="Malgun Gothic"/>
                <a:cs typeface="Malgun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(token:</a:t>
            </a:r>
            <a:r>
              <a:rPr sz="1600" spc="-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vector)</a:t>
            </a:r>
            <a:endParaRPr sz="16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840105" algn="l"/>
              </a:tabLst>
            </a:pPr>
            <a:r>
              <a:rPr sz="1600" dirty="0">
                <a:latin typeface="Century Gothic"/>
                <a:cs typeface="Century Gothic"/>
              </a:rPr>
              <a:t>Exact</a:t>
            </a:r>
            <a:r>
              <a:rPr sz="1600" spc="3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match</a:t>
            </a:r>
            <a:r>
              <a:rPr sz="1600" spc="5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되는</a:t>
            </a:r>
            <a:r>
              <a:rPr sz="1600" spc="-80" dirty="0">
                <a:latin typeface="Malgun Gothic"/>
                <a:cs typeface="Malgun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token</a:t>
            </a:r>
            <a:r>
              <a:rPr sz="1600" spc="4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끼리</a:t>
            </a:r>
            <a:r>
              <a:rPr sz="1600" spc="-80" dirty="0">
                <a:latin typeface="Malgun Gothic"/>
                <a:cs typeface="Malgun Gothic"/>
              </a:rPr>
              <a:t> </a:t>
            </a:r>
            <a:r>
              <a:rPr sz="1600" spc="95" dirty="0">
                <a:latin typeface="Century Gothic"/>
                <a:cs typeface="Century Gothic"/>
              </a:rPr>
              <a:t>maxsim</a:t>
            </a:r>
            <a:r>
              <a:rPr sz="1600" spc="4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연산</a:t>
            </a:r>
            <a:r>
              <a:rPr sz="1600" spc="-8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수행</a:t>
            </a:r>
            <a:endParaRPr sz="1600">
              <a:latin typeface="Malgun Gothic"/>
              <a:cs typeface="Malgun Gothic"/>
            </a:endParaRPr>
          </a:p>
          <a:p>
            <a:pPr marL="6600190">
              <a:lnSpc>
                <a:spcPct val="100000"/>
              </a:lnSpc>
              <a:spcBef>
                <a:spcPts val="2105"/>
              </a:spcBef>
            </a:pPr>
            <a:r>
              <a:rPr sz="1800" spc="85" dirty="0">
                <a:solidFill>
                  <a:srgbClr val="296A9B"/>
                </a:solidFill>
                <a:latin typeface="Century Gothic"/>
                <a:cs typeface="Century Gothic"/>
              </a:rPr>
              <a:t>Router</a:t>
            </a:r>
            <a:r>
              <a:rPr sz="1800" spc="1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spc="50" dirty="0">
                <a:solidFill>
                  <a:srgbClr val="296A9B"/>
                </a:solidFill>
                <a:latin typeface="Century Gothic"/>
                <a:cs typeface="Century Gothic"/>
              </a:rPr>
              <a:t>Representation</a:t>
            </a:r>
            <a:r>
              <a:rPr sz="1800" spc="1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(Splade</a:t>
            </a:r>
            <a:r>
              <a:rPr sz="1800" spc="1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96A9B"/>
                </a:solidFill>
                <a:latin typeface="Century Gothic"/>
                <a:cs typeface="Century Gothic"/>
              </a:rPr>
              <a:t>activation)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025700" y="4236601"/>
            <a:ext cx="5119370" cy="2096135"/>
            <a:chOff x="2025700" y="4236601"/>
            <a:chExt cx="5119370" cy="2096135"/>
          </a:xfrm>
        </p:grpSpPr>
        <p:sp>
          <p:nvSpPr>
            <p:cNvPr id="40" name="object 40"/>
            <p:cNvSpPr/>
            <p:nvPr/>
          </p:nvSpPr>
          <p:spPr>
            <a:xfrm>
              <a:off x="2032050" y="4448186"/>
              <a:ext cx="3630929" cy="321945"/>
            </a:xfrm>
            <a:custGeom>
              <a:avLst/>
              <a:gdLst/>
              <a:ahLst/>
              <a:cxnLst/>
              <a:rect l="l" t="t" r="r" b="b"/>
              <a:pathLst>
                <a:path w="3630929" h="321945">
                  <a:moveTo>
                    <a:pt x="0" y="53631"/>
                  </a:moveTo>
                  <a:lnTo>
                    <a:pt x="4214" y="32755"/>
                  </a:lnTo>
                  <a:lnTo>
                    <a:pt x="15708" y="15708"/>
                  </a:lnTo>
                  <a:lnTo>
                    <a:pt x="32755" y="4214"/>
                  </a:lnTo>
                  <a:lnTo>
                    <a:pt x="53630" y="0"/>
                  </a:lnTo>
                  <a:lnTo>
                    <a:pt x="3576802" y="0"/>
                  </a:lnTo>
                  <a:lnTo>
                    <a:pt x="3597677" y="4214"/>
                  </a:lnTo>
                  <a:lnTo>
                    <a:pt x="3614725" y="15708"/>
                  </a:lnTo>
                  <a:lnTo>
                    <a:pt x="3626218" y="32755"/>
                  </a:lnTo>
                  <a:lnTo>
                    <a:pt x="3630433" y="53631"/>
                  </a:lnTo>
                  <a:lnTo>
                    <a:pt x="3630433" y="268148"/>
                  </a:lnTo>
                  <a:lnTo>
                    <a:pt x="3626218" y="289024"/>
                  </a:lnTo>
                  <a:lnTo>
                    <a:pt x="3614725" y="306071"/>
                  </a:lnTo>
                  <a:lnTo>
                    <a:pt x="3597677" y="317565"/>
                  </a:lnTo>
                  <a:lnTo>
                    <a:pt x="3576802" y="321780"/>
                  </a:lnTo>
                  <a:lnTo>
                    <a:pt x="53630" y="321780"/>
                  </a:lnTo>
                  <a:lnTo>
                    <a:pt x="32755" y="317565"/>
                  </a:lnTo>
                  <a:lnTo>
                    <a:pt x="15708" y="306071"/>
                  </a:lnTo>
                  <a:lnTo>
                    <a:pt x="4214" y="289024"/>
                  </a:lnTo>
                  <a:lnTo>
                    <a:pt x="0" y="268148"/>
                  </a:lnTo>
                  <a:lnTo>
                    <a:pt x="0" y="53631"/>
                  </a:lnTo>
                  <a:close/>
                </a:path>
              </a:pathLst>
            </a:custGeom>
            <a:ln w="12700">
              <a:solidFill>
                <a:srgbClr val="DF5E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62484" y="4236601"/>
              <a:ext cx="1482725" cy="379095"/>
            </a:xfrm>
            <a:custGeom>
              <a:avLst/>
              <a:gdLst/>
              <a:ahLst/>
              <a:cxnLst/>
              <a:rect l="l" t="t" r="r" b="b"/>
              <a:pathLst>
                <a:path w="1482725" h="379095">
                  <a:moveTo>
                    <a:pt x="101600" y="366124"/>
                  </a:moveTo>
                  <a:lnTo>
                    <a:pt x="0" y="366124"/>
                  </a:lnTo>
                  <a:lnTo>
                    <a:pt x="0" y="378824"/>
                  </a:lnTo>
                  <a:lnTo>
                    <a:pt x="101600" y="378824"/>
                  </a:lnTo>
                  <a:lnTo>
                    <a:pt x="101600" y="366124"/>
                  </a:lnTo>
                  <a:close/>
                </a:path>
                <a:path w="1482725" h="379095">
                  <a:moveTo>
                    <a:pt x="241300" y="366124"/>
                  </a:moveTo>
                  <a:lnTo>
                    <a:pt x="139700" y="366124"/>
                  </a:lnTo>
                  <a:lnTo>
                    <a:pt x="139700" y="378824"/>
                  </a:lnTo>
                  <a:lnTo>
                    <a:pt x="241300" y="378824"/>
                  </a:lnTo>
                  <a:lnTo>
                    <a:pt x="241300" y="366124"/>
                  </a:lnTo>
                  <a:close/>
                </a:path>
                <a:path w="1482725" h="379095">
                  <a:moveTo>
                    <a:pt x="381000" y="366124"/>
                  </a:moveTo>
                  <a:lnTo>
                    <a:pt x="279400" y="366124"/>
                  </a:lnTo>
                  <a:lnTo>
                    <a:pt x="279400" y="378824"/>
                  </a:lnTo>
                  <a:lnTo>
                    <a:pt x="381000" y="378824"/>
                  </a:lnTo>
                  <a:lnTo>
                    <a:pt x="381000" y="366124"/>
                  </a:lnTo>
                  <a:close/>
                </a:path>
                <a:path w="1482725" h="379095">
                  <a:moveTo>
                    <a:pt x="520700" y="366124"/>
                  </a:moveTo>
                  <a:lnTo>
                    <a:pt x="419100" y="366124"/>
                  </a:lnTo>
                  <a:lnTo>
                    <a:pt x="419100" y="378824"/>
                  </a:lnTo>
                  <a:lnTo>
                    <a:pt x="520700" y="378824"/>
                  </a:lnTo>
                  <a:lnTo>
                    <a:pt x="520700" y="366124"/>
                  </a:lnTo>
                  <a:close/>
                </a:path>
                <a:path w="1482725" h="379095">
                  <a:moveTo>
                    <a:pt x="660400" y="366124"/>
                  </a:moveTo>
                  <a:lnTo>
                    <a:pt x="558800" y="366124"/>
                  </a:lnTo>
                  <a:lnTo>
                    <a:pt x="558800" y="378824"/>
                  </a:lnTo>
                  <a:lnTo>
                    <a:pt x="660400" y="378824"/>
                  </a:lnTo>
                  <a:lnTo>
                    <a:pt x="660400" y="366124"/>
                  </a:lnTo>
                  <a:close/>
                </a:path>
                <a:path w="1482725" h="379095">
                  <a:moveTo>
                    <a:pt x="734893" y="366124"/>
                  </a:moveTo>
                  <a:lnTo>
                    <a:pt x="698500" y="366124"/>
                  </a:lnTo>
                  <a:lnTo>
                    <a:pt x="698500" y="378824"/>
                  </a:lnTo>
                  <a:lnTo>
                    <a:pt x="747593" y="378824"/>
                  </a:lnTo>
                  <a:lnTo>
                    <a:pt x="747593" y="372474"/>
                  </a:lnTo>
                  <a:lnTo>
                    <a:pt x="734893" y="372474"/>
                  </a:lnTo>
                  <a:lnTo>
                    <a:pt x="734893" y="366124"/>
                  </a:lnTo>
                  <a:close/>
                </a:path>
                <a:path w="1482725" h="379095">
                  <a:moveTo>
                    <a:pt x="747593" y="313617"/>
                  </a:moveTo>
                  <a:lnTo>
                    <a:pt x="734893" y="313617"/>
                  </a:lnTo>
                  <a:lnTo>
                    <a:pt x="734893" y="372474"/>
                  </a:lnTo>
                  <a:lnTo>
                    <a:pt x="741243" y="366124"/>
                  </a:lnTo>
                  <a:lnTo>
                    <a:pt x="747593" y="366124"/>
                  </a:lnTo>
                  <a:lnTo>
                    <a:pt x="747593" y="313617"/>
                  </a:lnTo>
                  <a:close/>
                </a:path>
                <a:path w="1482725" h="379095">
                  <a:moveTo>
                    <a:pt x="747593" y="366124"/>
                  </a:moveTo>
                  <a:lnTo>
                    <a:pt x="741243" y="366124"/>
                  </a:lnTo>
                  <a:lnTo>
                    <a:pt x="734893" y="372474"/>
                  </a:lnTo>
                  <a:lnTo>
                    <a:pt x="747593" y="372474"/>
                  </a:lnTo>
                  <a:lnTo>
                    <a:pt x="747593" y="366124"/>
                  </a:lnTo>
                  <a:close/>
                </a:path>
                <a:path w="1482725" h="379095">
                  <a:moveTo>
                    <a:pt x="747593" y="173917"/>
                  </a:moveTo>
                  <a:lnTo>
                    <a:pt x="734893" y="173917"/>
                  </a:lnTo>
                  <a:lnTo>
                    <a:pt x="734893" y="275517"/>
                  </a:lnTo>
                  <a:lnTo>
                    <a:pt x="747593" y="275517"/>
                  </a:lnTo>
                  <a:lnTo>
                    <a:pt x="747593" y="173917"/>
                  </a:lnTo>
                  <a:close/>
                </a:path>
                <a:path w="1482725" h="379095">
                  <a:moveTo>
                    <a:pt x="745125" y="31750"/>
                  </a:moveTo>
                  <a:lnTo>
                    <a:pt x="734893" y="31750"/>
                  </a:lnTo>
                  <a:lnTo>
                    <a:pt x="734893" y="135817"/>
                  </a:lnTo>
                  <a:lnTo>
                    <a:pt x="747593" y="135817"/>
                  </a:lnTo>
                  <a:lnTo>
                    <a:pt x="747593" y="44450"/>
                  </a:lnTo>
                  <a:lnTo>
                    <a:pt x="741243" y="44450"/>
                  </a:lnTo>
                  <a:lnTo>
                    <a:pt x="745125" y="40567"/>
                  </a:lnTo>
                  <a:lnTo>
                    <a:pt x="745125" y="31750"/>
                  </a:lnTo>
                  <a:close/>
                </a:path>
                <a:path w="1482725" h="379095">
                  <a:moveTo>
                    <a:pt x="745125" y="40567"/>
                  </a:moveTo>
                  <a:lnTo>
                    <a:pt x="741243" y="44450"/>
                  </a:lnTo>
                  <a:lnTo>
                    <a:pt x="745125" y="44450"/>
                  </a:lnTo>
                  <a:lnTo>
                    <a:pt x="745125" y="40567"/>
                  </a:lnTo>
                  <a:close/>
                </a:path>
                <a:path w="1482725" h="379095">
                  <a:moveTo>
                    <a:pt x="747593" y="38100"/>
                  </a:moveTo>
                  <a:lnTo>
                    <a:pt x="745125" y="40567"/>
                  </a:lnTo>
                  <a:lnTo>
                    <a:pt x="745125" y="44450"/>
                  </a:lnTo>
                  <a:lnTo>
                    <a:pt x="747593" y="44450"/>
                  </a:lnTo>
                  <a:lnTo>
                    <a:pt x="747593" y="38100"/>
                  </a:lnTo>
                  <a:close/>
                </a:path>
                <a:path w="1482725" h="379095">
                  <a:moveTo>
                    <a:pt x="884825" y="31750"/>
                  </a:moveTo>
                  <a:lnTo>
                    <a:pt x="783225" y="31750"/>
                  </a:lnTo>
                  <a:lnTo>
                    <a:pt x="783225" y="44450"/>
                  </a:lnTo>
                  <a:lnTo>
                    <a:pt x="884825" y="44450"/>
                  </a:lnTo>
                  <a:lnTo>
                    <a:pt x="884825" y="31750"/>
                  </a:lnTo>
                  <a:close/>
                </a:path>
                <a:path w="1482725" h="379095">
                  <a:moveTo>
                    <a:pt x="1024525" y="31750"/>
                  </a:moveTo>
                  <a:lnTo>
                    <a:pt x="922925" y="31750"/>
                  </a:lnTo>
                  <a:lnTo>
                    <a:pt x="922925" y="44450"/>
                  </a:lnTo>
                  <a:lnTo>
                    <a:pt x="1024525" y="44450"/>
                  </a:lnTo>
                  <a:lnTo>
                    <a:pt x="1024525" y="31750"/>
                  </a:lnTo>
                  <a:close/>
                </a:path>
                <a:path w="1482725" h="379095">
                  <a:moveTo>
                    <a:pt x="1164225" y="31750"/>
                  </a:moveTo>
                  <a:lnTo>
                    <a:pt x="1062625" y="31750"/>
                  </a:lnTo>
                  <a:lnTo>
                    <a:pt x="1062625" y="44450"/>
                  </a:lnTo>
                  <a:lnTo>
                    <a:pt x="1164225" y="44450"/>
                  </a:lnTo>
                  <a:lnTo>
                    <a:pt x="1164225" y="31750"/>
                  </a:lnTo>
                  <a:close/>
                </a:path>
                <a:path w="1482725" h="379095">
                  <a:moveTo>
                    <a:pt x="1303925" y="31750"/>
                  </a:moveTo>
                  <a:lnTo>
                    <a:pt x="1202325" y="31750"/>
                  </a:lnTo>
                  <a:lnTo>
                    <a:pt x="1202325" y="44450"/>
                  </a:lnTo>
                  <a:lnTo>
                    <a:pt x="1303925" y="44450"/>
                  </a:lnTo>
                  <a:lnTo>
                    <a:pt x="1303925" y="31750"/>
                  </a:lnTo>
                  <a:close/>
                </a:path>
                <a:path w="1482725" h="379095">
                  <a:moveTo>
                    <a:pt x="1406286" y="0"/>
                  </a:moveTo>
                  <a:lnTo>
                    <a:pt x="1406286" y="76200"/>
                  </a:lnTo>
                  <a:lnTo>
                    <a:pt x="1469786" y="44450"/>
                  </a:lnTo>
                  <a:lnTo>
                    <a:pt x="1418986" y="44450"/>
                  </a:lnTo>
                  <a:lnTo>
                    <a:pt x="1418986" y="31750"/>
                  </a:lnTo>
                  <a:lnTo>
                    <a:pt x="1469786" y="31750"/>
                  </a:lnTo>
                  <a:lnTo>
                    <a:pt x="1406286" y="0"/>
                  </a:lnTo>
                  <a:close/>
                </a:path>
                <a:path w="1482725" h="379095">
                  <a:moveTo>
                    <a:pt x="1406286" y="31750"/>
                  </a:moveTo>
                  <a:lnTo>
                    <a:pt x="1342025" y="31750"/>
                  </a:lnTo>
                  <a:lnTo>
                    <a:pt x="1342025" y="44450"/>
                  </a:lnTo>
                  <a:lnTo>
                    <a:pt x="1406286" y="44450"/>
                  </a:lnTo>
                  <a:lnTo>
                    <a:pt x="1406286" y="31750"/>
                  </a:lnTo>
                  <a:close/>
                </a:path>
                <a:path w="1482725" h="379095">
                  <a:moveTo>
                    <a:pt x="1469786" y="31750"/>
                  </a:moveTo>
                  <a:lnTo>
                    <a:pt x="1418986" y="31750"/>
                  </a:lnTo>
                  <a:lnTo>
                    <a:pt x="1418986" y="44450"/>
                  </a:lnTo>
                  <a:lnTo>
                    <a:pt x="1469786" y="44450"/>
                  </a:lnTo>
                  <a:lnTo>
                    <a:pt x="1482486" y="38100"/>
                  </a:lnTo>
                  <a:lnTo>
                    <a:pt x="1469786" y="31750"/>
                  </a:lnTo>
                  <a:close/>
                </a:path>
              </a:pathLst>
            </a:custGeom>
            <a:solidFill>
              <a:srgbClr val="DF5E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32050" y="5079664"/>
              <a:ext cx="4114800" cy="853440"/>
            </a:xfrm>
            <a:custGeom>
              <a:avLst/>
              <a:gdLst/>
              <a:ahLst/>
              <a:cxnLst/>
              <a:rect l="l" t="t" r="r" b="b"/>
              <a:pathLst>
                <a:path w="4114800" h="853439">
                  <a:moveTo>
                    <a:pt x="0" y="142145"/>
                  </a:moveTo>
                  <a:lnTo>
                    <a:pt x="7246" y="97216"/>
                  </a:lnTo>
                  <a:lnTo>
                    <a:pt x="27425" y="58196"/>
                  </a:lnTo>
                  <a:lnTo>
                    <a:pt x="58195" y="27425"/>
                  </a:lnTo>
                  <a:lnTo>
                    <a:pt x="97216" y="7246"/>
                  </a:lnTo>
                  <a:lnTo>
                    <a:pt x="142144" y="0"/>
                  </a:lnTo>
                  <a:lnTo>
                    <a:pt x="3972100" y="0"/>
                  </a:lnTo>
                  <a:lnTo>
                    <a:pt x="4017028" y="7246"/>
                  </a:lnTo>
                  <a:lnTo>
                    <a:pt x="4056048" y="27425"/>
                  </a:lnTo>
                  <a:lnTo>
                    <a:pt x="4086819" y="58196"/>
                  </a:lnTo>
                  <a:lnTo>
                    <a:pt x="4106998" y="97216"/>
                  </a:lnTo>
                  <a:lnTo>
                    <a:pt x="4114245" y="142145"/>
                  </a:lnTo>
                  <a:lnTo>
                    <a:pt x="4114245" y="710707"/>
                  </a:lnTo>
                  <a:lnTo>
                    <a:pt x="4106998" y="755635"/>
                  </a:lnTo>
                  <a:lnTo>
                    <a:pt x="4086819" y="794655"/>
                  </a:lnTo>
                  <a:lnTo>
                    <a:pt x="4056048" y="825426"/>
                  </a:lnTo>
                  <a:lnTo>
                    <a:pt x="4017028" y="845605"/>
                  </a:lnTo>
                  <a:lnTo>
                    <a:pt x="3972100" y="852852"/>
                  </a:lnTo>
                  <a:lnTo>
                    <a:pt x="142144" y="852852"/>
                  </a:lnTo>
                  <a:lnTo>
                    <a:pt x="97216" y="845605"/>
                  </a:lnTo>
                  <a:lnTo>
                    <a:pt x="58195" y="825426"/>
                  </a:lnTo>
                  <a:lnTo>
                    <a:pt x="27425" y="794655"/>
                  </a:lnTo>
                  <a:lnTo>
                    <a:pt x="7246" y="755635"/>
                  </a:lnTo>
                  <a:lnTo>
                    <a:pt x="0" y="710707"/>
                  </a:lnTo>
                  <a:lnTo>
                    <a:pt x="0" y="142145"/>
                  </a:lnTo>
                  <a:close/>
                </a:path>
              </a:pathLst>
            </a:custGeom>
            <a:ln w="12700">
              <a:solidFill>
                <a:srgbClr val="DEAD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82823" y="5932516"/>
              <a:ext cx="3062605" cy="400050"/>
            </a:xfrm>
            <a:custGeom>
              <a:avLst/>
              <a:gdLst/>
              <a:ahLst/>
              <a:cxnLst/>
              <a:rect l="l" t="t" r="r" b="b"/>
              <a:pathLst>
                <a:path w="3062604" h="400050">
                  <a:moveTo>
                    <a:pt x="2985947" y="323498"/>
                  </a:moveTo>
                  <a:lnTo>
                    <a:pt x="2985947" y="399698"/>
                  </a:lnTo>
                  <a:lnTo>
                    <a:pt x="3049447" y="367948"/>
                  </a:lnTo>
                  <a:lnTo>
                    <a:pt x="2998651" y="367948"/>
                  </a:lnTo>
                  <a:lnTo>
                    <a:pt x="2998651" y="355248"/>
                  </a:lnTo>
                  <a:lnTo>
                    <a:pt x="3049447" y="355248"/>
                  </a:lnTo>
                  <a:lnTo>
                    <a:pt x="2985947" y="323498"/>
                  </a:lnTo>
                  <a:close/>
                </a:path>
                <a:path w="3062604" h="400050">
                  <a:moveTo>
                    <a:pt x="12700" y="0"/>
                  </a:moveTo>
                  <a:lnTo>
                    <a:pt x="0" y="0"/>
                  </a:lnTo>
                  <a:lnTo>
                    <a:pt x="0" y="367948"/>
                  </a:lnTo>
                  <a:lnTo>
                    <a:pt x="2985947" y="367948"/>
                  </a:lnTo>
                  <a:lnTo>
                    <a:pt x="2985947" y="361598"/>
                  </a:lnTo>
                  <a:lnTo>
                    <a:pt x="12700" y="361598"/>
                  </a:lnTo>
                  <a:lnTo>
                    <a:pt x="6350" y="355248"/>
                  </a:lnTo>
                  <a:lnTo>
                    <a:pt x="12700" y="355248"/>
                  </a:lnTo>
                  <a:lnTo>
                    <a:pt x="12700" y="0"/>
                  </a:lnTo>
                  <a:close/>
                </a:path>
                <a:path w="3062604" h="400050">
                  <a:moveTo>
                    <a:pt x="3049447" y="355248"/>
                  </a:moveTo>
                  <a:lnTo>
                    <a:pt x="2998651" y="355248"/>
                  </a:lnTo>
                  <a:lnTo>
                    <a:pt x="2998651" y="367948"/>
                  </a:lnTo>
                  <a:lnTo>
                    <a:pt x="3049447" y="367948"/>
                  </a:lnTo>
                  <a:lnTo>
                    <a:pt x="3062147" y="361598"/>
                  </a:lnTo>
                  <a:lnTo>
                    <a:pt x="3049447" y="355248"/>
                  </a:lnTo>
                  <a:close/>
                </a:path>
                <a:path w="3062604" h="400050">
                  <a:moveTo>
                    <a:pt x="12700" y="355248"/>
                  </a:moveTo>
                  <a:lnTo>
                    <a:pt x="6350" y="355248"/>
                  </a:lnTo>
                  <a:lnTo>
                    <a:pt x="12700" y="361598"/>
                  </a:lnTo>
                  <a:lnTo>
                    <a:pt x="12700" y="355248"/>
                  </a:lnTo>
                  <a:close/>
                </a:path>
                <a:path w="3062604" h="400050">
                  <a:moveTo>
                    <a:pt x="2985947" y="355248"/>
                  </a:moveTo>
                  <a:lnTo>
                    <a:pt x="12700" y="355248"/>
                  </a:lnTo>
                  <a:lnTo>
                    <a:pt x="12700" y="361598"/>
                  </a:lnTo>
                  <a:lnTo>
                    <a:pt x="2985947" y="361598"/>
                  </a:lnTo>
                  <a:lnTo>
                    <a:pt x="2985947" y="355248"/>
                  </a:lnTo>
                  <a:close/>
                </a:path>
              </a:pathLst>
            </a:custGeom>
            <a:solidFill>
              <a:srgbClr val="DEAD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234281" y="6156266"/>
            <a:ext cx="3960395" cy="254542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8209788" y="4499355"/>
            <a:ext cx="34937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latin typeface="Montserrat"/>
                <a:cs typeface="Montserrat"/>
              </a:rPr>
              <a:t>W,</a:t>
            </a:r>
            <a:r>
              <a:rPr sz="1600" i="1" spc="40" dirty="0">
                <a:latin typeface="Montserrat"/>
                <a:cs typeface="Montserrat"/>
              </a:rPr>
              <a:t> </a:t>
            </a:r>
            <a:r>
              <a:rPr sz="1600" i="1" spc="-10" dirty="0">
                <a:latin typeface="Montserrat"/>
                <a:cs typeface="Montserrat"/>
              </a:rPr>
              <a:t>b</a:t>
            </a:r>
            <a:r>
              <a:rPr sz="1600" spc="-10" dirty="0">
                <a:latin typeface="Malgun Gothic"/>
                <a:cs typeface="Malgun Gothic"/>
              </a:rPr>
              <a:t>는</a:t>
            </a:r>
            <a:r>
              <a:rPr sz="1600" spc="-95" dirty="0">
                <a:latin typeface="Malgun Gothic"/>
                <a:cs typeface="Malgun Gothic"/>
              </a:rPr>
              <a:t> </a:t>
            </a:r>
            <a:r>
              <a:rPr sz="1600" spc="175" dirty="0">
                <a:latin typeface="Century Gothic"/>
                <a:cs typeface="Century Gothic"/>
              </a:rPr>
              <a:t>BERT</a:t>
            </a:r>
            <a:r>
              <a:rPr sz="1600" spc="175" dirty="0">
                <a:latin typeface="Malgun Gothic"/>
                <a:cs typeface="Malgun Gothic"/>
              </a:rPr>
              <a:t>의</a:t>
            </a:r>
            <a:r>
              <a:rPr sz="1600" spc="-95" dirty="0">
                <a:latin typeface="Malgun Gothic"/>
                <a:cs typeface="Malgun Gothic"/>
              </a:rPr>
              <a:t> </a:t>
            </a:r>
            <a:r>
              <a:rPr sz="1600" spc="90" dirty="0">
                <a:latin typeface="Century Gothic"/>
                <a:cs typeface="Century Gothic"/>
              </a:rPr>
              <a:t>MLM</a:t>
            </a:r>
            <a:r>
              <a:rPr sz="1600" spc="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(output)</a:t>
            </a:r>
            <a:r>
              <a:rPr sz="1600" spc="2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layer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8423275" cy="1789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75" dirty="0">
                <a:latin typeface="Century Gothic"/>
                <a:cs typeface="Century Gothic"/>
              </a:rPr>
              <a:t>Multi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Vector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15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80" dirty="0">
                <a:latin typeface="Century Gothic"/>
                <a:cs typeface="Century Gothic"/>
              </a:rPr>
              <a:t>CITADEL:</a:t>
            </a:r>
            <a:r>
              <a:rPr sz="1800" spc="9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Conditional</a:t>
            </a:r>
            <a:r>
              <a:rPr sz="1100" spc="50" dirty="0">
                <a:latin typeface="Century Gothic"/>
                <a:cs typeface="Century Gothic"/>
              </a:rPr>
              <a:t> Token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Interaction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via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Dynamic</a:t>
            </a:r>
            <a:r>
              <a:rPr sz="1100" spc="5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Lexical</a:t>
            </a:r>
            <a:r>
              <a:rPr sz="1100" spc="50" dirty="0">
                <a:latin typeface="Century Gothic"/>
                <a:cs typeface="Century Gothic"/>
              </a:rPr>
              <a:t> </a:t>
            </a:r>
            <a:r>
              <a:rPr sz="1100" spc="40" dirty="0">
                <a:latin typeface="Century Gothic"/>
                <a:cs typeface="Century Gothic"/>
              </a:rPr>
              <a:t>Routing</a:t>
            </a:r>
            <a:endParaRPr sz="11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토큰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임베딩을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다양한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키로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고르게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분배하여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검색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지연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시간을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줄이는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0D0D0D"/>
                </a:solidFill>
                <a:latin typeface="Malgun Gothic"/>
                <a:cs typeface="Malgun Gothic"/>
              </a:rPr>
              <a:t>것을</a:t>
            </a:r>
            <a:r>
              <a:rPr sz="1800" spc="-225" dirty="0">
                <a:solidFill>
                  <a:srgbClr val="0D0D0D"/>
                </a:solidFill>
                <a:latin typeface="Malgun Gothic"/>
                <a:cs typeface="Malgun Gothic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Malgun Gothic"/>
                <a:cs typeface="Malgun Gothic"/>
              </a:rPr>
              <a:t>목표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Malgun Gothic"/>
                <a:cs typeface="Malgun Gothic"/>
              </a:rPr>
              <a:t>각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키에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라우팅된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토큰의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수가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균등하도록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로드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밸런싱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손실을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최소화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0105" y="2419603"/>
            <a:ext cx="4814570" cy="652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4160" algn="l"/>
              </a:tabLst>
            </a:pPr>
            <a:r>
              <a:rPr sz="1800" dirty="0">
                <a:latin typeface="Malgun Gothic"/>
                <a:cs typeface="Malgun Gothic"/>
              </a:rPr>
              <a:t>각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토큰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임베딩이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다른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키로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고르게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분배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유도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400" spc="55" dirty="0">
                <a:solidFill>
                  <a:srgbClr val="DF5E5A"/>
                </a:solidFill>
                <a:latin typeface="Century Gothic"/>
                <a:cs typeface="Century Gothic"/>
              </a:rPr>
              <a:t>Final</a:t>
            </a:r>
            <a:r>
              <a:rPr sz="1400" spc="-25" dirty="0">
                <a:solidFill>
                  <a:srgbClr val="DF5E5A"/>
                </a:solidFill>
                <a:latin typeface="Century Gothic"/>
                <a:cs typeface="Century Gothic"/>
              </a:rPr>
              <a:t> </a:t>
            </a:r>
            <a:r>
              <a:rPr sz="1400" spc="65" dirty="0">
                <a:solidFill>
                  <a:srgbClr val="DF5E5A"/>
                </a:solidFill>
                <a:latin typeface="Century Gothic"/>
                <a:cs typeface="Century Gothic"/>
              </a:rPr>
              <a:t>Loss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0105" y="4881372"/>
            <a:ext cx="1820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96A9B"/>
                </a:solidFill>
                <a:latin typeface="Century Gothic"/>
                <a:cs typeface="Century Gothic"/>
              </a:rPr>
              <a:t>Router</a:t>
            </a:r>
            <a:r>
              <a:rPr sz="1400" spc="21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96A9B"/>
                </a:solidFill>
                <a:latin typeface="Century Gothic"/>
                <a:cs typeface="Century Gothic"/>
              </a:rPr>
              <a:t>Optimization</a:t>
            </a:r>
            <a:endParaRPr sz="1400">
              <a:latin typeface="Century Gothic"/>
              <a:cs typeface="Century Gothic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465" y="3949934"/>
            <a:ext cx="4673751" cy="72390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813963" y="5296328"/>
            <a:ext cx="4486910" cy="1304925"/>
            <a:chOff x="813963" y="5296328"/>
            <a:chExt cx="4486910" cy="130492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963" y="5816929"/>
              <a:ext cx="4486390" cy="78428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9264" y="5296328"/>
              <a:ext cx="1521859" cy="498146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58353" y="3000907"/>
            <a:ext cx="2424933" cy="66906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485060" y="2589276"/>
            <a:ext cx="1512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296A9B"/>
                </a:solidFill>
                <a:latin typeface="Century Gothic"/>
                <a:cs typeface="Century Gothic"/>
              </a:rPr>
              <a:t>L1</a:t>
            </a:r>
            <a:r>
              <a:rPr sz="1400" spc="-4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96A9B"/>
                </a:solidFill>
                <a:latin typeface="Century Gothic"/>
                <a:cs typeface="Century Gothic"/>
              </a:rPr>
              <a:t>Regularization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0105" y="3604260"/>
            <a:ext cx="3597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296A9B"/>
                </a:solidFill>
                <a:latin typeface="Century Gothic"/>
                <a:cs typeface="Century Gothic"/>
              </a:rPr>
              <a:t>Loss</a:t>
            </a:r>
            <a:r>
              <a:rPr sz="1400" spc="7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96A9B"/>
                </a:solidFill>
                <a:latin typeface="Century Gothic"/>
                <a:cs typeface="Century Gothic"/>
              </a:rPr>
              <a:t>function</a:t>
            </a:r>
            <a:r>
              <a:rPr sz="1400" spc="7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96A9B"/>
                </a:solidFill>
                <a:latin typeface="Century Gothic"/>
                <a:cs typeface="Century Gothic"/>
              </a:rPr>
              <a:t>for</a:t>
            </a:r>
            <a:r>
              <a:rPr sz="1400" spc="8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96A9B"/>
                </a:solidFill>
                <a:latin typeface="Century Gothic"/>
                <a:cs typeface="Century Gothic"/>
              </a:rPr>
              <a:t>Dynamix</a:t>
            </a:r>
            <a:r>
              <a:rPr sz="1400" spc="8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96A9B"/>
                </a:solidFill>
                <a:latin typeface="Century Gothic"/>
                <a:cs typeface="Century Gothic"/>
              </a:rPr>
              <a:t>lexical</a:t>
            </a:r>
            <a:r>
              <a:rPr sz="1400" spc="9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400" spc="45" dirty="0">
                <a:solidFill>
                  <a:srgbClr val="296A9B"/>
                </a:solidFill>
                <a:latin typeface="Century Gothic"/>
                <a:cs typeface="Century Gothic"/>
              </a:rPr>
              <a:t>routing</a:t>
            </a:r>
            <a:endParaRPr sz="1400">
              <a:latin typeface="Century Gothic"/>
              <a:cs typeface="Century Gothic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73307" y="4309222"/>
            <a:ext cx="1255310" cy="57535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485060" y="3982211"/>
            <a:ext cx="1378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296A9B"/>
                </a:solidFill>
                <a:latin typeface="Century Gothic"/>
                <a:cs typeface="Century Gothic"/>
              </a:rPr>
              <a:t>Load</a:t>
            </a:r>
            <a:r>
              <a:rPr sz="1400" spc="-5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96A9B"/>
                </a:solidFill>
                <a:latin typeface="Century Gothic"/>
                <a:cs typeface="Century Gothic"/>
              </a:rPr>
              <a:t>balancing</a:t>
            </a:r>
            <a:endParaRPr sz="1400">
              <a:latin typeface="Century Gothic"/>
              <a:cs typeface="Century Gothic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56346" y="5026701"/>
            <a:ext cx="3097578" cy="55686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41624" y="5678185"/>
            <a:ext cx="2749374" cy="56285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3251" y="3163575"/>
            <a:ext cx="2916079" cy="25459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698635" y="5829624"/>
            <a:ext cx="2030701" cy="240190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CITADEL: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Conditional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Token Interaction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via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 Dynamic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Lexical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Routing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for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 Efficient 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and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20" dirty="0">
                <a:solidFill>
                  <a:srgbClr val="000000"/>
                </a:solidFill>
                <a:latin typeface="Montserrat"/>
                <a:cs typeface="Montserrat"/>
              </a:rPr>
              <a:t>Effective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 Multi-Vector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20" dirty="0">
                <a:solidFill>
                  <a:srgbClr val="000000"/>
                </a:solidFill>
                <a:latin typeface="Montserrat"/>
                <a:cs typeface="Montserrat"/>
              </a:rPr>
              <a:t>Retrieval,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ACL23’</a:t>
            </a:r>
            <a:endParaRPr sz="800">
              <a:latin typeface="Montserrat"/>
              <a:cs typeface="Montserrat"/>
            </a:endParaRPr>
          </a:p>
          <a:p>
            <a:pPr marR="43180" algn="r">
              <a:lnSpc>
                <a:spcPct val="100000"/>
              </a:lnSpc>
              <a:spcBef>
                <a:spcPts val="70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3929379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75" dirty="0">
                <a:latin typeface="Century Gothic"/>
                <a:cs typeface="Century Gothic"/>
              </a:rPr>
              <a:t>Multi</a:t>
            </a:r>
            <a:r>
              <a:rPr sz="2800" spc="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Vector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45" dirty="0">
                <a:latin typeface="Century Gothic"/>
                <a:cs typeface="Century Gothic"/>
              </a:rPr>
              <a:t>Performances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5310" y="1827071"/>
            <a:ext cx="8889893" cy="391700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CITADEL: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Conditional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Token Interaction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via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 Dynamic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Lexical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Routing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for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 Efficient </a:t>
            </a:r>
            <a:r>
              <a:rPr sz="800" dirty="0">
                <a:solidFill>
                  <a:srgbClr val="000000"/>
                </a:solidFill>
                <a:latin typeface="Montserrat"/>
                <a:cs typeface="Montserrat"/>
              </a:rPr>
              <a:t>and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20" dirty="0">
                <a:solidFill>
                  <a:srgbClr val="000000"/>
                </a:solidFill>
                <a:latin typeface="Montserrat"/>
                <a:cs typeface="Montserrat"/>
              </a:rPr>
              <a:t>Effective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 Multi-Vector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20" dirty="0">
                <a:solidFill>
                  <a:srgbClr val="000000"/>
                </a:solidFill>
                <a:latin typeface="Montserrat"/>
                <a:cs typeface="Montserrat"/>
              </a:rPr>
              <a:t>Retrieval,</a:t>
            </a:r>
            <a:r>
              <a:rPr sz="800" spc="-5" dirty="0">
                <a:solidFill>
                  <a:srgbClr val="000000"/>
                </a:solidFill>
                <a:latin typeface="Montserrat"/>
                <a:cs typeface="Montserrat"/>
              </a:rPr>
              <a:t> </a:t>
            </a:r>
            <a:r>
              <a:rPr sz="800" spc="-10" dirty="0">
                <a:solidFill>
                  <a:srgbClr val="000000"/>
                </a:solidFill>
                <a:latin typeface="Montserrat"/>
                <a:cs typeface="Montserrat"/>
              </a:rPr>
              <a:t>ACL23’</a:t>
            </a:r>
            <a:endParaRPr sz="800">
              <a:latin typeface="Montserrat"/>
              <a:cs typeface="Montserrat"/>
            </a:endParaRPr>
          </a:p>
          <a:p>
            <a:pPr marR="43180" algn="r">
              <a:lnSpc>
                <a:spcPct val="100000"/>
              </a:lnSpc>
              <a:spcBef>
                <a:spcPts val="70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3689985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Generative</a:t>
            </a:r>
            <a:r>
              <a:rPr sz="2800" spc="-7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15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95" dirty="0">
                <a:latin typeface="Century Gothic"/>
                <a:cs typeface="Century Gothic"/>
              </a:rPr>
              <a:t>HyDE:</a:t>
            </a:r>
            <a:r>
              <a:rPr sz="1800" spc="1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Hypothetical</a:t>
            </a:r>
            <a:r>
              <a:rPr sz="1100" spc="10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Document</a:t>
            </a:r>
            <a:r>
              <a:rPr sz="1100" spc="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Embeddings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2151379"/>
            <a:ext cx="6418580" cy="246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80" dirty="0">
                <a:latin typeface="Century Gothic"/>
                <a:cs typeface="Century Gothic"/>
              </a:rPr>
              <a:t>Zero-shot</a:t>
            </a:r>
            <a:r>
              <a:rPr sz="1800" spc="3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retrieval</a:t>
            </a:r>
            <a:r>
              <a:rPr sz="1800" spc="4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성능</a:t>
            </a:r>
            <a:r>
              <a:rPr sz="1800" spc="-9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향상을</a:t>
            </a:r>
            <a:r>
              <a:rPr sz="1800" spc="-8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위해</a:t>
            </a:r>
            <a:r>
              <a:rPr sz="1800" spc="-9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제안</a:t>
            </a:r>
            <a:endParaRPr sz="18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Malgun Gothic"/>
                <a:cs typeface="Malgun Gothic"/>
              </a:rPr>
              <a:t>주어진</a:t>
            </a:r>
            <a:r>
              <a:rPr sz="1800" spc="-1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query</a:t>
            </a:r>
            <a:r>
              <a:rPr sz="1800" dirty="0">
                <a:latin typeface="Malgun Gothic"/>
                <a:cs typeface="Malgun Gothic"/>
              </a:rPr>
              <a:t>에</a:t>
            </a:r>
            <a:r>
              <a:rPr sz="1800" spc="-1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대한</a:t>
            </a:r>
            <a:r>
              <a:rPr sz="1800" spc="-105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relevant</a:t>
            </a:r>
            <a:r>
              <a:rPr sz="1800" spc="20" dirty="0">
                <a:latin typeface="Century Gothic"/>
                <a:cs typeface="Century Gothic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passage</a:t>
            </a:r>
            <a:r>
              <a:rPr sz="1800" spc="-20" dirty="0">
                <a:latin typeface="Malgun Gothic"/>
                <a:cs typeface="Malgun Gothic"/>
              </a:rPr>
              <a:t>를</a:t>
            </a:r>
            <a:r>
              <a:rPr sz="1800" spc="-10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생성</a:t>
            </a:r>
            <a:r>
              <a:rPr sz="1800" spc="-1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모델로</a:t>
            </a:r>
            <a:r>
              <a:rPr sz="1800" spc="-10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생성</a:t>
            </a:r>
            <a:endParaRPr sz="18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Malgun Gothic"/>
                <a:cs typeface="Malgun Gothic"/>
              </a:rPr>
              <a:t>생성된</a:t>
            </a:r>
            <a:r>
              <a:rPr sz="1800" spc="-150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passage</a:t>
            </a:r>
            <a:r>
              <a:rPr sz="1800" spc="-10" dirty="0">
                <a:latin typeface="Malgun Gothic"/>
                <a:cs typeface="Malgun Gothic"/>
              </a:rPr>
              <a:t>를</a:t>
            </a:r>
            <a:r>
              <a:rPr sz="1800" spc="-14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기반으로</a:t>
            </a:r>
            <a:r>
              <a:rPr sz="1800" spc="-15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collection</a:t>
            </a:r>
            <a:r>
              <a:rPr sz="1800" dirty="0">
                <a:latin typeface="Malgun Gothic"/>
                <a:cs typeface="Malgun Gothic"/>
              </a:rPr>
              <a:t>에</a:t>
            </a:r>
            <a:r>
              <a:rPr sz="1800" spc="-14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검색</a:t>
            </a:r>
            <a:endParaRPr sz="1800">
              <a:latin typeface="Malgun Gothic"/>
              <a:cs typeface="Malgun Gothic"/>
            </a:endParaRPr>
          </a:p>
          <a:p>
            <a:pPr marL="241300" marR="3692525" indent="-228600">
              <a:lnSpc>
                <a:spcPct val="1211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latin typeface="Century Gothic"/>
                <a:cs typeface="Century Gothic"/>
              </a:rPr>
              <a:t>Query-passage</a:t>
            </a:r>
            <a:r>
              <a:rPr sz="1800" spc="12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검색에 </a:t>
            </a:r>
            <a:r>
              <a:rPr sz="1800" dirty="0">
                <a:latin typeface="Malgun Gothic"/>
                <a:cs typeface="Malgun Gothic"/>
              </a:rPr>
              <a:t>비하여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유의미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함</a:t>
            </a:r>
            <a:endParaRPr sz="18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Malgun Gothic"/>
                <a:cs typeface="Malgun Gothic"/>
              </a:rPr>
              <a:t>단지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생성에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필요한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시간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5267" y="3469142"/>
            <a:ext cx="8183282" cy="27382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229248" y="6304788"/>
            <a:ext cx="34258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Montserrat"/>
                <a:cs typeface="Montserrat"/>
              </a:rPr>
              <a:t>Precise</a:t>
            </a:r>
            <a:r>
              <a:rPr sz="800" spc="-20" dirty="0">
                <a:latin typeface="Montserrat"/>
                <a:cs typeface="Montserrat"/>
              </a:rPr>
              <a:t> Zero-</a:t>
            </a:r>
            <a:r>
              <a:rPr sz="800" dirty="0">
                <a:latin typeface="Montserrat"/>
                <a:cs typeface="Montserrat"/>
              </a:rPr>
              <a:t>Shot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Dense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Retrieval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without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Relevance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Labels,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ACL23’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19270" y="1129419"/>
            <a:ext cx="4800678" cy="17631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473809" y="6581320"/>
            <a:ext cx="18097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8053070" cy="5889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Generative</a:t>
            </a:r>
            <a:r>
              <a:rPr sz="2800" spc="-7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76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Malgun Gothic"/>
                <a:cs typeface="Malgun Gothic"/>
              </a:rPr>
              <a:t>기존</a:t>
            </a:r>
            <a:r>
              <a:rPr sz="2000" spc="-175" dirty="0">
                <a:latin typeface="Malgun Gothic"/>
                <a:cs typeface="Malgun Gothic"/>
              </a:rPr>
              <a:t> </a:t>
            </a:r>
            <a:r>
              <a:rPr sz="2000" spc="50" dirty="0">
                <a:latin typeface="Century Gothic"/>
                <a:cs typeface="Century Gothic"/>
              </a:rPr>
              <a:t>retriever</a:t>
            </a:r>
            <a:r>
              <a:rPr sz="2000" spc="50" dirty="0">
                <a:latin typeface="Malgun Gothic"/>
                <a:cs typeface="Malgun Gothic"/>
              </a:rPr>
              <a:t>의</a:t>
            </a:r>
            <a:r>
              <a:rPr sz="2000" spc="-17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한계</a:t>
            </a:r>
            <a:endParaRPr sz="20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518159" algn="l"/>
              </a:tabLst>
            </a:pPr>
            <a:r>
              <a:rPr sz="2000" dirty="0">
                <a:latin typeface="Century Gothic"/>
                <a:cs typeface="Century Gothic"/>
              </a:rPr>
              <a:t>Inverted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Index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방식의</a:t>
            </a:r>
            <a:r>
              <a:rPr sz="2000" spc="-5" dirty="0">
                <a:latin typeface="Malgun Gothic"/>
                <a:cs typeface="Malgun Gothic"/>
              </a:rPr>
              <a:t> </a:t>
            </a:r>
            <a:r>
              <a:rPr sz="2000" spc="-35" dirty="0">
                <a:latin typeface="Malgun Gothic"/>
                <a:cs typeface="Malgun Gothic"/>
              </a:rPr>
              <a:t>한계</a:t>
            </a:r>
            <a:endParaRPr sz="20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840105" algn="l"/>
              </a:tabLst>
            </a:pPr>
            <a:r>
              <a:rPr sz="1700" dirty="0">
                <a:solidFill>
                  <a:srgbClr val="296A9B"/>
                </a:solidFill>
                <a:latin typeface="Century Gothic"/>
                <a:cs typeface="Century Gothic"/>
              </a:rPr>
              <a:t>Exact</a:t>
            </a:r>
            <a:r>
              <a:rPr sz="1700" spc="15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700" spc="95" dirty="0">
                <a:solidFill>
                  <a:srgbClr val="296A9B"/>
                </a:solidFill>
                <a:latin typeface="Century Gothic"/>
                <a:cs typeface="Century Gothic"/>
              </a:rPr>
              <a:t>term</a:t>
            </a:r>
            <a:r>
              <a:rPr sz="1700" spc="15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Century Gothic"/>
                <a:cs typeface="Century Gothic"/>
              </a:rPr>
              <a:t>matching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에</a:t>
            </a:r>
            <a:r>
              <a:rPr sz="1700" spc="3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의존</a:t>
            </a:r>
            <a:r>
              <a:rPr sz="1700" dirty="0">
                <a:latin typeface="Malgun Gothic"/>
                <a:cs typeface="Malgun Gothic"/>
              </a:rPr>
              <a:t>하므로</a:t>
            </a:r>
            <a:r>
              <a:rPr sz="1700" spc="30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semantic</a:t>
            </a:r>
            <a:r>
              <a:rPr sz="1700" spc="16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matching</a:t>
            </a:r>
            <a:r>
              <a:rPr sz="1700" dirty="0">
                <a:latin typeface="Malgun Gothic"/>
                <a:cs typeface="Malgun Gothic"/>
              </a:rPr>
              <a:t>이</a:t>
            </a:r>
            <a:r>
              <a:rPr sz="1700" spc="30" dirty="0">
                <a:latin typeface="Malgun Gothic"/>
                <a:cs typeface="Malgun Gothic"/>
              </a:rPr>
              <a:t> </a:t>
            </a:r>
            <a:r>
              <a:rPr sz="1700" spc="-25" dirty="0">
                <a:latin typeface="Malgun Gothic"/>
                <a:cs typeface="Malgun Gothic"/>
              </a:rPr>
              <a:t>어려움</a:t>
            </a:r>
            <a:endParaRPr sz="17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840105" algn="l"/>
              </a:tabLst>
            </a:pPr>
            <a:r>
              <a:rPr sz="1700" dirty="0">
                <a:latin typeface="Century Gothic"/>
                <a:cs typeface="Century Gothic"/>
              </a:rPr>
              <a:t>Query</a:t>
            </a:r>
            <a:r>
              <a:rPr sz="1700" dirty="0">
                <a:latin typeface="Malgun Gothic"/>
                <a:cs typeface="Malgun Gothic"/>
              </a:rPr>
              <a:t>와</a:t>
            </a:r>
            <a:r>
              <a:rPr sz="1700" spc="-55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document</a:t>
            </a:r>
            <a:r>
              <a:rPr sz="1700" dirty="0">
                <a:latin typeface="Malgun Gothic"/>
                <a:cs typeface="Malgun Gothic"/>
              </a:rPr>
              <a:t>가</a:t>
            </a:r>
            <a:r>
              <a:rPr sz="1700" spc="-55" dirty="0"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동일한</a:t>
            </a:r>
            <a:r>
              <a:rPr sz="1700" spc="-5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spc="75" dirty="0">
                <a:solidFill>
                  <a:srgbClr val="296A9B"/>
                </a:solidFill>
                <a:latin typeface="Century Gothic"/>
                <a:cs typeface="Century Gothic"/>
              </a:rPr>
              <a:t>term</a:t>
            </a:r>
            <a:r>
              <a:rPr sz="1700" spc="75" dirty="0">
                <a:solidFill>
                  <a:srgbClr val="296A9B"/>
                </a:solidFill>
                <a:latin typeface="Malgun Gothic"/>
                <a:cs typeface="Malgun Gothic"/>
              </a:rPr>
              <a:t>을</a:t>
            </a:r>
            <a:r>
              <a:rPr sz="1700" spc="-5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포함</a:t>
            </a:r>
            <a:r>
              <a:rPr sz="1700" dirty="0">
                <a:latin typeface="Malgun Gothic"/>
                <a:cs typeface="Malgun Gothic"/>
              </a:rPr>
              <a:t>하지</a:t>
            </a:r>
            <a:r>
              <a:rPr sz="1700" spc="-55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않으면</a:t>
            </a:r>
            <a:r>
              <a:rPr sz="1700" spc="-55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retrieval</a:t>
            </a:r>
            <a:r>
              <a:rPr sz="1700" spc="80" dirty="0">
                <a:latin typeface="Century Gothic"/>
                <a:cs typeface="Century Gothic"/>
              </a:rPr>
              <a:t> </a:t>
            </a:r>
            <a:r>
              <a:rPr sz="1700" spc="-25" dirty="0">
                <a:latin typeface="Malgun Gothic"/>
                <a:cs typeface="Malgun Gothic"/>
              </a:rPr>
              <a:t>불가</a:t>
            </a:r>
            <a:endParaRPr sz="17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518159" algn="l"/>
              </a:tabLst>
            </a:pPr>
            <a:r>
              <a:rPr sz="2000" spc="50" dirty="0">
                <a:latin typeface="Century Gothic"/>
                <a:cs typeface="Century Gothic"/>
              </a:rPr>
              <a:t>Dense</a:t>
            </a:r>
            <a:r>
              <a:rPr sz="2000" spc="1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Retrieval</a:t>
            </a:r>
            <a:r>
              <a:rPr sz="2000" spc="10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방식의</a:t>
            </a:r>
            <a:r>
              <a:rPr sz="2000" spc="-4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한계</a:t>
            </a:r>
            <a:endParaRPr sz="20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840105" algn="l"/>
              </a:tabLst>
            </a:pPr>
            <a:r>
              <a:rPr sz="1700" dirty="0">
                <a:latin typeface="Century Gothic"/>
                <a:cs typeface="Century Gothic"/>
              </a:rPr>
              <a:t>Document</a:t>
            </a:r>
            <a:r>
              <a:rPr sz="1700" dirty="0">
                <a:latin typeface="Malgun Gothic"/>
                <a:cs typeface="Malgun Gothic"/>
              </a:rPr>
              <a:t>를</a:t>
            </a:r>
            <a:r>
              <a:rPr sz="1700" spc="-60" dirty="0">
                <a:latin typeface="Malgun Gothic"/>
                <a:cs typeface="Malgun Gothic"/>
              </a:rPr>
              <a:t> </a:t>
            </a:r>
            <a:r>
              <a:rPr sz="1700" spc="70" dirty="0">
                <a:solidFill>
                  <a:srgbClr val="296A9B"/>
                </a:solidFill>
                <a:latin typeface="Century Gothic"/>
                <a:cs typeface="Century Gothic"/>
              </a:rPr>
              <a:t>single </a:t>
            </a:r>
            <a:r>
              <a:rPr sz="1700" dirty="0">
                <a:solidFill>
                  <a:srgbClr val="296A9B"/>
                </a:solidFill>
                <a:latin typeface="Century Gothic"/>
                <a:cs typeface="Century Gothic"/>
              </a:rPr>
              <a:t>embedding</a:t>
            </a:r>
            <a:r>
              <a:rPr sz="1700" spc="6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296A9B"/>
                </a:solidFill>
                <a:latin typeface="Century Gothic"/>
                <a:cs typeface="Century Gothic"/>
              </a:rPr>
              <a:t>vector</a:t>
            </a:r>
            <a:r>
              <a:rPr sz="1700" spc="-10" dirty="0">
                <a:solidFill>
                  <a:srgbClr val="296A9B"/>
                </a:solidFill>
                <a:latin typeface="Malgun Gothic"/>
                <a:cs typeface="Malgun Gothic"/>
              </a:rPr>
              <a:t>로</a:t>
            </a:r>
            <a:r>
              <a:rPr sz="1700" spc="-5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표현하는</a:t>
            </a:r>
            <a:r>
              <a:rPr sz="1700" spc="-6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데에는</a:t>
            </a:r>
            <a:r>
              <a:rPr sz="1700" spc="-5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한계</a:t>
            </a:r>
            <a:r>
              <a:rPr sz="1700" dirty="0">
                <a:latin typeface="Malgun Gothic"/>
                <a:cs typeface="Malgun Gothic"/>
              </a:rPr>
              <a:t>가</a:t>
            </a:r>
            <a:r>
              <a:rPr sz="1700" spc="-60" dirty="0">
                <a:latin typeface="Malgun Gothic"/>
                <a:cs typeface="Malgun Gothic"/>
              </a:rPr>
              <a:t> </a:t>
            </a:r>
            <a:r>
              <a:rPr sz="1700" spc="-25" dirty="0">
                <a:latin typeface="Malgun Gothic"/>
                <a:cs typeface="Malgun Gothic"/>
              </a:rPr>
              <a:t>있음</a:t>
            </a:r>
            <a:endParaRPr sz="1700">
              <a:latin typeface="Malgun Gothic"/>
              <a:cs typeface="Malgun Gothic"/>
            </a:endParaRPr>
          </a:p>
          <a:p>
            <a:pPr marL="1127760" lvl="3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27760" algn="l"/>
              </a:tabLst>
            </a:pPr>
            <a:r>
              <a:rPr sz="1700" dirty="0">
                <a:latin typeface="Century Gothic"/>
                <a:cs typeface="Century Gothic"/>
              </a:rPr>
              <a:t>Document</a:t>
            </a:r>
            <a:r>
              <a:rPr sz="1700" dirty="0">
                <a:latin typeface="Malgun Gothic"/>
                <a:cs typeface="Malgun Gothic"/>
              </a:rPr>
              <a:t>의</a:t>
            </a:r>
            <a:r>
              <a:rPr sz="1700" spc="-2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모든</a:t>
            </a:r>
            <a:r>
              <a:rPr sz="1700" spc="-15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semantic</a:t>
            </a:r>
            <a:r>
              <a:rPr sz="1700" spc="110" dirty="0">
                <a:latin typeface="Century Gothic"/>
                <a:cs typeface="Century Gothic"/>
              </a:rPr>
              <a:t> </a:t>
            </a:r>
            <a:r>
              <a:rPr sz="1700" spc="55" dirty="0">
                <a:latin typeface="Century Gothic"/>
                <a:cs typeface="Century Gothic"/>
              </a:rPr>
              <a:t>information</a:t>
            </a:r>
            <a:r>
              <a:rPr sz="1700" spc="55" dirty="0">
                <a:latin typeface="Malgun Gothic"/>
                <a:cs typeface="Malgun Gothic"/>
              </a:rPr>
              <a:t>을</a:t>
            </a:r>
            <a:r>
              <a:rPr sz="1700" spc="-15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함축하기</a:t>
            </a:r>
            <a:r>
              <a:rPr sz="1700" spc="-20" dirty="0">
                <a:latin typeface="Malgun Gothic"/>
                <a:cs typeface="Malgun Gothic"/>
              </a:rPr>
              <a:t> </a:t>
            </a:r>
            <a:r>
              <a:rPr sz="1700" spc="-25" dirty="0">
                <a:latin typeface="Malgun Gothic"/>
                <a:cs typeface="Malgun Gothic"/>
              </a:rPr>
              <a:t>어려움</a:t>
            </a:r>
            <a:endParaRPr sz="17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840105" algn="l"/>
              </a:tabLst>
            </a:pPr>
            <a:r>
              <a:rPr sz="1700" dirty="0">
                <a:latin typeface="Century Gothic"/>
                <a:cs typeface="Century Gothic"/>
              </a:rPr>
              <a:t>Query</a:t>
            </a:r>
            <a:r>
              <a:rPr sz="1700" dirty="0">
                <a:latin typeface="Malgun Gothic"/>
                <a:cs typeface="Malgun Gothic"/>
              </a:rPr>
              <a:t>와</a:t>
            </a:r>
            <a:r>
              <a:rPr sz="1700" spc="-10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document</a:t>
            </a:r>
            <a:r>
              <a:rPr sz="1700" spc="12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사이의</a:t>
            </a:r>
            <a:r>
              <a:rPr sz="1700" spc="-5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interaction</a:t>
            </a:r>
            <a:r>
              <a:rPr sz="1700" dirty="0">
                <a:latin typeface="Malgun Gothic"/>
                <a:cs typeface="Malgun Gothic"/>
              </a:rPr>
              <a:t>을</a:t>
            </a:r>
            <a:r>
              <a:rPr sz="1700" spc="-10" dirty="0"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모델링하기</a:t>
            </a:r>
            <a:r>
              <a:rPr sz="1700" spc="-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296A9B"/>
                </a:solidFill>
                <a:latin typeface="Malgun Gothic"/>
                <a:cs typeface="Malgun Gothic"/>
              </a:rPr>
              <a:t>어려움</a:t>
            </a:r>
            <a:endParaRPr sz="1700">
              <a:latin typeface="Malgun Gothic"/>
              <a:cs typeface="Malgun Gothic"/>
            </a:endParaRPr>
          </a:p>
          <a:p>
            <a:pPr marL="1127760" lvl="3" indent="-22796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127760" algn="l"/>
              </a:tabLst>
            </a:pPr>
            <a:r>
              <a:rPr sz="1700" spc="10" dirty="0">
                <a:latin typeface="Century Gothic"/>
                <a:cs typeface="Century Gothic"/>
              </a:rPr>
              <a:t>Representation</a:t>
            </a:r>
            <a:r>
              <a:rPr sz="1700" spc="10" dirty="0">
                <a:latin typeface="Malgun Gothic"/>
                <a:cs typeface="Malgun Gothic"/>
              </a:rPr>
              <a:t>은</a:t>
            </a:r>
            <a:r>
              <a:rPr sz="1700" spc="-30" dirty="0">
                <a:latin typeface="Malgun Gothic"/>
                <a:cs typeface="Malgun Gothic"/>
              </a:rPr>
              <a:t> </a:t>
            </a:r>
            <a:r>
              <a:rPr sz="1700" spc="10" dirty="0">
                <a:latin typeface="Century Gothic"/>
                <a:cs typeface="Century Gothic"/>
              </a:rPr>
              <a:t>Query</a:t>
            </a:r>
            <a:r>
              <a:rPr sz="1700" spc="10" dirty="0">
                <a:latin typeface="Malgun Gothic"/>
                <a:cs typeface="Malgun Gothic"/>
              </a:rPr>
              <a:t>와</a:t>
            </a:r>
            <a:r>
              <a:rPr sz="1700" spc="-25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독립적으로</a:t>
            </a:r>
            <a:r>
              <a:rPr sz="1700" spc="-25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미리</a:t>
            </a:r>
            <a:r>
              <a:rPr sz="1700" spc="-25" dirty="0">
                <a:latin typeface="Malgun Gothic"/>
                <a:cs typeface="Malgun Gothic"/>
              </a:rPr>
              <a:t> </a:t>
            </a:r>
            <a:r>
              <a:rPr sz="1700" spc="-10" dirty="0">
                <a:latin typeface="Malgun Gothic"/>
                <a:cs typeface="Malgun Gothic"/>
              </a:rPr>
              <a:t>계산되므로</a:t>
            </a:r>
            <a:endParaRPr sz="1700">
              <a:latin typeface="Malgun Gothic"/>
              <a:cs typeface="Malgun Gothic"/>
            </a:endParaRPr>
          </a:p>
          <a:p>
            <a:pPr marL="1127760" lvl="3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27760" algn="l"/>
              </a:tabLst>
            </a:pPr>
            <a:r>
              <a:rPr sz="1700" dirty="0">
                <a:latin typeface="Century Gothic"/>
                <a:cs typeface="Century Gothic"/>
              </a:rPr>
              <a:t>Retrieval</a:t>
            </a:r>
            <a:r>
              <a:rPr sz="1700" spc="4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시에는</a:t>
            </a:r>
            <a:r>
              <a:rPr sz="1700" spc="-85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cosine</a:t>
            </a:r>
            <a:r>
              <a:rPr sz="1700" spc="45" dirty="0">
                <a:latin typeface="Century Gothic"/>
                <a:cs typeface="Century Gothic"/>
              </a:rPr>
              <a:t> </a:t>
            </a:r>
            <a:r>
              <a:rPr sz="1700" spc="95" dirty="0">
                <a:latin typeface="Century Gothic"/>
                <a:cs typeface="Century Gothic"/>
              </a:rPr>
              <a:t>similarity</a:t>
            </a:r>
            <a:r>
              <a:rPr sz="1700" spc="4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등</a:t>
            </a:r>
            <a:r>
              <a:rPr sz="1700" spc="-85" dirty="0"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간단한</a:t>
            </a:r>
            <a:r>
              <a:rPr sz="1700" spc="-8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함수만</a:t>
            </a:r>
            <a:r>
              <a:rPr sz="1700" spc="-8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296A9B"/>
                </a:solidFill>
                <a:latin typeface="Malgun Gothic"/>
                <a:cs typeface="Malgun Gothic"/>
              </a:rPr>
              <a:t>사용</a:t>
            </a:r>
            <a:endParaRPr sz="17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518159" algn="l"/>
              </a:tabLst>
            </a:pPr>
            <a:r>
              <a:rPr sz="2000" dirty="0">
                <a:latin typeface="Century Gothic"/>
                <a:cs typeface="Century Gothic"/>
              </a:rPr>
              <a:t>Retrieval</a:t>
            </a:r>
            <a:r>
              <a:rPr sz="2000" spc="15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최적화의</a:t>
            </a:r>
            <a:r>
              <a:rPr sz="2000" spc="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어려움</a:t>
            </a:r>
            <a:endParaRPr sz="20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840105" algn="l"/>
              </a:tabLst>
            </a:pPr>
            <a:r>
              <a:rPr sz="1700" dirty="0">
                <a:latin typeface="Century Gothic"/>
                <a:cs typeface="Century Gothic"/>
              </a:rPr>
              <a:t>Index</a:t>
            </a:r>
            <a:r>
              <a:rPr sz="1700" dirty="0">
                <a:latin typeface="Malgun Gothic"/>
                <a:cs typeface="Malgun Gothic"/>
              </a:rPr>
              <a:t>는</a:t>
            </a:r>
            <a:r>
              <a:rPr sz="1700" spc="25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retrieval</a:t>
            </a:r>
            <a:r>
              <a:rPr sz="1700" spc="16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target</a:t>
            </a:r>
            <a:r>
              <a:rPr sz="1700" dirty="0">
                <a:latin typeface="Malgun Gothic"/>
                <a:cs typeface="Malgun Gothic"/>
              </a:rPr>
              <a:t>과</a:t>
            </a:r>
            <a:r>
              <a:rPr sz="1700" spc="3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독립적으로</a:t>
            </a:r>
            <a:r>
              <a:rPr sz="1700" spc="25" dirty="0">
                <a:latin typeface="Malgun Gothic"/>
                <a:cs typeface="Malgun Gothic"/>
              </a:rPr>
              <a:t> </a:t>
            </a:r>
            <a:r>
              <a:rPr sz="1700" spc="-25" dirty="0">
                <a:latin typeface="Malgun Gothic"/>
                <a:cs typeface="Malgun Gothic"/>
              </a:rPr>
              <a:t>구축됨</a:t>
            </a:r>
            <a:endParaRPr sz="17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840105" algn="l"/>
              </a:tabLst>
            </a:pPr>
            <a:r>
              <a:rPr sz="1700" dirty="0">
                <a:latin typeface="Century Gothic"/>
                <a:cs typeface="Century Gothic"/>
              </a:rPr>
              <a:t>Target</a:t>
            </a:r>
            <a:r>
              <a:rPr sz="1700" spc="20" dirty="0">
                <a:latin typeface="Century Gothic"/>
                <a:cs typeface="Century Gothic"/>
              </a:rPr>
              <a:t> </a:t>
            </a:r>
            <a:r>
              <a:rPr sz="1700" spc="50" dirty="0">
                <a:latin typeface="Century Gothic"/>
                <a:cs typeface="Century Gothic"/>
              </a:rPr>
              <a:t>metric</a:t>
            </a:r>
            <a:r>
              <a:rPr sz="1700" spc="50" dirty="0">
                <a:latin typeface="Malgun Gothic"/>
                <a:cs typeface="Malgun Gothic"/>
              </a:rPr>
              <a:t>에</a:t>
            </a:r>
            <a:r>
              <a:rPr sz="1700" spc="-10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맞게</a:t>
            </a:r>
            <a:r>
              <a:rPr sz="1700" spc="-105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직접</a:t>
            </a:r>
            <a:r>
              <a:rPr sz="1700" spc="-10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최적화하는</a:t>
            </a:r>
            <a:r>
              <a:rPr sz="1700" spc="-10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것이</a:t>
            </a:r>
            <a:r>
              <a:rPr sz="1700" spc="-105" dirty="0">
                <a:latin typeface="Malgun Gothic"/>
                <a:cs typeface="Malgun Gothic"/>
              </a:rPr>
              <a:t> </a:t>
            </a:r>
            <a:r>
              <a:rPr sz="1700" spc="-25" dirty="0">
                <a:latin typeface="Malgun Gothic"/>
                <a:cs typeface="Malgun Gothic"/>
              </a:rPr>
              <a:t>불가능</a:t>
            </a:r>
            <a:endParaRPr sz="17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18159" algn="l"/>
              </a:tabLst>
            </a:pPr>
            <a:r>
              <a:rPr sz="2000" spc="114" dirty="0">
                <a:latin typeface="Century Gothic"/>
                <a:cs typeface="Century Gothic"/>
              </a:rPr>
              <a:t>System</a:t>
            </a:r>
            <a:r>
              <a:rPr sz="2000" spc="-3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관점에서의</a:t>
            </a:r>
            <a:r>
              <a:rPr sz="2000" spc="-180" dirty="0">
                <a:latin typeface="Malgun Gothic"/>
                <a:cs typeface="Malgun Gothic"/>
              </a:rPr>
              <a:t> </a:t>
            </a:r>
            <a:r>
              <a:rPr sz="2000" spc="-20" dirty="0">
                <a:latin typeface="Malgun Gothic"/>
                <a:cs typeface="Malgun Gothic"/>
              </a:rPr>
              <a:t>비효율성</a:t>
            </a:r>
            <a:endParaRPr sz="20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840105" algn="l"/>
              </a:tabLst>
            </a:pPr>
            <a:r>
              <a:rPr sz="1700" dirty="0">
                <a:latin typeface="Century Gothic"/>
                <a:cs typeface="Century Gothic"/>
              </a:rPr>
              <a:t>Retrieval</a:t>
            </a:r>
            <a:r>
              <a:rPr sz="1700" spc="8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이후에</a:t>
            </a:r>
            <a:r>
              <a:rPr sz="1700" spc="-45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별도의</a:t>
            </a:r>
            <a:r>
              <a:rPr sz="1700" spc="-45" dirty="0">
                <a:latin typeface="Malgun Gothic"/>
                <a:cs typeface="Malgun Gothic"/>
              </a:rPr>
              <a:t> </a:t>
            </a:r>
            <a:r>
              <a:rPr sz="1700" spc="70" dirty="0">
                <a:solidFill>
                  <a:srgbClr val="296A9B"/>
                </a:solidFill>
                <a:latin typeface="Century Gothic"/>
                <a:cs typeface="Century Gothic"/>
              </a:rPr>
              <a:t>ranking</a:t>
            </a:r>
            <a:r>
              <a:rPr sz="1700" spc="8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Century Gothic"/>
                <a:cs typeface="Century Gothic"/>
              </a:rPr>
              <a:t>model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이</a:t>
            </a:r>
            <a:r>
              <a:rPr sz="1700" spc="-5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296A9B"/>
                </a:solidFill>
                <a:latin typeface="Malgun Gothic"/>
                <a:cs typeface="Malgun Gothic"/>
              </a:rPr>
              <a:t>필요함</a:t>
            </a:r>
            <a:endParaRPr sz="17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840105" algn="l"/>
              </a:tabLst>
            </a:pPr>
            <a:r>
              <a:rPr sz="1700" dirty="0">
                <a:latin typeface="Century Gothic"/>
                <a:cs typeface="Century Gothic"/>
              </a:rPr>
              <a:t>Index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구축과</a:t>
            </a:r>
            <a:r>
              <a:rPr sz="1700" spc="-70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retrieval,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spc="60" dirty="0">
                <a:latin typeface="Century Gothic"/>
                <a:cs typeface="Century Gothic"/>
              </a:rPr>
              <a:t>ranking</a:t>
            </a:r>
            <a:r>
              <a:rPr sz="1700" spc="60" dirty="0">
                <a:latin typeface="Malgun Gothic"/>
                <a:cs typeface="Malgun Gothic"/>
              </a:rPr>
              <a:t>이</a:t>
            </a:r>
            <a:r>
              <a:rPr sz="1700" spc="-7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독립적으로</a:t>
            </a:r>
            <a:r>
              <a:rPr sz="1700" spc="-70" dirty="0">
                <a:latin typeface="Malgun Gothic"/>
                <a:cs typeface="Malgun Gothic"/>
              </a:rPr>
              <a:t> </a:t>
            </a:r>
            <a:r>
              <a:rPr sz="1700" dirty="0">
                <a:latin typeface="Malgun Gothic"/>
                <a:cs typeface="Malgun Gothic"/>
              </a:rPr>
              <a:t>이뤄지므로</a:t>
            </a:r>
            <a:r>
              <a:rPr sz="1700" spc="-75" dirty="0">
                <a:latin typeface="Malgun Gothic"/>
                <a:cs typeface="Malgun Gothic"/>
              </a:rPr>
              <a:t> </a:t>
            </a:r>
            <a:r>
              <a:rPr sz="1700" spc="-20" dirty="0">
                <a:latin typeface="Malgun Gothic"/>
                <a:cs typeface="Malgun Gothic"/>
              </a:rPr>
              <a:t>비효율적</a:t>
            </a:r>
            <a:endParaRPr sz="17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840105" algn="l"/>
              </a:tabLst>
            </a:pPr>
            <a:r>
              <a:rPr sz="1700" dirty="0">
                <a:latin typeface="Malgun Gothic"/>
                <a:cs typeface="Malgun Gothic"/>
              </a:rPr>
              <a:t>전체</a:t>
            </a:r>
            <a:r>
              <a:rPr sz="1700" spc="-45" dirty="0">
                <a:latin typeface="Malgun Gothic"/>
                <a:cs typeface="Malgun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pipeline</a:t>
            </a:r>
            <a:r>
              <a:rPr sz="1700" dirty="0">
                <a:latin typeface="Malgun Gothic"/>
                <a:cs typeface="Malgun Gothic"/>
              </a:rPr>
              <a:t>을</a:t>
            </a:r>
            <a:r>
              <a:rPr sz="1700" spc="-45" dirty="0"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Century Gothic"/>
                <a:cs typeface="Century Gothic"/>
              </a:rPr>
              <a:t>end-to-</a:t>
            </a:r>
            <a:r>
              <a:rPr sz="1700" spc="-10" dirty="0">
                <a:solidFill>
                  <a:srgbClr val="296A9B"/>
                </a:solidFill>
                <a:latin typeface="Century Gothic"/>
                <a:cs typeface="Century Gothic"/>
              </a:rPr>
              <a:t>end</a:t>
            </a:r>
            <a:r>
              <a:rPr sz="1700" spc="-10" dirty="0">
                <a:solidFill>
                  <a:srgbClr val="296A9B"/>
                </a:solidFill>
                <a:latin typeface="Malgun Gothic"/>
                <a:cs typeface="Malgun Gothic"/>
              </a:rPr>
              <a:t>로</a:t>
            </a:r>
            <a:r>
              <a:rPr sz="1700" spc="-4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최적화하는</a:t>
            </a:r>
            <a:r>
              <a:rPr sz="1700" spc="-4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Malgun Gothic"/>
                <a:cs typeface="Malgun Gothic"/>
              </a:rPr>
              <a:t>것이</a:t>
            </a:r>
            <a:r>
              <a:rPr sz="1700" spc="-4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296A9B"/>
                </a:solidFill>
                <a:latin typeface="Malgun Gothic"/>
                <a:cs typeface="Malgun Gothic"/>
              </a:rPr>
              <a:t>어려움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5485" y="6304788"/>
            <a:ext cx="30499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Montserrat"/>
                <a:cs typeface="Montserrat"/>
              </a:rPr>
              <a:t>A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Neural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Corpus</a:t>
            </a:r>
            <a:r>
              <a:rPr sz="800" spc="-10" dirty="0">
                <a:latin typeface="Montserrat"/>
                <a:cs typeface="Montserrat"/>
              </a:rPr>
              <a:t> Indexer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Document</a:t>
            </a:r>
            <a:r>
              <a:rPr sz="800" spc="-20" dirty="0">
                <a:latin typeface="Montserrat"/>
                <a:cs typeface="Montserrat"/>
              </a:rPr>
              <a:t> Retrieval,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NeurIPS22’</a:t>
            </a:r>
            <a:endParaRPr sz="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8477250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Generative</a:t>
            </a:r>
            <a:r>
              <a:rPr sz="2800" spc="-7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entury Gothic"/>
                <a:cs typeface="Century Gothic"/>
              </a:rPr>
              <a:t>A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spc="55" dirty="0">
                <a:solidFill>
                  <a:srgbClr val="296A9B"/>
                </a:solidFill>
                <a:latin typeface="Century Gothic"/>
                <a:cs typeface="Century Gothic"/>
              </a:rPr>
              <a:t>Neural</a:t>
            </a:r>
            <a:r>
              <a:rPr sz="2400" spc="-2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296A9B"/>
                </a:solidFill>
                <a:latin typeface="Century Gothic"/>
                <a:cs typeface="Century Gothic"/>
              </a:rPr>
              <a:t>Corpus</a:t>
            </a:r>
            <a:r>
              <a:rPr sz="2400" spc="-2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400" spc="55" dirty="0">
                <a:solidFill>
                  <a:srgbClr val="296A9B"/>
                </a:solidFill>
                <a:latin typeface="Century Gothic"/>
                <a:cs typeface="Century Gothic"/>
              </a:rPr>
              <a:t>Indexer</a:t>
            </a:r>
            <a:r>
              <a:rPr sz="2400" spc="-2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296A9B"/>
                </a:solidFill>
                <a:latin typeface="Century Gothic"/>
                <a:cs typeface="Century Gothic"/>
              </a:rPr>
              <a:t>(NCI)</a:t>
            </a:r>
            <a:r>
              <a:rPr sz="2400" spc="-3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400" spc="65" dirty="0">
                <a:latin typeface="Century Gothic"/>
                <a:cs typeface="Century Gothic"/>
              </a:rPr>
              <a:t>for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spc="60" dirty="0">
                <a:latin typeface="Century Gothic"/>
                <a:cs typeface="Century Gothic"/>
              </a:rPr>
              <a:t>Document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spc="40" dirty="0">
                <a:latin typeface="Century Gothic"/>
                <a:cs typeface="Century Gothic"/>
              </a:rPr>
              <a:t>Retrieval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9917" y="2118615"/>
            <a:ext cx="10387950" cy="322452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05485" y="6308039"/>
            <a:ext cx="3049905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Montserrat"/>
                <a:cs typeface="Montserrat"/>
              </a:rPr>
              <a:t>A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Neural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Corpus</a:t>
            </a:r>
            <a:r>
              <a:rPr sz="800" spc="-10" dirty="0">
                <a:latin typeface="Montserrat"/>
                <a:cs typeface="Montserrat"/>
              </a:rPr>
              <a:t> Indexer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Document</a:t>
            </a:r>
            <a:r>
              <a:rPr sz="800" spc="-20" dirty="0">
                <a:latin typeface="Montserrat"/>
                <a:cs typeface="Montserrat"/>
              </a:rPr>
              <a:t> Retrieval,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NeurIPS22’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6426200" cy="496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Generative</a:t>
            </a:r>
            <a:r>
              <a:rPr sz="2800" spc="-7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055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entury Gothic"/>
                <a:cs typeface="Century Gothic"/>
              </a:rPr>
              <a:t>A</a:t>
            </a:r>
            <a:r>
              <a:rPr sz="1800" spc="70" dirty="0"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Neural</a:t>
            </a:r>
            <a:r>
              <a:rPr sz="1800" spc="7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Corpus</a:t>
            </a:r>
            <a:r>
              <a:rPr sz="1800" spc="7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Indexer</a:t>
            </a:r>
            <a:r>
              <a:rPr sz="1800" spc="8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96A9B"/>
                </a:solidFill>
                <a:latin typeface="Century Gothic"/>
                <a:cs typeface="Century Gothic"/>
              </a:rPr>
              <a:t>(NCI)</a:t>
            </a:r>
            <a:r>
              <a:rPr sz="1800" spc="7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spc="55" dirty="0">
                <a:latin typeface="Century Gothic"/>
                <a:cs typeface="Century Gothic"/>
              </a:rPr>
              <a:t>for</a:t>
            </a:r>
            <a:r>
              <a:rPr sz="1800" spc="85" dirty="0">
                <a:latin typeface="Century Gothic"/>
                <a:cs typeface="Century Gothic"/>
              </a:rPr>
              <a:t> </a:t>
            </a:r>
            <a:r>
              <a:rPr sz="1800" spc="45" dirty="0">
                <a:latin typeface="Century Gothic"/>
                <a:cs typeface="Century Gothic"/>
              </a:rPr>
              <a:t>Document</a:t>
            </a:r>
            <a:r>
              <a:rPr sz="1800" spc="70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Retrieval</a:t>
            </a:r>
            <a:endParaRPr sz="1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8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90" dirty="0">
                <a:latin typeface="Century Gothic"/>
                <a:cs typeface="Century Gothic"/>
              </a:rPr>
              <a:t>Prefix-</a:t>
            </a:r>
            <a:r>
              <a:rPr sz="1800" dirty="0">
                <a:latin typeface="Century Gothic"/>
                <a:cs typeface="Century Gothic"/>
              </a:rPr>
              <a:t>Aware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spc="85" dirty="0">
                <a:latin typeface="Century Gothic"/>
                <a:cs typeface="Century Gothic"/>
              </a:rPr>
              <a:t>Weight</a:t>
            </a:r>
            <a:r>
              <a:rPr sz="1800" spc="-10" dirty="0">
                <a:latin typeface="Century Gothic"/>
                <a:cs typeface="Century Gothic"/>
              </a:rPr>
              <a:t> Adaptive </a:t>
            </a:r>
            <a:r>
              <a:rPr sz="1800" dirty="0">
                <a:latin typeface="Century Gothic"/>
                <a:cs typeface="Century Gothic"/>
              </a:rPr>
              <a:t>(PAWA)</a:t>
            </a:r>
            <a:r>
              <a:rPr sz="1800" spc="-10" dirty="0">
                <a:latin typeface="Century Gothic"/>
                <a:cs typeface="Century Gothic"/>
              </a:rPr>
              <a:t> Decoder</a:t>
            </a:r>
            <a:endParaRPr sz="18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Century Gothic"/>
                <a:cs typeface="Century Gothic"/>
              </a:rPr>
              <a:t>Semantic</a:t>
            </a:r>
            <a:r>
              <a:rPr sz="1800" spc="95" dirty="0">
                <a:latin typeface="Century Gothic"/>
                <a:cs typeface="Century Gothic"/>
              </a:rPr>
              <a:t> </a:t>
            </a:r>
            <a:r>
              <a:rPr sz="1800" spc="55" dirty="0">
                <a:latin typeface="Century Gothic"/>
                <a:cs typeface="Century Gothic"/>
              </a:rPr>
              <a:t>identifier</a:t>
            </a:r>
            <a:r>
              <a:rPr sz="1800" spc="10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생성</a:t>
            </a:r>
            <a:r>
              <a:rPr sz="1800" spc="-40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decoder</a:t>
            </a:r>
            <a:endParaRPr sz="1800">
              <a:latin typeface="Century Gothic"/>
              <a:cs typeface="Century Gothic"/>
            </a:endParaRPr>
          </a:p>
          <a:p>
            <a:pPr marL="518159" marR="1095375" lvl="1" indent="-228600">
              <a:lnSpc>
                <a:spcPct val="148900"/>
              </a:lnSpc>
              <a:spcBef>
                <a:spcPts val="57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Malgun Gothic"/>
                <a:cs typeface="Malgun Gothic"/>
              </a:rPr>
              <a:t>동일한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token</a:t>
            </a:r>
            <a:r>
              <a:rPr sz="1800" dirty="0">
                <a:latin typeface="Malgun Gothic"/>
                <a:cs typeface="Malgun Gothic"/>
              </a:rPr>
              <a:t>이</a:t>
            </a:r>
            <a:r>
              <a:rPr sz="1800" spc="-110" dirty="0">
                <a:latin typeface="Malgun Gothic"/>
                <a:cs typeface="Malgun Gothic"/>
              </a:rPr>
              <a:t> </a:t>
            </a:r>
            <a:r>
              <a:rPr sz="1800" spc="55" dirty="0">
                <a:latin typeface="Century Gothic"/>
                <a:cs typeface="Century Gothic"/>
              </a:rPr>
              <a:t>identifier</a:t>
            </a:r>
            <a:r>
              <a:rPr sz="1800" spc="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내</a:t>
            </a:r>
            <a:r>
              <a:rPr sz="1800" spc="-1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다른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위치에</a:t>
            </a:r>
            <a:r>
              <a:rPr sz="1800" spc="-11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오면 </a:t>
            </a:r>
            <a:r>
              <a:rPr sz="1800" dirty="0">
                <a:latin typeface="Malgun Gothic"/>
                <a:cs typeface="Malgun Gothic"/>
              </a:rPr>
              <a:t>다른</a:t>
            </a:r>
            <a:r>
              <a:rPr sz="1800" spc="-65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embedding</a:t>
            </a:r>
            <a:r>
              <a:rPr sz="1800" dirty="0">
                <a:latin typeface="Malgun Gothic"/>
                <a:cs typeface="Malgun Gothic"/>
              </a:rPr>
              <a:t>을</a:t>
            </a:r>
            <a:r>
              <a:rPr sz="1800" spc="-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가짐</a:t>
            </a:r>
            <a:endParaRPr sz="18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1545"/>
              </a:spcBef>
              <a:buFont typeface="Arial"/>
              <a:buChar char="•"/>
              <a:tabLst>
                <a:tab pos="840105" algn="l"/>
                <a:tab pos="2410460" algn="l"/>
              </a:tabLst>
            </a:pPr>
            <a:r>
              <a:rPr sz="1600" spc="-215" dirty="0">
                <a:latin typeface="Century Gothic"/>
                <a:cs typeface="Century Gothic"/>
              </a:rPr>
              <a:t>1:</a:t>
            </a:r>
            <a:r>
              <a:rPr sz="1600" dirty="0">
                <a:latin typeface="Century Gothic"/>
                <a:cs typeface="Century Gothic"/>
              </a:rPr>
              <a:t> </a:t>
            </a:r>
            <a:r>
              <a:rPr sz="1600" spc="-170" dirty="0">
                <a:latin typeface="Century Gothic"/>
                <a:cs typeface="Century Gothic"/>
              </a:rPr>
              <a:t>(1_1,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spc="-105" dirty="0">
                <a:latin typeface="Century Gothic"/>
                <a:cs typeface="Century Gothic"/>
              </a:rPr>
              <a:t>1_2,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5_3),</a:t>
            </a:r>
            <a:r>
              <a:rPr sz="1600" dirty="0">
                <a:latin typeface="Century Gothic"/>
                <a:cs typeface="Century Gothic"/>
              </a:rPr>
              <a:t>	2:</a:t>
            </a:r>
            <a:r>
              <a:rPr sz="1600" spc="-15" dirty="0">
                <a:latin typeface="Century Gothic"/>
                <a:cs typeface="Century Gothic"/>
              </a:rPr>
              <a:t> </a:t>
            </a:r>
            <a:r>
              <a:rPr sz="1600" spc="-100" dirty="0">
                <a:latin typeface="Century Gothic"/>
                <a:cs typeface="Century Gothic"/>
              </a:rPr>
              <a:t>(2_1,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4_2,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5_3)</a:t>
            </a:r>
            <a:endParaRPr sz="1600">
              <a:latin typeface="Century Gothic"/>
              <a:cs typeface="Century Gothic"/>
            </a:endParaRPr>
          </a:p>
          <a:p>
            <a:pPr marL="840740" marR="1236980" lvl="2" indent="-228600">
              <a:lnSpc>
                <a:spcPct val="151200"/>
              </a:lnSpc>
              <a:spcBef>
                <a:spcPts val="480"/>
              </a:spcBef>
              <a:buFont typeface="Arial"/>
              <a:buChar char="•"/>
              <a:tabLst>
                <a:tab pos="840740" algn="l"/>
              </a:tabLst>
            </a:pPr>
            <a:r>
              <a:rPr sz="1600" spc="-165" dirty="0">
                <a:latin typeface="Century Gothic"/>
                <a:cs typeface="Century Gothic"/>
              </a:rPr>
              <a:t>1</a:t>
            </a:r>
            <a:r>
              <a:rPr sz="1600" spc="-165" dirty="0">
                <a:latin typeface="Malgun Gothic"/>
                <a:cs typeface="Malgun Gothic"/>
              </a:rPr>
              <a:t>과</a:t>
            </a:r>
            <a:r>
              <a:rPr sz="1600" spc="-1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2</a:t>
            </a:r>
            <a:r>
              <a:rPr sz="1600" dirty="0">
                <a:latin typeface="Malgun Gothic"/>
                <a:cs typeface="Malgun Gothic"/>
              </a:rPr>
              <a:t>에서</a:t>
            </a:r>
            <a:r>
              <a:rPr sz="1600" spc="-1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마지막</a:t>
            </a:r>
            <a:r>
              <a:rPr sz="1600" spc="-1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위치의</a:t>
            </a:r>
            <a:r>
              <a:rPr sz="1600" spc="-1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5_3</a:t>
            </a:r>
            <a:r>
              <a:rPr sz="1600" dirty="0">
                <a:latin typeface="Malgun Gothic"/>
                <a:cs typeface="Malgun Gothic"/>
              </a:rPr>
              <a:t>은</a:t>
            </a:r>
            <a:r>
              <a:rPr sz="1600" spc="-1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같은</a:t>
            </a:r>
            <a:r>
              <a:rPr sz="1600" spc="-135" dirty="0">
                <a:latin typeface="Malgun Gothic"/>
                <a:cs typeface="Malgun Gothic"/>
              </a:rPr>
              <a:t> </a:t>
            </a:r>
            <a:r>
              <a:rPr sz="1600" spc="-20" dirty="0">
                <a:latin typeface="Malgun Gothic"/>
                <a:cs typeface="Malgun Gothic"/>
              </a:rPr>
              <a:t>토큰이지만</a:t>
            </a:r>
            <a:r>
              <a:rPr sz="1600" spc="-20" dirty="0">
                <a:latin typeface="Century Gothic"/>
                <a:cs typeface="Century Gothic"/>
              </a:rPr>
              <a:t>, </a:t>
            </a:r>
            <a:r>
              <a:rPr sz="1600" dirty="0">
                <a:latin typeface="Century Gothic"/>
                <a:cs typeface="Century Gothic"/>
              </a:rPr>
              <a:t>prefix</a:t>
            </a:r>
            <a:r>
              <a:rPr sz="1600" dirty="0">
                <a:latin typeface="Malgun Gothic"/>
                <a:cs typeface="Malgun Gothic"/>
              </a:rPr>
              <a:t>가</a:t>
            </a:r>
            <a:r>
              <a:rPr sz="1600" spc="-9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서로</a:t>
            </a:r>
            <a:r>
              <a:rPr sz="1600" spc="-8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다르기</a:t>
            </a:r>
            <a:r>
              <a:rPr sz="1600" spc="-8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때문에</a:t>
            </a:r>
            <a:r>
              <a:rPr sz="1600" spc="-8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다른</a:t>
            </a:r>
            <a:r>
              <a:rPr sz="1600" spc="-9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의미임</a:t>
            </a:r>
            <a:endParaRPr sz="16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1480"/>
              </a:spcBef>
              <a:buFont typeface="Arial"/>
              <a:buChar char="•"/>
              <a:tabLst>
                <a:tab pos="518159" algn="l"/>
              </a:tabLst>
            </a:pPr>
            <a:r>
              <a:rPr sz="1800" spc="90" dirty="0">
                <a:latin typeface="Century Gothic"/>
                <a:cs typeface="Century Gothic"/>
              </a:rPr>
              <a:t>Prefix-</a:t>
            </a:r>
            <a:r>
              <a:rPr sz="1800" dirty="0">
                <a:latin typeface="Century Gothic"/>
                <a:cs typeface="Century Gothic"/>
              </a:rPr>
              <a:t>Aware</a:t>
            </a:r>
            <a:r>
              <a:rPr sz="1800" spc="-75" dirty="0">
                <a:latin typeface="Century Gothic"/>
                <a:cs typeface="Century Gothic"/>
              </a:rPr>
              <a:t> </a:t>
            </a:r>
            <a:r>
              <a:rPr sz="1800" spc="85" dirty="0">
                <a:latin typeface="Century Gothic"/>
                <a:cs typeface="Century Gothic"/>
              </a:rPr>
              <a:t>Blocks</a:t>
            </a:r>
            <a:endParaRPr sz="1800">
              <a:latin typeface="Century Gothic"/>
              <a:cs typeface="Century Gothic"/>
            </a:endParaRPr>
          </a:p>
          <a:p>
            <a:pPr marL="518159">
              <a:lnSpc>
                <a:spcPct val="100000"/>
              </a:lnSpc>
              <a:spcBef>
                <a:spcPts val="1030"/>
              </a:spcBef>
            </a:pPr>
            <a:r>
              <a:rPr sz="1800" dirty="0">
                <a:latin typeface="Malgun Gothic"/>
                <a:cs typeface="Malgun Gothic"/>
              </a:rPr>
              <a:t>매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decoding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타임마다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45" dirty="0">
                <a:latin typeface="Century Gothic"/>
                <a:cs typeface="Century Gothic"/>
              </a:rPr>
              <a:t>prefix</a:t>
            </a:r>
            <a:r>
              <a:rPr sz="1800" spc="45" dirty="0">
                <a:latin typeface="Malgun Gothic"/>
                <a:cs typeface="Malgun Gothic"/>
              </a:rPr>
              <a:t>에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대하여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인코딩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1463" y="764386"/>
            <a:ext cx="5005015" cy="23163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1659" y="3479049"/>
            <a:ext cx="4107313" cy="26634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94925" y="5812662"/>
            <a:ext cx="3818083" cy="63813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605485" y="6308039"/>
            <a:ext cx="3049905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Montserrat"/>
                <a:cs typeface="Montserrat"/>
              </a:rPr>
              <a:t>A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Neural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Corpus</a:t>
            </a:r>
            <a:r>
              <a:rPr sz="800" spc="-10" dirty="0">
                <a:latin typeface="Montserrat"/>
                <a:cs typeface="Montserrat"/>
              </a:rPr>
              <a:t> Indexer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Document</a:t>
            </a:r>
            <a:r>
              <a:rPr sz="800" spc="-20" dirty="0">
                <a:latin typeface="Montserrat"/>
                <a:cs typeface="Montserrat"/>
              </a:rPr>
              <a:t> Retrieval,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NeurIPS22’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8477250" cy="107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Generative</a:t>
            </a:r>
            <a:r>
              <a:rPr sz="2800" spc="-75" dirty="0">
                <a:latin typeface="Century Gothic"/>
                <a:cs typeface="Century Gothic"/>
              </a:rPr>
              <a:t> </a:t>
            </a:r>
            <a:r>
              <a:rPr sz="2800" spc="70" dirty="0">
                <a:latin typeface="Century Gothic"/>
                <a:cs typeface="Century Gothic"/>
              </a:rPr>
              <a:t>Retrieval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05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entury Gothic"/>
                <a:cs typeface="Century Gothic"/>
              </a:rPr>
              <a:t>A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spc="55" dirty="0">
                <a:solidFill>
                  <a:srgbClr val="296A9B"/>
                </a:solidFill>
                <a:latin typeface="Century Gothic"/>
                <a:cs typeface="Century Gothic"/>
              </a:rPr>
              <a:t>Neural</a:t>
            </a:r>
            <a:r>
              <a:rPr sz="2400" spc="-2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296A9B"/>
                </a:solidFill>
                <a:latin typeface="Century Gothic"/>
                <a:cs typeface="Century Gothic"/>
              </a:rPr>
              <a:t>Corpus</a:t>
            </a:r>
            <a:r>
              <a:rPr sz="2400" spc="-2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400" spc="55" dirty="0">
                <a:solidFill>
                  <a:srgbClr val="296A9B"/>
                </a:solidFill>
                <a:latin typeface="Century Gothic"/>
                <a:cs typeface="Century Gothic"/>
              </a:rPr>
              <a:t>Indexer</a:t>
            </a:r>
            <a:r>
              <a:rPr sz="2400" spc="-2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296A9B"/>
                </a:solidFill>
                <a:latin typeface="Century Gothic"/>
                <a:cs typeface="Century Gothic"/>
              </a:rPr>
              <a:t>(NCI)</a:t>
            </a:r>
            <a:r>
              <a:rPr sz="2400" spc="-3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400" spc="65" dirty="0">
                <a:latin typeface="Century Gothic"/>
                <a:cs typeface="Century Gothic"/>
              </a:rPr>
              <a:t>for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spc="60" dirty="0">
                <a:latin typeface="Century Gothic"/>
                <a:cs typeface="Century Gothic"/>
              </a:rPr>
              <a:t>Document</a:t>
            </a:r>
            <a:r>
              <a:rPr sz="2400" spc="-25" dirty="0">
                <a:latin typeface="Century Gothic"/>
                <a:cs typeface="Century Gothic"/>
              </a:rPr>
              <a:t> </a:t>
            </a:r>
            <a:r>
              <a:rPr sz="2400" spc="40" dirty="0">
                <a:latin typeface="Century Gothic"/>
                <a:cs typeface="Century Gothic"/>
              </a:rPr>
              <a:t>Retrieval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788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5" dirty="0">
                <a:latin typeface="Century Gothic"/>
                <a:cs typeface="Century Gothic"/>
              </a:rPr>
              <a:t>Retrievals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7357" y="1908197"/>
            <a:ext cx="7611744" cy="391946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05485" y="6308039"/>
            <a:ext cx="3049905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dirty="0">
                <a:latin typeface="Montserrat"/>
                <a:cs typeface="Montserrat"/>
              </a:rPr>
              <a:t>A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Neural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Corpus</a:t>
            </a:r>
            <a:r>
              <a:rPr sz="800" spc="-10" dirty="0">
                <a:latin typeface="Montserrat"/>
                <a:cs typeface="Montserrat"/>
              </a:rPr>
              <a:t> Indexer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Document</a:t>
            </a:r>
            <a:r>
              <a:rPr sz="800" spc="-20" dirty="0">
                <a:latin typeface="Montserrat"/>
                <a:cs typeface="Montserrat"/>
              </a:rPr>
              <a:t> Retrieval,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NeurIPS22’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4347845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latin typeface="Century Gothic"/>
                <a:cs typeface="Century Gothic"/>
              </a:rPr>
              <a:t>Large-</a:t>
            </a:r>
            <a:r>
              <a:rPr sz="2800" dirty="0">
                <a:latin typeface="Century Gothic"/>
                <a:cs typeface="Century Gothic"/>
              </a:rPr>
              <a:t>scale</a:t>
            </a:r>
            <a:r>
              <a:rPr sz="2800" spc="-90" dirty="0">
                <a:latin typeface="Century Gothic"/>
                <a:cs typeface="Century Gothic"/>
              </a:rPr>
              <a:t> </a:t>
            </a:r>
            <a:r>
              <a:rPr sz="2800" spc="90" dirty="0">
                <a:latin typeface="Century Gothic"/>
                <a:cs typeface="Century Gothic"/>
              </a:rPr>
              <a:t>Embedding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125" dirty="0">
                <a:latin typeface="Century Gothic"/>
                <a:cs typeface="Century Gothic"/>
              </a:rPr>
              <a:t>CPT-</a:t>
            </a:r>
            <a:r>
              <a:rPr sz="2400" spc="60" dirty="0">
                <a:latin typeface="Century Gothic"/>
                <a:cs typeface="Century Gothic"/>
              </a:rPr>
              <a:t>text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291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40" dirty="0">
                <a:latin typeface="Century Gothic"/>
                <a:cs typeface="Century Gothic"/>
              </a:rPr>
              <a:t>ranking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16573" y="6304788"/>
            <a:ext cx="32385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Montserrat"/>
                <a:cs typeface="Montserrat"/>
              </a:rPr>
              <a:t>Text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and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Code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Embeddings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by</a:t>
            </a:r>
            <a:r>
              <a:rPr sz="800" spc="-10" dirty="0">
                <a:latin typeface="Montserrat"/>
                <a:cs typeface="Montserrat"/>
              </a:rPr>
              <a:t> Contrastive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Pre-</a:t>
            </a:r>
            <a:r>
              <a:rPr sz="800" spc="-10" dirty="0">
                <a:latin typeface="Montserrat"/>
                <a:cs typeface="Montserrat"/>
              </a:rPr>
              <a:t>Training, arxiv22’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6655" y="1799861"/>
            <a:ext cx="2399372" cy="154107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5703" y="4046714"/>
            <a:ext cx="3303955" cy="219165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8289" y="1227748"/>
            <a:ext cx="3882297" cy="14394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20892" y="3164202"/>
            <a:ext cx="6070423" cy="3037647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21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11118850" cy="5915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latin typeface="Century Gothic"/>
                <a:cs typeface="Century Gothic"/>
              </a:rPr>
              <a:t>Large-</a:t>
            </a:r>
            <a:r>
              <a:rPr sz="2800" dirty="0">
                <a:latin typeface="Century Gothic"/>
                <a:cs typeface="Century Gothic"/>
              </a:rPr>
              <a:t>scale</a:t>
            </a:r>
            <a:r>
              <a:rPr sz="2800" spc="-90" dirty="0">
                <a:latin typeface="Century Gothic"/>
                <a:cs typeface="Century Gothic"/>
              </a:rPr>
              <a:t> </a:t>
            </a:r>
            <a:r>
              <a:rPr sz="2800" spc="90" dirty="0">
                <a:latin typeface="Century Gothic"/>
                <a:cs typeface="Century Gothic"/>
              </a:rPr>
              <a:t>Embedding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95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20" dirty="0">
                <a:latin typeface="Century Gothic"/>
                <a:cs typeface="Century Gothic"/>
              </a:rPr>
              <a:t>E5:</a:t>
            </a:r>
            <a:r>
              <a:rPr sz="2000" spc="75" dirty="0">
                <a:latin typeface="Century Gothic"/>
                <a:cs typeface="Century Gothic"/>
              </a:rPr>
              <a:t> </a:t>
            </a:r>
            <a:r>
              <a:rPr sz="1200" b="1" spc="75" dirty="0">
                <a:latin typeface="Calibri"/>
                <a:cs typeface="Calibri"/>
              </a:rPr>
              <a:t>E</a:t>
            </a:r>
            <a:r>
              <a:rPr sz="1200" spc="75" dirty="0">
                <a:latin typeface="Century Gothic"/>
                <a:cs typeface="Century Gothic"/>
              </a:rPr>
              <a:t>mb</a:t>
            </a:r>
            <a:r>
              <a:rPr sz="1200" b="1" spc="75" dirty="0">
                <a:latin typeface="Calibri"/>
                <a:cs typeface="Calibri"/>
              </a:rPr>
              <a:t>E</a:t>
            </a:r>
            <a:r>
              <a:rPr sz="1200" spc="75" dirty="0">
                <a:latin typeface="Century Gothic"/>
                <a:cs typeface="Century Gothic"/>
              </a:rPr>
              <a:t>ddings</a:t>
            </a:r>
            <a:r>
              <a:rPr sz="1200" spc="40" dirty="0">
                <a:latin typeface="Century Gothic"/>
                <a:cs typeface="Century Gothic"/>
              </a:rPr>
              <a:t> </a:t>
            </a:r>
            <a:r>
              <a:rPr sz="1200" spc="60" dirty="0">
                <a:latin typeface="Century Gothic"/>
                <a:cs typeface="Century Gothic"/>
              </a:rPr>
              <a:t>from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20" dirty="0">
                <a:latin typeface="Century Gothic"/>
                <a:cs typeface="Century Gothic"/>
              </a:rPr>
              <a:t>bidir</a:t>
            </a:r>
            <a:r>
              <a:rPr sz="1200" b="1" spc="20" dirty="0">
                <a:latin typeface="Calibri"/>
                <a:cs typeface="Calibri"/>
              </a:rPr>
              <a:t>E</a:t>
            </a:r>
            <a:r>
              <a:rPr sz="1200" spc="20" dirty="0">
                <a:latin typeface="Century Gothic"/>
                <a:cs typeface="Century Gothic"/>
              </a:rPr>
              <a:t>ctional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b="1" spc="20" dirty="0">
                <a:latin typeface="Calibri"/>
                <a:cs typeface="Calibri"/>
              </a:rPr>
              <a:t>E</a:t>
            </a:r>
            <a:r>
              <a:rPr sz="1200" spc="20" dirty="0">
                <a:latin typeface="Century Gothic"/>
                <a:cs typeface="Century Gothic"/>
              </a:rPr>
              <a:t>ncoder</a:t>
            </a:r>
            <a:r>
              <a:rPr sz="1200" spc="35" dirty="0">
                <a:latin typeface="Century Gothic"/>
                <a:cs typeface="Century Gothic"/>
              </a:rPr>
              <a:t> r</a:t>
            </a:r>
            <a:r>
              <a:rPr sz="1200" b="1" spc="35" dirty="0">
                <a:latin typeface="Calibri"/>
                <a:cs typeface="Calibri"/>
              </a:rPr>
              <a:t>E</a:t>
            </a:r>
            <a:r>
              <a:rPr sz="1200" spc="35" dirty="0">
                <a:latin typeface="Century Gothic"/>
                <a:cs typeface="Century Gothic"/>
              </a:rPr>
              <a:t>presentations</a:t>
            </a: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200">
              <a:latin typeface="Century Gothic"/>
              <a:cs typeface="Century Gothic"/>
            </a:endParaRPr>
          </a:p>
          <a:p>
            <a:pPr marL="241300" marR="579755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entury Gothic"/>
                <a:cs typeface="Century Gothic"/>
              </a:rPr>
              <a:t>Retrieval,</a:t>
            </a:r>
            <a:r>
              <a:rPr sz="2000" spc="185" dirty="0">
                <a:latin typeface="Century Gothic"/>
                <a:cs typeface="Century Gothic"/>
              </a:rPr>
              <a:t> </a:t>
            </a:r>
            <a:r>
              <a:rPr sz="2000" spc="55" dirty="0">
                <a:latin typeface="Century Gothic"/>
                <a:cs typeface="Century Gothic"/>
              </a:rPr>
              <a:t>clustering,</a:t>
            </a:r>
            <a:r>
              <a:rPr sz="2000" spc="18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classification</a:t>
            </a:r>
            <a:r>
              <a:rPr sz="2000" spc="200" dirty="0">
                <a:latin typeface="Century Gothic"/>
                <a:cs typeface="Century Gothic"/>
              </a:rPr>
              <a:t> </a:t>
            </a:r>
            <a:r>
              <a:rPr sz="2000" spc="-50" dirty="0">
                <a:latin typeface="Malgun Gothic"/>
                <a:cs typeface="Malgun Gothic"/>
              </a:rPr>
              <a:t>등 </a:t>
            </a:r>
            <a:r>
              <a:rPr sz="2000" spc="200" dirty="0">
                <a:latin typeface="Century Gothic"/>
                <a:cs typeface="Century Gothic"/>
              </a:rPr>
              <a:t>NLP</a:t>
            </a:r>
            <a:r>
              <a:rPr sz="2000" spc="-20" dirty="0">
                <a:latin typeface="Century Gothic"/>
                <a:cs typeface="Century Gothic"/>
              </a:rPr>
              <a:t> </a:t>
            </a:r>
            <a:r>
              <a:rPr sz="2000" spc="60" dirty="0">
                <a:latin typeface="Century Gothic"/>
                <a:cs typeface="Century Gothic"/>
              </a:rPr>
              <a:t>task</a:t>
            </a:r>
            <a:r>
              <a:rPr sz="2000" spc="60" dirty="0">
                <a:latin typeface="Malgun Gothic"/>
                <a:cs typeface="Malgun Gothic"/>
              </a:rPr>
              <a:t>와</a:t>
            </a:r>
            <a:r>
              <a:rPr sz="2000" spc="-165" dirty="0">
                <a:latin typeface="Malgun Gothic"/>
                <a:cs typeface="Malgun Gothic"/>
              </a:rPr>
              <a:t> </a:t>
            </a:r>
            <a:r>
              <a:rPr sz="2000" spc="55" dirty="0">
                <a:latin typeface="Century Gothic"/>
                <a:cs typeface="Century Gothic"/>
              </a:rPr>
              <a:t>zero-</a:t>
            </a:r>
            <a:r>
              <a:rPr sz="2000" spc="90" dirty="0">
                <a:latin typeface="Century Gothic"/>
                <a:cs typeface="Century Gothic"/>
              </a:rPr>
              <a:t>shot</a:t>
            </a:r>
            <a:r>
              <a:rPr sz="2000" spc="-1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환경에서</a:t>
            </a:r>
            <a:r>
              <a:rPr sz="2000" spc="-165" dirty="0">
                <a:latin typeface="Malgun Gothic"/>
                <a:cs typeface="Malgun Gothic"/>
              </a:rPr>
              <a:t> </a:t>
            </a:r>
            <a:r>
              <a:rPr sz="2000" spc="-10" dirty="0">
                <a:solidFill>
                  <a:srgbClr val="296A9B"/>
                </a:solidFill>
                <a:latin typeface="Malgun Gothic"/>
                <a:cs typeface="Malgun Gothic"/>
              </a:rPr>
              <a:t>범용적으로 </a:t>
            </a:r>
            <a:r>
              <a:rPr sz="2000" dirty="0">
                <a:solidFill>
                  <a:srgbClr val="296A9B"/>
                </a:solidFill>
                <a:latin typeface="Malgun Gothic"/>
                <a:cs typeface="Malgun Gothic"/>
              </a:rPr>
              <a:t>사용할</a:t>
            </a:r>
            <a:r>
              <a:rPr sz="2000" spc="-12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96A9B"/>
                </a:solidFill>
                <a:latin typeface="Century Gothic"/>
                <a:cs typeface="Century Gothic"/>
              </a:rPr>
              <a:t>embedding</a:t>
            </a:r>
            <a:r>
              <a:rPr sz="2000" dirty="0">
                <a:latin typeface="Malgun Gothic"/>
                <a:cs typeface="Malgun Gothic"/>
              </a:rPr>
              <a:t>을</a:t>
            </a:r>
            <a:r>
              <a:rPr sz="2000" spc="-1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만들고자</a:t>
            </a:r>
            <a:r>
              <a:rPr sz="2000" spc="-120" dirty="0">
                <a:latin typeface="Malgun Gothic"/>
                <a:cs typeface="Malgun Gothic"/>
              </a:rPr>
              <a:t> </a:t>
            </a:r>
            <a:r>
              <a:rPr sz="2000" spc="-50" dirty="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220" dirty="0">
                <a:latin typeface="Century Gothic"/>
                <a:cs typeface="Century Gothic"/>
              </a:rPr>
              <a:t>BERT</a:t>
            </a:r>
            <a:r>
              <a:rPr sz="2000" spc="220" dirty="0">
                <a:latin typeface="Malgun Gothic"/>
                <a:cs typeface="Malgun Gothic"/>
              </a:rPr>
              <a:t>를</a:t>
            </a:r>
            <a:r>
              <a:rPr sz="2000" spc="-16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기반으로</a:t>
            </a:r>
            <a:r>
              <a:rPr sz="2000" spc="-160" dirty="0">
                <a:latin typeface="Malgun Gothic"/>
                <a:cs typeface="Malgun Gothic"/>
              </a:rPr>
              <a:t> </a:t>
            </a:r>
            <a:r>
              <a:rPr sz="2000" spc="55" dirty="0">
                <a:latin typeface="Century Gothic"/>
                <a:cs typeface="Century Gothic"/>
              </a:rPr>
              <a:t>2-</a:t>
            </a:r>
            <a:r>
              <a:rPr sz="2000" dirty="0">
                <a:latin typeface="Century Gothic"/>
                <a:cs typeface="Century Gothic"/>
              </a:rPr>
              <a:t>stage </a:t>
            </a:r>
            <a:r>
              <a:rPr sz="2000" spc="-25" dirty="0">
                <a:latin typeface="Malgun Gothic"/>
                <a:cs typeface="Malgun Gothic"/>
              </a:rPr>
              <a:t>학습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Font typeface="Arial"/>
              <a:buChar char="•"/>
            </a:pPr>
            <a:endParaRPr sz="20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entury Gothic"/>
                <a:cs typeface="Century Gothic"/>
              </a:rPr>
              <a:t>1st-stage:</a:t>
            </a:r>
            <a:r>
              <a:rPr sz="2000" spc="-3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직접</a:t>
            </a:r>
            <a:r>
              <a:rPr sz="2000" spc="-18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구축한</a:t>
            </a:r>
            <a:r>
              <a:rPr sz="2000" spc="-180" dirty="0">
                <a:latin typeface="Malgun Gothic"/>
                <a:cs typeface="Malgun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CCPair</a:t>
            </a:r>
            <a:r>
              <a:rPr sz="2000" spc="-3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dataset</a:t>
            </a:r>
            <a:r>
              <a:rPr sz="2000" spc="-10" dirty="0">
                <a:latin typeface="Malgun Gothic"/>
                <a:cs typeface="Malgun Gothic"/>
              </a:rPr>
              <a:t>으로</a:t>
            </a:r>
            <a:r>
              <a:rPr sz="2000" spc="-180" dirty="0">
                <a:latin typeface="Malgun Gothic"/>
                <a:cs typeface="Malgun Gothic"/>
              </a:rPr>
              <a:t> </a:t>
            </a:r>
            <a:r>
              <a:rPr sz="2000" spc="60" dirty="0">
                <a:solidFill>
                  <a:srgbClr val="296A9B"/>
                </a:solidFill>
                <a:latin typeface="Century Gothic"/>
                <a:cs typeface="Century Gothic"/>
              </a:rPr>
              <a:t>pretraining</a:t>
            </a:r>
            <a:r>
              <a:rPr sz="2000" spc="-2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수행</a:t>
            </a:r>
            <a:endParaRPr sz="20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2000" dirty="0">
                <a:latin typeface="Century Gothic"/>
                <a:cs typeface="Century Gothic"/>
              </a:rPr>
              <a:t>Large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scale</a:t>
            </a:r>
            <a:r>
              <a:rPr sz="2000" spc="3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q-p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pair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수집</a:t>
            </a:r>
            <a:r>
              <a:rPr sz="2000" spc="-130" dirty="0">
                <a:latin typeface="Malgun Gothic"/>
                <a:cs typeface="Malgun Gothic"/>
              </a:rPr>
              <a:t> </a:t>
            </a:r>
            <a:r>
              <a:rPr sz="2000" spc="-30" dirty="0">
                <a:solidFill>
                  <a:srgbClr val="296A9B"/>
                </a:solidFill>
                <a:latin typeface="Century Gothic"/>
                <a:cs typeface="Century Gothic"/>
              </a:rPr>
              <a:t>(</a:t>
            </a:r>
            <a:r>
              <a:rPr sz="2000" spc="-30" dirty="0">
                <a:solidFill>
                  <a:srgbClr val="296A9B"/>
                </a:solidFill>
                <a:latin typeface="Malgun Gothic"/>
                <a:cs typeface="Malgun Gothic"/>
              </a:rPr>
              <a:t>첫번째</a:t>
            </a:r>
            <a:r>
              <a:rPr sz="2000" spc="-12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2000" spc="-25" dirty="0">
                <a:solidFill>
                  <a:srgbClr val="296A9B"/>
                </a:solidFill>
                <a:latin typeface="Malgun Gothic"/>
                <a:cs typeface="Malgun Gothic"/>
              </a:rPr>
              <a:t>학습</a:t>
            </a:r>
            <a:r>
              <a:rPr sz="2000" spc="-25" dirty="0">
                <a:solidFill>
                  <a:srgbClr val="296A9B"/>
                </a:solidFill>
                <a:latin typeface="Century Gothic"/>
                <a:cs typeface="Century Gothic"/>
              </a:rPr>
              <a:t>)</a:t>
            </a:r>
            <a:endParaRPr sz="20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840105" algn="l"/>
                <a:tab pos="3776979" algn="l"/>
              </a:tabLst>
            </a:pPr>
            <a:r>
              <a:rPr sz="1700" spc="50" dirty="0">
                <a:latin typeface="Century Gothic"/>
                <a:cs typeface="Century Gothic"/>
              </a:rPr>
              <a:t>Reddit</a:t>
            </a:r>
            <a:r>
              <a:rPr sz="1700" spc="204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&lt;post-</a:t>
            </a:r>
            <a:r>
              <a:rPr sz="1700" spc="-10" dirty="0">
                <a:latin typeface="Century Gothic"/>
                <a:cs typeface="Century Gothic"/>
              </a:rPr>
              <a:t>comment&gt;,</a:t>
            </a:r>
            <a:r>
              <a:rPr sz="1700" dirty="0">
                <a:latin typeface="Century Gothic"/>
                <a:cs typeface="Century Gothic"/>
              </a:rPr>
              <a:t>	</a:t>
            </a:r>
            <a:r>
              <a:rPr sz="1700" spc="160" dirty="0">
                <a:latin typeface="Century Gothic"/>
                <a:cs typeface="Century Gothic"/>
              </a:rPr>
              <a:t>Wiki</a:t>
            </a:r>
            <a:r>
              <a:rPr sz="1700" spc="-15" dirty="0">
                <a:latin typeface="Century Gothic"/>
                <a:cs typeface="Century Gothic"/>
              </a:rPr>
              <a:t> </a:t>
            </a:r>
            <a:r>
              <a:rPr sz="1700" spc="55" dirty="0">
                <a:latin typeface="Century Gothic"/>
                <a:cs typeface="Century Gothic"/>
              </a:rPr>
              <a:t>&lt;title-</a:t>
            </a:r>
            <a:r>
              <a:rPr sz="1700" spc="-30" dirty="0">
                <a:latin typeface="Century Gothic"/>
                <a:cs typeface="Century Gothic"/>
              </a:rPr>
              <a:t>passage&gt;,</a:t>
            </a:r>
            <a:r>
              <a:rPr sz="1700" spc="-15" dirty="0">
                <a:latin typeface="Century Gothic"/>
                <a:cs typeface="Century Gothic"/>
              </a:rPr>
              <a:t> </a:t>
            </a:r>
            <a:r>
              <a:rPr sz="1700" spc="-665" dirty="0">
                <a:latin typeface="Century Gothic"/>
                <a:cs typeface="Century Gothic"/>
              </a:rPr>
              <a:t>…</a:t>
            </a:r>
            <a:endParaRPr sz="17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518159" algn="l"/>
              </a:tabLst>
            </a:pPr>
            <a:r>
              <a:rPr sz="2000" spc="-10" dirty="0">
                <a:latin typeface="Century Gothic"/>
                <a:cs typeface="Century Gothic"/>
              </a:rPr>
              <a:t>CCPair</a:t>
            </a:r>
            <a:r>
              <a:rPr sz="2000" spc="-10" dirty="0">
                <a:latin typeface="Malgun Gothic"/>
                <a:cs typeface="Malgun Gothic"/>
              </a:rPr>
              <a:t>로</a:t>
            </a:r>
            <a:r>
              <a:rPr sz="2000" spc="-175" dirty="0"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96A9B"/>
                </a:solidFill>
                <a:latin typeface="Malgun Gothic"/>
                <a:cs typeface="Malgun Gothic"/>
              </a:rPr>
              <a:t>두번째</a:t>
            </a:r>
            <a:r>
              <a:rPr sz="2000" spc="-17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2000" spc="-10" dirty="0">
                <a:solidFill>
                  <a:srgbClr val="296A9B"/>
                </a:solidFill>
                <a:latin typeface="Malgun Gothic"/>
                <a:cs typeface="Malgun Gothic"/>
              </a:rPr>
              <a:t>학습</a:t>
            </a:r>
            <a:r>
              <a:rPr sz="2000" spc="-10" dirty="0">
                <a:latin typeface="Century Gothic"/>
                <a:cs typeface="Century Gothic"/>
              </a:rPr>
              <a:t>:</a:t>
            </a:r>
            <a:r>
              <a:rPr sz="2000" spc="-2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학습된</a:t>
            </a:r>
            <a:r>
              <a:rPr sz="2000" spc="-17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모델로</a:t>
            </a:r>
            <a:r>
              <a:rPr sz="2000" spc="-17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학습데이터</a:t>
            </a:r>
            <a:r>
              <a:rPr sz="2000" spc="-175" dirty="0">
                <a:latin typeface="Malgun Gothic"/>
                <a:cs typeface="Malgun Gothic"/>
              </a:rPr>
              <a:t> </a:t>
            </a:r>
            <a:r>
              <a:rPr sz="2000" spc="75" dirty="0">
                <a:latin typeface="Century Gothic"/>
                <a:cs typeface="Century Gothic"/>
              </a:rPr>
              <a:t>ranking</a:t>
            </a:r>
            <a:r>
              <a:rPr sz="2000" spc="-15" dirty="0">
                <a:latin typeface="Century Gothic"/>
                <a:cs typeface="Century Gothic"/>
              </a:rPr>
              <a:t> </a:t>
            </a:r>
            <a:r>
              <a:rPr sz="2000" spc="90" dirty="0">
                <a:latin typeface="Century Gothic"/>
                <a:cs typeface="Century Gothic"/>
              </a:rPr>
              <a:t>-</a:t>
            </a:r>
            <a:r>
              <a:rPr sz="2000" dirty="0">
                <a:latin typeface="Century Gothic"/>
                <a:cs typeface="Century Gothic"/>
              </a:rPr>
              <a:t>&gt;</a:t>
            </a:r>
            <a:r>
              <a:rPr sz="2000" spc="-2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top-2</a:t>
            </a:r>
            <a:r>
              <a:rPr sz="2000" dirty="0">
                <a:latin typeface="Malgun Gothic"/>
                <a:cs typeface="Malgun Gothic"/>
              </a:rPr>
              <a:t>에</a:t>
            </a:r>
            <a:r>
              <a:rPr sz="2000" spc="-17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포함되는</a:t>
            </a:r>
            <a:r>
              <a:rPr sz="2000" spc="-17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경우</a:t>
            </a:r>
            <a:r>
              <a:rPr sz="2000" spc="-17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사용</a:t>
            </a:r>
            <a:endParaRPr sz="20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0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entury Gothic"/>
                <a:cs typeface="Century Gothic"/>
              </a:rPr>
              <a:t>2nd-stage: </a:t>
            </a:r>
            <a:r>
              <a:rPr sz="2000" spc="120" dirty="0">
                <a:latin typeface="Century Gothic"/>
                <a:cs typeface="Century Gothic"/>
              </a:rPr>
              <a:t>MS-</a:t>
            </a:r>
            <a:r>
              <a:rPr sz="2000" spc="-45" dirty="0">
                <a:latin typeface="Century Gothic"/>
                <a:cs typeface="Century Gothic"/>
              </a:rPr>
              <a:t>Marco,</a:t>
            </a:r>
            <a:r>
              <a:rPr sz="2000" dirty="0">
                <a:latin typeface="Century Gothic"/>
                <a:cs typeface="Century Gothic"/>
              </a:rPr>
              <a:t> </a:t>
            </a:r>
            <a:r>
              <a:rPr sz="2000" spc="100" dirty="0">
                <a:latin typeface="Century Gothic"/>
                <a:cs typeface="Century Gothic"/>
              </a:rPr>
              <a:t>NLI,</a:t>
            </a:r>
            <a:r>
              <a:rPr sz="2000" dirty="0">
                <a:latin typeface="Century Gothic"/>
                <a:cs typeface="Century Gothic"/>
              </a:rPr>
              <a:t> NQ </a:t>
            </a:r>
            <a:r>
              <a:rPr sz="2000" spc="-10" dirty="0">
                <a:latin typeface="Century Gothic"/>
                <a:cs typeface="Century Gothic"/>
              </a:rPr>
              <a:t>dataset</a:t>
            </a:r>
            <a:r>
              <a:rPr sz="2000" spc="-10" dirty="0">
                <a:latin typeface="Malgun Gothic"/>
                <a:cs typeface="Malgun Gothic"/>
              </a:rPr>
              <a:t>으로</a:t>
            </a:r>
            <a:r>
              <a:rPr sz="2000" spc="-150" dirty="0">
                <a:latin typeface="Malgun Gothic"/>
                <a:cs typeface="Malgun Gothic"/>
              </a:rPr>
              <a:t> </a:t>
            </a:r>
            <a:r>
              <a:rPr sz="2000" spc="80" dirty="0">
                <a:solidFill>
                  <a:srgbClr val="296A9B"/>
                </a:solidFill>
                <a:latin typeface="Century Gothic"/>
                <a:cs typeface="Century Gothic"/>
              </a:rPr>
              <a:t>finetuning</a:t>
            </a:r>
            <a:r>
              <a:rPr sz="200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수행</a:t>
            </a:r>
            <a:endParaRPr sz="2000">
              <a:latin typeface="Malgun Gothic"/>
              <a:cs typeface="Malgun Gothic"/>
            </a:endParaRPr>
          </a:p>
          <a:p>
            <a:pPr marL="7211695">
              <a:lnSpc>
                <a:spcPct val="100000"/>
              </a:lnSpc>
              <a:spcBef>
                <a:spcPts val="1585"/>
              </a:spcBef>
            </a:pPr>
            <a:r>
              <a:rPr sz="800" spc="-20" dirty="0">
                <a:latin typeface="Montserrat"/>
                <a:cs typeface="Montserrat"/>
              </a:rPr>
              <a:t>Text</a:t>
            </a:r>
            <a:r>
              <a:rPr sz="800" spc="-10" dirty="0">
                <a:latin typeface="Montserrat"/>
                <a:cs typeface="Montserrat"/>
              </a:rPr>
              <a:t> Embeddings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by </a:t>
            </a:r>
            <a:r>
              <a:rPr sz="800" spc="-20" dirty="0">
                <a:latin typeface="Montserrat"/>
                <a:cs typeface="Montserrat"/>
              </a:rPr>
              <a:t>Weakly-</a:t>
            </a:r>
            <a:r>
              <a:rPr sz="800" spc="-10" dirty="0">
                <a:latin typeface="Montserrat"/>
                <a:cs typeface="Montserrat"/>
              </a:rPr>
              <a:t>Supervised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Contrastive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Pre-</a:t>
            </a:r>
            <a:r>
              <a:rPr sz="800" spc="-10" dirty="0">
                <a:latin typeface="Montserrat"/>
                <a:cs typeface="Montserrat"/>
              </a:rPr>
              <a:t>training</a:t>
            </a:r>
            <a:r>
              <a:rPr sz="800" dirty="0">
                <a:latin typeface="Montserrat"/>
                <a:cs typeface="Montserrat"/>
              </a:rPr>
              <a:t> (E5), </a:t>
            </a:r>
            <a:r>
              <a:rPr sz="800" spc="-10" dirty="0">
                <a:latin typeface="Montserrat"/>
                <a:cs typeface="Montserrat"/>
              </a:rPr>
              <a:t>arxiv22’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291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40" dirty="0">
                <a:latin typeface="Century Gothic"/>
                <a:cs typeface="Century Gothic"/>
              </a:rPr>
              <a:t>ranking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9432" y="1164620"/>
            <a:ext cx="5602288" cy="22403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5711190" cy="540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latin typeface="Century Gothic"/>
                <a:cs typeface="Century Gothic"/>
              </a:rPr>
              <a:t>Large-</a:t>
            </a:r>
            <a:r>
              <a:rPr sz="2800" dirty="0">
                <a:latin typeface="Century Gothic"/>
                <a:cs typeface="Century Gothic"/>
              </a:rPr>
              <a:t>scale</a:t>
            </a:r>
            <a:r>
              <a:rPr sz="2800" spc="-90" dirty="0">
                <a:latin typeface="Century Gothic"/>
                <a:cs typeface="Century Gothic"/>
              </a:rPr>
              <a:t> </a:t>
            </a:r>
            <a:r>
              <a:rPr sz="2800" spc="90" dirty="0">
                <a:latin typeface="Century Gothic"/>
                <a:cs typeface="Century Gothic"/>
              </a:rPr>
              <a:t>Embedding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"/>
              <a:buChar char="•"/>
              <a:tabLst>
                <a:tab pos="240665" algn="l"/>
              </a:tabLst>
            </a:pPr>
            <a:r>
              <a:rPr sz="1500" spc="75" dirty="0">
                <a:latin typeface="Century Gothic"/>
                <a:cs typeface="Century Gothic"/>
              </a:rPr>
              <a:t>E5_mistral-</a:t>
            </a:r>
            <a:r>
              <a:rPr sz="1500" dirty="0">
                <a:latin typeface="Century Gothic"/>
                <a:cs typeface="Century Gothic"/>
              </a:rPr>
              <a:t>7b</a:t>
            </a:r>
            <a:r>
              <a:rPr sz="1500" spc="30" dirty="0">
                <a:latin typeface="Century Gothic"/>
                <a:cs typeface="Century Gothic"/>
              </a:rPr>
              <a:t> </a:t>
            </a:r>
            <a:r>
              <a:rPr sz="1500" spc="-40" dirty="0">
                <a:latin typeface="Century Gothic"/>
                <a:cs typeface="Century Gothic"/>
              </a:rPr>
              <a:t>(</a:t>
            </a:r>
            <a:r>
              <a:rPr sz="1500" spc="-40" dirty="0">
                <a:solidFill>
                  <a:srgbClr val="296A9B"/>
                </a:solidFill>
                <a:latin typeface="Century Gothic"/>
                <a:cs typeface="Century Gothic"/>
              </a:rPr>
              <a:t>backbone:</a:t>
            </a:r>
            <a:r>
              <a:rPr sz="1500" spc="3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500" spc="80" dirty="0">
                <a:solidFill>
                  <a:srgbClr val="296A9B"/>
                </a:solidFill>
                <a:latin typeface="Century Gothic"/>
                <a:cs typeface="Century Gothic"/>
              </a:rPr>
              <a:t>mistral-</a:t>
            </a:r>
            <a:r>
              <a:rPr sz="1500" spc="-25" dirty="0">
                <a:solidFill>
                  <a:srgbClr val="296A9B"/>
                </a:solidFill>
                <a:latin typeface="Century Gothic"/>
                <a:cs typeface="Century Gothic"/>
              </a:rPr>
              <a:t>7b</a:t>
            </a:r>
            <a:r>
              <a:rPr sz="1500" spc="-25" dirty="0">
                <a:latin typeface="Century Gothic"/>
                <a:cs typeface="Century Gothic"/>
              </a:rPr>
              <a:t>)</a:t>
            </a:r>
            <a:endParaRPr sz="15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240665" algn="l"/>
              </a:tabLst>
            </a:pPr>
            <a:r>
              <a:rPr sz="1500" spc="55" dirty="0">
                <a:latin typeface="Century Gothic"/>
                <a:cs typeface="Century Gothic"/>
              </a:rPr>
              <a:t>Previous</a:t>
            </a:r>
            <a:r>
              <a:rPr sz="1500" spc="7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embedding</a:t>
            </a:r>
            <a:r>
              <a:rPr sz="1500" spc="60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approaches</a:t>
            </a:r>
            <a:endParaRPr sz="15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500" spc="95" dirty="0">
                <a:latin typeface="Century Gothic"/>
                <a:cs typeface="Century Gothic"/>
              </a:rPr>
              <a:t>Billion</a:t>
            </a:r>
            <a:r>
              <a:rPr sz="1500" spc="25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단위</a:t>
            </a:r>
            <a:r>
              <a:rPr sz="1500" spc="-75" dirty="0">
                <a:latin typeface="Malgun Gothic"/>
                <a:cs typeface="Malgun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text</a:t>
            </a:r>
            <a:r>
              <a:rPr sz="1500" dirty="0">
                <a:latin typeface="Malgun Gothic"/>
                <a:cs typeface="Malgun Gothic"/>
              </a:rPr>
              <a:t>로</a:t>
            </a:r>
            <a:r>
              <a:rPr sz="1500" spc="-75" dirty="0">
                <a:latin typeface="Malgun Gothic"/>
                <a:cs typeface="Malgun Gothic"/>
              </a:rPr>
              <a:t> </a:t>
            </a:r>
            <a:r>
              <a:rPr sz="1500" spc="35" dirty="0">
                <a:latin typeface="Century Gothic"/>
                <a:cs typeface="Century Gothic"/>
              </a:rPr>
              <a:t>pretraining</a:t>
            </a:r>
            <a:endParaRPr sz="15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518159" algn="l"/>
              </a:tabLst>
            </a:pPr>
            <a:r>
              <a:rPr sz="1500" dirty="0">
                <a:latin typeface="Century Gothic"/>
                <a:cs typeface="Century Gothic"/>
              </a:rPr>
              <a:t>Labeled</a:t>
            </a:r>
            <a:r>
              <a:rPr sz="1500" spc="55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dataset</a:t>
            </a:r>
            <a:r>
              <a:rPr sz="1500" spc="-10" dirty="0">
                <a:latin typeface="Malgun Gothic"/>
                <a:cs typeface="Malgun Gothic"/>
              </a:rPr>
              <a:t>으로</a:t>
            </a:r>
            <a:r>
              <a:rPr sz="1500" spc="-45" dirty="0">
                <a:latin typeface="Malgun Gothic"/>
                <a:cs typeface="Malgun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fine-</a:t>
            </a:r>
            <a:r>
              <a:rPr sz="1500" spc="70" dirty="0">
                <a:latin typeface="Century Gothic"/>
                <a:cs typeface="Century Gothic"/>
              </a:rPr>
              <a:t>tuning</a:t>
            </a:r>
            <a:endParaRPr sz="15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500" spc="-25" dirty="0">
                <a:latin typeface="Malgun Gothic"/>
                <a:cs typeface="Malgun Gothic"/>
              </a:rPr>
              <a:t>단점</a:t>
            </a:r>
            <a:endParaRPr sz="15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840105" algn="l"/>
              </a:tabLst>
            </a:pPr>
            <a:r>
              <a:rPr sz="1300" dirty="0">
                <a:latin typeface="Malgun Gothic"/>
                <a:cs typeface="Malgun Gothic"/>
              </a:rPr>
              <a:t>엔지니어링</a:t>
            </a:r>
            <a:r>
              <a:rPr sz="1300" spc="-120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수고가</a:t>
            </a:r>
            <a:r>
              <a:rPr sz="1300" spc="-120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많이</a:t>
            </a:r>
            <a:r>
              <a:rPr sz="1300" spc="-120" dirty="0">
                <a:latin typeface="Malgun Gothic"/>
                <a:cs typeface="Malgun Gothic"/>
              </a:rPr>
              <a:t> </a:t>
            </a:r>
            <a:r>
              <a:rPr sz="1300" spc="-25" dirty="0">
                <a:latin typeface="Malgun Gothic"/>
                <a:cs typeface="Malgun Gothic"/>
              </a:rPr>
              <a:t>필요</a:t>
            </a:r>
            <a:endParaRPr sz="13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840105" algn="l"/>
              </a:tabLst>
            </a:pPr>
            <a:r>
              <a:rPr sz="1300" dirty="0">
                <a:latin typeface="Century Gothic"/>
                <a:cs typeface="Century Gothic"/>
              </a:rPr>
              <a:t>Labeled</a:t>
            </a:r>
            <a:r>
              <a:rPr sz="1300" spc="-15" dirty="0">
                <a:latin typeface="Century Gothic"/>
                <a:cs typeface="Century Gothic"/>
              </a:rPr>
              <a:t> </a:t>
            </a:r>
            <a:r>
              <a:rPr sz="1300" spc="-10" dirty="0">
                <a:latin typeface="Century Gothic"/>
                <a:cs typeface="Century Gothic"/>
              </a:rPr>
              <a:t>dataset</a:t>
            </a:r>
            <a:r>
              <a:rPr sz="1300" spc="-10" dirty="0">
                <a:latin typeface="Malgun Gothic"/>
                <a:cs typeface="Malgun Gothic"/>
              </a:rPr>
              <a:t>에</a:t>
            </a:r>
            <a:r>
              <a:rPr sz="1300" spc="-114" dirty="0">
                <a:latin typeface="Malgun Gothic"/>
                <a:cs typeface="Malgun Gothic"/>
              </a:rPr>
              <a:t> </a:t>
            </a:r>
            <a:r>
              <a:rPr sz="1300" spc="-25" dirty="0">
                <a:latin typeface="Malgun Gothic"/>
                <a:cs typeface="Malgun Gothic"/>
              </a:rPr>
              <a:t>의존</a:t>
            </a:r>
            <a:endParaRPr sz="1300">
              <a:latin typeface="Malgun Gothic"/>
              <a:cs typeface="Malgun Gothic"/>
            </a:endParaRPr>
          </a:p>
          <a:p>
            <a:pPr marL="840740">
              <a:lnSpc>
                <a:spcPct val="100000"/>
              </a:lnSpc>
              <a:spcBef>
                <a:spcPts val="25"/>
              </a:spcBef>
            </a:pPr>
            <a:r>
              <a:rPr sz="1300" spc="55" dirty="0">
                <a:latin typeface="Century Gothic"/>
                <a:cs typeface="Century Gothic"/>
              </a:rPr>
              <a:t>-</a:t>
            </a:r>
            <a:r>
              <a:rPr sz="1300" dirty="0">
                <a:latin typeface="Century Gothic"/>
                <a:cs typeface="Century Gothic"/>
              </a:rPr>
              <a:t>&gt;</a:t>
            </a:r>
            <a:r>
              <a:rPr sz="1300" spc="15" dirty="0">
                <a:latin typeface="Century Gothic"/>
                <a:cs typeface="Century Gothic"/>
              </a:rPr>
              <a:t> </a:t>
            </a:r>
            <a:r>
              <a:rPr sz="1300" dirty="0">
                <a:latin typeface="Century Gothic"/>
                <a:cs typeface="Century Gothic"/>
              </a:rPr>
              <a:t>task</a:t>
            </a:r>
            <a:r>
              <a:rPr sz="1300" dirty="0">
                <a:latin typeface="Malgun Gothic"/>
                <a:cs typeface="Malgun Gothic"/>
              </a:rPr>
              <a:t>나</a:t>
            </a:r>
            <a:r>
              <a:rPr sz="1300" spc="-80" dirty="0">
                <a:latin typeface="Malgun Gothic"/>
                <a:cs typeface="Malgun Gothic"/>
              </a:rPr>
              <a:t> </a:t>
            </a:r>
            <a:r>
              <a:rPr sz="1300" spc="-10" dirty="0">
                <a:latin typeface="Century Gothic"/>
                <a:cs typeface="Century Gothic"/>
              </a:rPr>
              <a:t>language</a:t>
            </a:r>
            <a:r>
              <a:rPr sz="1300" spc="-10" dirty="0">
                <a:latin typeface="Malgun Gothic"/>
                <a:cs typeface="Malgun Gothic"/>
              </a:rPr>
              <a:t>에</a:t>
            </a:r>
            <a:r>
              <a:rPr sz="1300" spc="-80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대한</a:t>
            </a:r>
            <a:r>
              <a:rPr sz="1300" spc="-80" dirty="0">
                <a:latin typeface="Malgun Gothic"/>
                <a:cs typeface="Malgun Gothic"/>
              </a:rPr>
              <a:t> </a:t>
            </a:r>
            <a:r>
              <a:rPr sz="1300" spc="45" dirty="0">
                <a:latin typeface="Century Gothic"/>
                <a:cs typeface="Century Gothic"/>
              </a:rPr>
              <a:t>diversity</a:t>
            </a:r>
            <a:r>
              <a:rPr sz="1300" spc="10" dirty="0">
                <a:latin typeface="Century Gothic"/>
                <a:cs typeface="Century Gothic"/>
              </a:rPr>
              <a:t> </a:t>
            </a:r>
            <a:r>
              <a:rPr sz="1300" spc="-25" dirty="0">
                <a:latin typeface="Malgun Gothic"/>
                <a:cs typeface="Malgun Gothic"/>
              </a:rPr>
              <a:t>부족</a:t>
            </a:r>
            <a:endParaRPr sz="1300">
              <a:latin typeface="Malgun Gothic"/>
              <a:cs typeface="Malgun Gothic"/>
            </a:endParaRPr>
          </a:p>
          <a:p>
            <a:pPr marL="241300" marR="88265" indent="-228600">
              <a:lnSpc>
                <a:spcPct val="10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1500" dirty="0">
                <a:latin typeface="Malgun Gothic"/>
                <a:cs typeface="Malgun Gothic"/>
              </a:rPr>
              <a:t>데이터셋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spc="-20" dirty="0">
                <a:latin typeface="Malgun Gothic"/>
                <a:cs typeface="Malgun Gothic"/>
              </a:rPr>
              <a:t>구축</a:t>
            </a:r>
            <a:r>
              <a:rPr sz="1500" spc="-20" dirty="0">
                <a:latin typeface="Century Gothic"/>
                <a:cs typeface="Century Gothic"/>
              </a:rPr>
              <a:t>:</a:t>
            </a:r>
            <a:r>
              <a:rPr sz="1500" spc="-4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다양한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spc="50" dirty="0">
                <a:latin typeface="Century Gothic"/>
                <a:cs typeface="Century Gothic"/>
              </a:rPr>
              <a:t>prompt</a:t>
            </a:r>
            <a:r>
              <a:rPr sz="1500" spc="-3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템플릿을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설계하여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spc="60" dirty="0">
                <a:latin typeface="Century Gothic"/>
                <a:cs typeface="Century Gothic"/>
              </a:rPr>
              <a:t>task</a:t>
            </a:r>
            <a:r>
              <a:rPr sz="1500" spc="-3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유형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spc="-50" dirty="0">
                <a:latin typeface="Malgun Gothic"/>
                <a:cs typeface="Malgun Gothic"/>
              </a:rPr>
              <a:t>별 </a:t>
            </a:r>
            <a:r>
              <a:rPr sz="1500" dirty="0">
                <a:latin typeface="Malgun Gothic"/>
                <a:cs typeface="Malgun Gothic"/>
              </a:rPr>
              <a:t>로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다양한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데이터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spc="-25" dirty="0">
                <a:latin typeface="Malgun Gothic"/>
                <a:cs typeface="Malgun Gothic"/>
              </a:rPr>
              <a:t>생성</a:t>
            </a:r>
            <a:endParaRPr sz="15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518159" algn="l"/>
              </a:tabLst>
            </a:pPr>
            <a:r>
              <a:rPr sz="1500" spc="50" dirty="0">
                <a:latin typeface="Century Gothic"/>
                <a:cs typeface="Century Gothic"/>
              </a:rPr>
              <a:t>Asymmetric</a:t>
            </a:r>
            <a:r>
              <a:rPr sz="1500" spc="15" dirty="0">
                <a:latin typeface="Century Gothic"/>
                <a:cs typeface="Century Gothic"/>
              </a:rPr>
              <a:t> </a:t>
            </a:r>
            <a:r>
              <a:rPr sz="1500" spc="40" dirty="0">
                <a:latin typeface="Century Gothic"/>
                <a:cs typeface="Century Gothic"/>
              </a:rPr>
              <a:t>task</a:t>
            </a:r>
            <a:endParaRPr sz="15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840105" algn="l"/>
              </a:tabLst>
            </a:pPr>
            <a:r>
              <a:rPr sz="1300" dirty="0">
                <a:latin typeface="Century Gothic"/>
                <a:cs typeface="Century Gothic"/>
              </a:rPr>
              <a:t>Step</a:t>
            </a:r>
            <a:r>
              <a:rPr sz="1300" spc="15" dirty="0">
                <a:latin typeface="Century Gothic"/>
                <a:cs typeface="Century Gothic"/>
              </a:rPr>
              <a:t> </a:t>
            </a:r>
            <a:r>
              <a:rPr sz="1300" spc="-180" dirty="0">
                <a:latin typeface="Century Gothic"/>
                <a:cs typeface="Century Gothic"/>
              </a:rPr>
              <a:t>1:</a:t>
            </a:r>
            <a:r>
              <a:rPr sz="1300" spc="15" dirty="0">
                <a:latin typeface="Century Gothic"/>
                <a:cs typeface="Century Gothic"/>
              </a:rPr>
              <a:t> </a:t>
            </a:r>
            <a:r>
              <a:rPr sz="1300" spc="65" dirty="0">
                <a:latin typeface="Century Gothic"/>
                <a:cs typeface="Century Gothic"/>
              </a:rPr>
              <a:t>GPT-4</a:t>
            </a:r>
            <a:r>
              <a:rPr sz="1300" spc="65" dirty="0">
                <a:latin typeface="Malgun Gothic"/>
                <a:cs typeface="Malgun Gothic"/>
              </a:rPr>
              <a:t>에</a:t>
            </a:r>
            <a:r>
              <a:rPr sz="1300" spc="-80" dirty="0">
                <a:latin typeface="Malgun Gothic"/>
                <a:cs typeface="Malgun Gothic"/>
              </a:rPr>
              <a:t> </a:t>
            </a:r>
            <a:r>
              <a:rPr sz="1300" spc="50" dirty="0">
                <a:solidFill>
                  <a:srgbClr val="296A9B"/>
                </a:solidFill>
                <a:latin typeface="Century Gothic"/>
                <a:cs typeface="Century Gothic"/>
              </a:rPr>
              <a:t>task</a:t>
            </a:r>
            <a:r>
              <a:rPr sz="1300" spc="1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300" dirty="0">
                <a:solidFill>
                  <a:srgbClr val="296A9B"/>
                </a:solidFill>
                <a:latin typeface="Malgun Gothic"/>
                <a:cs typeface="Malgun Gothic"/>
              </a:rPr>
              <a:t>생성</a:t>
            </a:r>
            <a:r>
              <a:rPr sz="1300" dirty="0">
                <a:latin typeface="Malgun Gothic"/>
                <a:cs typeface="Malgun Gothic"/>
              </a:rPr>
              <a:t>하도록</a:t>
            </a:r>
            <a:r>
              <a:rPr sz="1300" spc="-80" dirty="0">
                <a:latin typeface="Malgun Gothic"/>
                <a:cs typeface="Malgun Gothic"/>
              </a:rPr>
              <a:t> </a:t>
            </a:r>
            <a:r>
              <a:rPr sz="1300" spc="-25" dirty="0">
                <a:latin typeface="Malgun Gothic"/>
                <a:cs typeface="Malgun Gothic"/>
              </a:rPr>
              <a:t>요청</a:t>
            </a:r>
            <a:endParaRPr sz="1300">
              <a:latin typeface="Malgun Gothic"/>
              <a:cs typeface="Malgun Gothic"/>
            </a:endParaRPr>
          </a:p>
          <a:p>
            <a:pPr marL="840740" marR="12700" lvl="2" indent="-228600">
              <a:lnSpc>
                <a:spcPts val="1490"/>
              </a:lnSpc>
              <a:spcBef>
                <a:spcPts val="660"/>
              </a:spcBef>
              <a:buFont typeface="Arial"/>
              <a:buChar char="•"/>
              <a:tabLst>
                <a:tab pos="840740" algn="l"/>
              </a:tabLst>
            </a:pPr>
            <a:r>
              <a:rPr sz="1300" dirty="0">
                <a:latin typeface="Century Gothic"/>
                <a:cs typeface="Century Gothic"/>
              </a:rPr>
              <a:t>Step</a:t>
            </a:r>
            <a:r>
              <a:rPr sz="1300" spc="35" dirty="0">
                <a:latin typeface="Century Gothic"/>
                <a:cs typeface="Century Gothic"/>
              </a:rPr>
              <a:t> </a:t>
            </a:r>
            <a:r>
              <a:rPr sz="1300" spc="-20" dirty="0">
                <a:latin typeface="Century Gothic"/>
                <a:cs typeface="Century Gothic"/>
              </a:rPr>
              <a:t>2:</a:t>
            </a:r>
            <a:r>
              <a:rPr sz="1300" spc="25" dirty="0">
                <a:latin typeface="Century Gothic"/>
                <a:cs typeface="Century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생성한</a:t>
            </a:r>
            <a:r>
              <a:rPr sz="1300" spc="-60" dirty="0">
                <a:latin typeface="Malgun Gothic"/>
                <a:cs typeface="Malgun Gothic"/>
              </a:rPr>
              <a:t> </a:t>
            </a:r>
            <a:r>
              <a:rPr sz="1300" dirty="0">
                <a:latin typeface="Century Gothic"/>
                <a:cs typeface="Century Gothic"/>
              </a:rPr>
              <a:t>task</a:t>
            </a:r>
            <a:r>
              <a:rPr sz="1300" dirty="0">
                <a:latin typeface="Malgun Gothic"/>
                <a:cs typeface="Malgun Gothic"/>
              </a:rPr>
              <a:t>에</a:t>
            </a:r>
            <a:r>
              <a:rPr sz="1300" spc="-65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대한</a:t>
            </a:r>
            <a:r>
              <a:rPr sz="1300" spc="-65" dirty="0">
                <a:latin typeface="Malgun Gothic"/>
                <a:cs typeface="Malgun Gothic"/>
              </a:rPr>
              <a:t> </a:t>
            </a:r>
            <a:r>
              <a:rPr sz="1300" dirty="0">
                <a:latin typeface="Century Gothic"/>
                <a:cs typeface="Century Gothic"/>
              </a:rPr>
              <a:t>(query,</a:t>
            </a:r>
            <a:r>
              <a:rPr sz="1300" spc="30" dirty="0">
                <a:latin typeface="Century Gothic"/>
                <a:cs typeface="Century Gothic"/>
              </a:rPr>
              <a:t> </a:t>
            </a:r>
            <a:r>
              <a:rPr sz="1300" dirty="0">
                <a:latin typeface="Century Gothic"/>
                <a:cs typeface="Century Gothic"/>
              </a:rPr>
              <a:t>positive,</a:t>
            </a:r>
            <a:r>
              <a:rPr sz="1300" spc="30" dirty="0">
                <a:latin typeface="Century Gothic"/>
                <a:cs typeface="Century Gothic"/>
              </a:rPr>
              <a:t> </a:t>
            </a:r>
            <a:r>
              <a:rPr sz="1300" spc="-10" dirty="0">
                <a:latin typeface="Century Gothic"/>
                <a:cs typeface="Century Gothic"/>
              </a:rPr>
              <a:t>negative)</a:t>
            </a:r>
            <a:r>
              <a:rPr sz="1300" spc="20" dirty="0">
                <a:latin typeface="Century Gothic"/>
                <a:cs typeface="Century Gothic"/>
              </a:rPr>
              <a:t> </a:t>
            </a:r>
            <a:r>
              <a:rPr sz="1300" spc="50" dirty="0">
                <a:solidFill>
                  <a:srgbClr val="296A9B"/>
                </a:solidFill>
                <a:latin typeface="Century Gothic"/>
                <a:cs typeface="Century Gothic"/>
              </a:rPr>
              <a:t>triple</a:t>
            </a:r>
            <a:r>
              <a:rPr sz="1300" spc="3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300" spc="-50" dirty="0">
                <a:solidFill>
                  <a:srgbClr val="296A9B"/>
                </a:solidFill>
                <a:latin typeface="Malgun Gothic"/>
                <a:cs typeface="Malgun Gothic"/>
              </a:rPr>
              <a:t>생 </a:t>
            </a:r>
            <a:r>
              <a:rPr sz="1300" dirty="0">
                <a:solidFill>
                  <a:srgbClr val="296A9B"/>
                </a:solidFill>
                <a:latin typeface="Malgun Gothic"/>
                <a:cs typeface="Malgun Gothic"/>
              </a:rPr>
              <a:t>성</a:t>
            </a:r>
            <a:r>
              <a:rPr sz="1300" spc="-12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300" spc="-25" dirty="0">
                <a:latin typeface="Malgun Gothic"/>
                <a:cs typeface="Malgun Gothic"/>
              </a:rPr>
              <a:t>요청</a:t>
            </a:r>
            <a:endParaRPr sz="13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500" spc="65" dirty="0">
                <a:latin typeface="Century Gothic"/>
                <a:cs typeface="Century Gothic"/>
              </a:rPr>
              <a:t>Symmetric</a:t>
            </a:r>
            <a:r>
              <a:rPr sz="1500" spc="-10" dirty="0">
                <a:latin typeface="Century Gothic"/>
                <a:cs typeface="Century Gothic"/>
              </a:rPr>
              <a:t> </a:t>
            </a:r>
            <a:r>
              <a:rPr sz="1500" spc="40" dirty="0">
                <a:latin typeface="Century Gothic"/>
                <a:cs typeface="Century Gothic"/>
              </a:rPr>
              <a:t>task</a:t>
            </a:r>
            <a:endParaRPr sz="15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840105" algn="l"/>
              </a:tabLst>
            </a:pPr>
            <a:r>
              <a:rPr sz="1300" dirty="0">
                <a:latin typeface="Century Gothic"/>
                <a:cs typeface="Century Gothic"/>
              </a:rPr>
              <a:t>Query</a:t>
            </a:r>
            <a:r>
              <a:rPr sz="1300" dirty="0">
                <a:latin typeface="Malgun Gothic"/>
                <a:cs typeface="Malgun Gothic"/>
              </a:rPr>
              <a:t>와</a:t>
            </a:r>
            <a:r>
              <a:rPr sz="1300" spc="-90" dirty="0">
                <a:latin typeface="Malgun Gothic"/>
                <a:cs typeface="Malgun Gothic"/>
              </a:rPr>
              <a:t> </a:t>
            </a:r>
            <a:r>
              <a:rPr sz="1300" dirty="0">
                <a:latin typeface="Century Gothic"/>
                <a:cs typeface="Century Gothic"/>
              </a:rPr>
              <a:t>document</a:t>
            </a:r>
            <a:r>
              <a:rPr sz="1300" dirty="0">
                <a:latin typeface="Malgun Gothic"/>
                <a:cs typeface="Malgun Gothic"/>
              </a:rPr>
              <a:t>가</a:t>
            </a:r>
            <a:r>
              <a:rPr sz="1300" spc="-90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의미는</a:t>
            </a:r>
            <a:r>
              <a:rPr sz="1300" spc="-90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같지만</a:t>
            </a:r>
            <a:r>
              <a:rPr sz="1300" spc="-85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다른</a:t>
            </a:r>
            <a:r>
              <a:rPr sz="1300" spc="-90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형태를</a:t>
            </a:r>
            <a:r>
              <a:rPr sz="1300" spc="-90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가진</a:t>
            </a:r>
            <a:r>
              <a:rPr sz="1300" spc="-90" dirty="0">
                <a:latin typeface="Malgun Gothic"/>
                <a:cs typeface="Malgun Gothic"/>
              </a:rPr>
              <a:t> </a:t>
            </a:r>
            <a:r>
              <a:rPr sz="1300" dirty="0">
                <a:latin typeface="Malgun Gothic"/>
                <a:cs typeface="Malgun Gothic"/>
              </a:rPr>
              <a:t>경우</a:t>
            </a:r>
            <a:r>
              <a:rPr sz="1300" spc="-85" dirty="0">
                <a:latin typeface="Malgun Gothic"/>
                <a:cs typeface="Malgun Gothic"/>
              </a:rPr>
              <a:t> </a:t>
            </a:r>
            <a:r>
              <a:rPr sz="1300" spc="-25" dirty="0">
                <a:latin typeface="Malgun Gothic"/>
                <a:cs typeface="Malgun Gothic"/>
              </a:rPr>
              <a:t>생성</a:t>
            </a:r>
            <a:endParaRPr sz="13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240665" algn="l"/>
              </a:tabLst>
            </a:pPr>
            <a:r>
              <a:rPr sz="1500" spc="-20" dirty="0">
                <a:latin typeface="Malgun Gothic"/>
                <a:cs typeface="Malgun Gothic"/>
              </a:rPr>
              <a:t>학습</a:t>
            </a:r>
            <a:r>
              <a:rPr sz="1500" spc="-20" dirty="0">
                <a:latin typeface="Century Gothic"/>
                <a:cs typeface="Century Gothic"/>
              </a:rPr>
              <a:t>:</a:t>
            </a:r>
            <a:r>
              <a:rPr sz="1500" spc="6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(Q_inst;</a:t>
            </a:r>
            <a:r>
              <a:rPr sz="1500" spc="65" dirty="0">
                <a:latin typeface="Century Gothic"/>
                <a:cs typeface="Century Gothic"/>
              </a:rPr>
              <a:t> </a:t>
            </a:r>
            <a:r>
              <a:rPr sz="1500" spc="-35" dirty="0">
                <a:latin typeface="Century Gothic"/>
                <a:cs typeface="Century Gothic"/>
              </a:rPr>
              <a:t>d)</a:t>
            </a:r>
            <a:r>
              <a:rPr sz="1500" spc="-35" dirty="0">
                <a:latin typeface="Malgun Gothic"/>
                <a:cs typeface="Malgun Gothic"/>
              </a:rPr>
              <a:t>로</a:t>
            </a:r>
            <a:r>
              <a:rPr sz="1500" spc="-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contrastive</a:t>
            </a:r>
            <a:r>
              <a:rPr sz="1500" spc="60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learning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291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40" dirty="0">
                <a:latin typeface="Century Gothic"/>
                <a:cs typeface="Century Gothic"/>
              </a:rPr>
              <a:t>ranking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73699" y="6438900"/>
            <a:ext cx="33820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Montserrat"/>
                <a:cs typeface="Montserrat"/>
              </a:rPr>
              <a:t>Improving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Text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Embeddings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with Large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Language Models,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arxiv24’</a:t>
            </a:r>
            <a:endParaRPr sz="800">
              <a:latin typeface="Montserrat"/>
              <a:cs typeface="Montserra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82684" y="3549482"/>
            <a:ext cx="5458460" cy="2863850"/>
            <a:chOff x="6382684" y="3549482"/>
            <a:chExt cx="5458460" cy="28638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2684" y="3549482"/>
              <a:ext cx="5457833" cy="284264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91415" y="5371070"/>
              <a:ext cx="5243830" cy="165100"/>
            </a:xfrm>
            <a:custGeom>
              <a:avLst/>
              <a:gdLst/>
              <a:ahLst/>
              <a:cxnLst/>
              <a:rect l="l" t="t" r="r" b="b"/>
              <a:pathLst>
                <a:path w="5243830" h="165100">
                  <a:moveTo>
                    <a:pt x="0" y="27461"/>
                  </a:moveTo>
                  <a:lnTo>
                    <a:pt x="2158" y="16772"/>
                  </a:lnTo>
                  <a:lnTo>
                    <a:pt x="8043" y="8043"/>
                  </a:lnTo>
                  <a:lnTo>
                    <a:pt x="16772" y="2158"/>
                  </a:lnTo>
                  <a:lnTo>
                    <a:pt x="27461" y="0"/>
                  </a:lnTo>
                  <a:lnTo>
                    <a:pt x="5215919" y="0"/>
                  </a:lnTo>
                  <a:lnTo>
                    <a:pt x="5226608" y="2158"/>
                  </a:lnTo>
                  <a:lnTo>
                    <a:pt x="5235336" y="8043"/>
                  </a:lnTo>
                  <a:lnTo>
                    <a:pt x="5241222" y="16772"/>
                  </a:lnTo>
                  <a:lnTo>
                    <a:pt x="5243380" y="27461"/>
                  </a:lnTo>
                  <a:lnTo>
                    <a:pt x="5243380" y="137295"/>
                  </a:lnTo>
                  <a:lnTo>
                    <a:pt x="5241222" y="147984"/>
                  </a:lnTo>
                  <a:lnTo>
                    <a:pt x="5235336" y="156713"/>
                  </a:lnTo>
                  <a:lnTo>
                    <a:pt x="5226608" y="162598"/>
                  </a:lnTo>
                  <a:lnTo>
                    <a:pt x="5215919" y="164757"/>
                  </a:lnTo>
                  <a:lnTo>
                    <a:pt x="27461" y="164757"/>
                  </a:lnTo>
                  <a:lnTo>
                    <a:pt x="16772" y="162598"/>
                  </a:lnTo>
                  <a:lnTo>
                    <a:pt x="8043" y="156713"/>
                  </a:lnTo>
                  <a:lnTo>
                    <a:pt x="2158" y="147984"/>
                  </a:lnTo>
                  <a:lnTo>
                    <a:pt x="0" y="137295"/>
                  </a:lnTo>
                  <a:lnTo>
                    <a:pt x="0" y="27461"/>
                  </a:lnTo>
                  <a:close/>
                </a:path>
              </a:pathLst>
            </a:custGeom>
            <a:ln w="127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91415" y="5930541"/>
              <a:ext cx="5243830" cy="476884"/>
            </a:xfrm>
            <a:custGeom>
              <a:avLst/>
              <a:gdLst/>
              <a:ahLst/>
              <a:cxnLst/>
              <a:rect l="l" t="t" r="r" b="b"/>
              <a:pathLst>
                <a:path w="5243830" h="476885">
                  <a:moveTo>
                    <a:pt x="0" y="79402"/>
                  </a:moveTo>
                  <a:lnTo>
                    <a:pt x="6239" y="48495"/>
                  </a:lnTo>
                  <a:lnTo>
                    <a:pt x="23256" y="23256"/>
                  </a:lnTo>
                  <a:lnTo>
                    <a:pt x="48495" y="6239"/>
                  </a:lnTo>
                  <a:lnTo>
                    <a:pt x="79401" y="0"/>
                  </a:lnTo>
                  <a:lnTo>
                    <a:pt x="5163978" y="0"/>
                  </a:lnTo>
                  <a:lnTo>
                    <a:pt x="5194885" y="6239"/>
                  </a:lnTo>
                  <a:lnTo>
                    <a:pt x="5220123" y="23256"/>
                  </a:lnTo>
                  <a:lnTo>
                    <a:pt x="5237140" y="48495"/>
                  </a:lnTo>
                  <a:lnTo>
                    <a:pt x="5243380" y="79402"/>
                  </a:lnTo>
                  <a:lnTo>
                    <a:pt x="5243380" y="396993"/>
                  </a:lnTo>
                  <a:lnTo>
                    <a:pt x="5237140" y="427899"/>
                  </a:lnTo>
                  <a:lnTo>
                    <a:pt x="5220123" y="453138"/>
                  </a:lnTo>
                  <a:lnTo>
                    <a:pt x="5194885" y="470155"/>
                  </a:lnTo>
                  <a:lnTo>
                    <a:pt x="5163978" y="476395"/>
                  </a:lnTo>
                  <a:lnTo>
                    <a:pt x="79401" y="476395"/>
                  </a:lnTo>
                  <a:lnTo>
                    <a:pt x="48495" y="470155"/>
                  </a:lnTo>
                  <a:lnTo>
                    <a:pt x="23256" y="453138"/>
                  </a:lnTo>
                  <a:lnTo>
                    <a:pt x="6239" y="427899"/>
                  </a:lnTo>
                  <a:lnTo>
                    <a:pt x="0" y="396993"/>
                  </a:lnTo>
                  <a:lnTo>
                    <a:pt x="0" y="79402"/>
                  </a:lnTo>
                  <a:close/>
                </a:path>
              </a:pathLst>
            </a:custGeom>
            <a:ln w="12700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7077" y="737448"/>
            <a:ext cx="2796963" cy="2664038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4347845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75" dirty="0">
                <a:latin typeface="Century Gothic"/>
                <a:cs typeface="Century Gothic"/>
              </a:rPr>
              <a:t>Large-</a:t>
            </a:r>
            <a:r>
              <a:rPr sz="2800" dirty="0">
                <a:latin typeface="Century Gothic"/>
                <a:cs typeface="Century Gothic"/>
              </a:rPr>
              <a:t>scale</a:t>
            </a:r>
            <a:r>
              <a:rPr sz="2800" spc="-90" dirty="0">
                <a:latin typeface="Century Gothic"/>
                <a:cs typeface="Century Gothic"/>
              </a:rPr>
              <a:t> </a:t>
            </a:r>
            <a:r>
              <a:rPr sz="2800" spc="90" dirty="0">
                <a:latin typeface="Century Gothic"/>
                <a:cs typeface="Century Gothic"/>
              </a:rPr>
              <a:t>Embedding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65" dirty="0">
                <a:latin typeface="Century Gothic"/>
                <a:cs typeface="Century Gothic"/>
              </a:rPr>
              <a:t>M3-</a:t>
            </a:r>
            <a:r>
              <a:rPr sz="2400" spc="40" dirty="0">
                <a:latin typeface="Century Gothic"/>
                <a:cs typeface="Century Gothic"/>
              </a:rPr>
              <a:t>Embedding: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291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40" dirty="0">
                <a:latin typeface="Century Gothic"/>
                <a:cs typeface="Century Gothic"/>
              </a:rPr>
              <a:t>ranking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2432" y="976514"/>
            <a:ext cx="7085387" cy="24529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771468" y="6347459"/>
            <a:ext cx="68834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Montserrat"/>
                <a:cs typeface="Montserrat"/>
              </a:rPr>
              <a:t>BGE </a:t>
            </a:r>
            <a:r>
              <a:rPr sz="800" spc="-10" dirty="0">
                <a:latin typeface="Montserrat"/>
                <a:cs typeface="Montserrat"/>
              </a:rPr>
              <a:t>M3-Embedding: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Multi-Lingual,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Multi-Functionality,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Multi-Granularity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Text</a:t>
            </a:r>
            <a:r>
              <a:rPr sz="800" spc="-10" dirty="0">
                <a:latin typeface="Montserrat"/>
                <a:cs typeface="Montserrat"/>
              </a:rPr>
              <a:t> Embeddings</a:t>
            </a:r>
            <a:r>
              <a:rPr sz="800" spc="1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Through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Self-Knowledge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Distillation,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arxiv24’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9063" y="3691127"/>
            <a:ext cx="7138017" cy="26254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2467" y="1641944"/>
            <a:ext cx="4170303" cy="229297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5762" y="4844762"/>
            <a:ext cx="4397008" cy="10032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3211195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30" dirty="0">
                <a:latin typeface="Century Gothic"/>
                <a:cs typeface="Century Gothic"/>
              </a:rPr>
              <a:t>Ranking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110" dirty="0">
                <a:latin typeface="Century Gothic"/>
                <a:cs typeface="Century Gothic"/>
              </a:rPr>
              <a:t>Ranking</a:t>
            </a:r>
            <a:r>
              <a:rPr sz="2400" spc="-30" dirty="0">
                <a:latin typeface="Century Gothic"/>
                <a:cs typeface="Century Gothic"/>
              </a:rPr>
              <a:t> </a:t>
            </a:r>
            <a:r>
              <a:rPr sz="2400" spc="140" dirty="0">
                <a:latin typeface="Century Gothic"/>
                <a:cs typeface="Century Gothic"/>
              </a:rPr>
              <a:t>with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spc="135" dirty="0">
                <a:latin typeface="Century Gothic"/>
                <a:cs typeface="Century Gothic"/>
              </a:rPr>
              <a:t>GPT4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291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40" dirty="0">
                <a:latin typeface="Century Gothic"/>
                <a:cs typeface="Century Gothic"/>
              </a:rPr>
              <a:t>ranking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46512" y="6304788"/>
            <a:ext cx="50082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Montserrat"/>
                <a:cs typeface="Montserrat"/>
              </a:rPr>
              <a:t>Is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ChatGPT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Good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at</a:t>
            </a:r>
            <a:r>
              <a:rPr sz="800" spc="-3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Search?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Investigating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Large</a:t>
            </a:r>
            <a:r>
              <a:rPr sz="800" spc="-3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Language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Models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as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Re-Ranking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Agent,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EMNLP23’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1776" y="1909038"/>
            <a:ext cx="3257057" cy="30338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401" y="1621062"/>
            <a:ext cx="5186597" cy="411994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5830570" cy="20059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5" dirty="0">
                <a:latin typeface="Century Gothic"/>
                <a:cs typeface="Century Gothic"/>
              </a:rPr>
              <a:t>Basic</a:t>
            </a:r>
            <a:r>
              <a:rPr sz="2800" spc="-25" dirty="0">
                <a:latin typeface="Century Gothic"/>
                <a:cs typeface="Century Gothic"/>
              </a:rPr>
              <a:t> RAG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155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75" dirty="0">
                <a:latin typeface="Century Gothic"/>
                <a:cs typeface="Century Gothic"/>
              </a:rPr>
              <a:t>Jointly</a:t>
            </a:r>
            <a:r>
              <a:rPr sz="1700" spc="7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learn</a:t>
            </a:r>
            <a:r>
              <a:rPr sz="1700" spc="7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to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retrieve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and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generate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spc="-25" dirty="0">
                <a:latin typeface="Century Gothic"/>
                <a:cs typeface="Century Gothic"/>
              </a:rPr>
              <a:t>e2e</a:t>
            </a:r>
            <a:endParaRPr sz="17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465"/>
              </a:spcBef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entury Gothic"/>
                <a:cs typeface="Century Gothic"/>
              </a:rPr>
              <a:t>Latent</a:t>
            </a:r>
            <a:r>
              <a:rPr sz="1700" spc="14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retrieval:</a:t>
            </a:r>
            <a:r>
              <a:rPr sz="1700" spc="15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no</a:t>
            </a:r>
            <a:r>
              <a:rPr sz="1700" spc="15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labels</a:t>
            </a:r>
            <a:r>
              <a:rPr sz="1700" spc="160" dirty="0">
                <a:latin typeface="Century Gothic"/>
                <a:cs typeface="Century Gothic"/>
              </a:rPr>
              <a:t> </a:t>
            </a:r>
            <a:r>
              <a:rPr sz="1700" spc="-20" dirty="0">
                <a:latin typeface="Century Gothic"/>
                <a:cs typeface="Century Gothic"/>
              </a:rPr>
              <a:t>needed</a:t>
            </a:r>
            <a:r>
              <a:rPr sz="1700" spc="14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for</a:t>
            </a:r>
            <a:r>
              <a:rPr sz="1700" spc="15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retrieved</a:t>
            </a:r>
            <a:r>
              <a:rPr sz="1700" spc="145" dirty="0">
                <a:latin typeface="Century Gothic"/>
                <a:cs typeface="Century Gothic"/>
              </a:rPr>
              <a:t> </a:t>
            </a:r>
            <a:r>
              <a:rPr sz="1700" spc="-20" dirty="0">
                <a:latin typeface="Century Gothic"/>
                <a:cs typeface="Century Gothic"/>
              </a:rPr>
              <a:t>docs</a:t>
            </a:r>
            <a:endParaRPr sz="1700">
              <a:latin typeface="Century Gothic"/>
              <a:cs typeface="Century Gothic"/>
            </a:endParaRPr>
          </a:p>
          <a:p>
            <a:pPr marL="240665" indent="-227965">
              <a:lnSpc>
                <a:spcPts val="1880"/>
              </a:lnSpc>
              <a:spcBef>
                <a:spcPts val="1365"/>
              </a:spcBef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entury Gothic"/>
                <a:cs typeface="Century Gothic"/>
              </a:rPr>
              <a:t>RAG</a:t>
            </a:r>
            <a:r>
              <a:rPr sz="1700" spc="6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models:</a:t>
            </a:r>
            <a:r>
              <a:rPr sz="1700" spc="70" dirty="0"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Century Gothic"/>
                <a:cs typeface="Century Gothic"/>
              </a:rPr>
              <a:t>parametric</a:t>
            </a:r>
            <a:r>
              <a:rPr sz="1700" spc="6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+</a:t>
            </a:r>
            <a:r>
              <a:rPr sz="1700" spc="65" dirty="0">
                <a:latin typeface="Century Gothic"/>
                <a:cs typeface="Century Gothic"/>
              </a:rPr>
              <a:t> </a:t>
            </a:r>
            <a:r>
              <a:rPr sz="1700" spc="60" dirty="0">
                <a:solidFill>
                  <a:srgbClr val="92D050"/>
                </a:solidFill>
                <a:latin typeface="Century Gothic"/>
                <a:cs typeface="Century Gothic"/>
              </a:rPr>
              <a:t>non-</a:t>
            </a:r>
            <a:r>
              <a:rPr sz="1700" dirty="0">
                <a:solidFill>
                  <a:srgbClr val="92D050"/>
                </a:solidFill>
                <a:latin typeface="Century Gothic"/>
                <a:cs typeface="Century Gothic"/>
              </a:rPr>
              <a:t>parametric</a:t>
            </a:r>
            <a:r>
              <a:rPr sz="1700" spc="65" dirty="0">
                <a:solidFill>
                  <a:srgbClr val="92D050"/>
                </a:solidFill>
                <a:latin typeface="Century Gothic"/>
                <a:cs typeface="Century Gothic"/>
              </a:rPr>
              <a:t> </a:t>
            </a:r>
            <a:r>
              <a:rPr sz="1700" spc="55" dirty="0">
                <a:solidFill>
                  <a:srgbClr val="92D050"/>
                </a:solidFill>
                <a:latin typeface="Century Gothic"/>
                <a:cs typeface="Century Gothic"/>
              </a:rPr>
              <a:t>memory</a:t>
            </a:r>
            <a:endParaRPr sz="1700">
              <a:latin typeface="Century Gothic"/>
              <a:cs typeface="Century Gothic"/>
            </a:endParaRPr>
          </a:p>
          <a:p>
            <a:pPr marL="1857375">
              <a:lnSpc>
                <a:spcPts val="1280"/>
              </a:lnSpc>
              <a:tabLst>
                <a:tab pos="4128135" algn="l"/>
              </a:tabLst>
            </a:pPr>
            <a:r>
              <a:rPr sz="1200" spc="-10" dirty="0">
                <a:latin typeface="Century Gothic"/>
                <a:cs typeface="Century Gothic"/>
              </a:rPr>
              <a:t>Generator</a:t>
            </a:r>
            <a:r>
              <a:rPr sz="1200" dirty="0">
                <a:latin typeface="Century Gothic"/>
                <a:cs typeface="Century Gothic"/>
              </a:rPr>
              <a:t>	</a:t>
            </a:r>
            <a:r>
              <a:rPr sz="1200" spc="-10" dirty="0">
                <a:latin typeface="Century Gothic"/>
                <a:cs typeface="Century Gothic"/>
              </a:rPr>
              <a:t>Retrieval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729" y="2894338"/>
            <a:ext cx="10259666" cy="303545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518049" y="6308039"/>
            <a:ext cx="4137025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Generation</a:t>
            </a:r>
            <a:r>
              <a:rPr sz="800" dirty="0">
                <a:latin typeface="Montserrat"/>
                <a:cs typeface="Montserrat"/>
              </a:rPr>
              <a:t> for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Knowledge-</a:t>
            </a:r>
            <a:r>
              <a:rPr sz="800" spc="-10" dirty="0">
                <a:latin typeface="Montserrat"/>
                <a:cs typeface="Montserrat"/>
              </a:rPr>
              <a:t>Intensive</a:t>
            </a:r>
            <a:r>
              <a:rPr sz="800" dirty="0">
                <a:latin typeface="Montserrat"/>
                <a:cs typeface="Montserrat"/>
              </a:rPr>
              <a:t> NLP </a:t>
            </a:r>
            <a:r>
              <a:rPr sz="800" spc="-10" dirty="0">
                <a:latin typeface="Montserrat"/>
                <a:cs typeface="Montserrat"/>
              </a:rPr>
              <a:t>Tasks,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NeurIPS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25" dirty="0">
                <a:latin typeface="Montserrat"/>
                <a:cs typeface="Montserrat"/>
              </a:rPr>
              <a:t>20’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5830570" cy="20059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5" dirty="0">
                <a:latin typeface="Century Gothic"/>
                <a:cs typeface="Century Gothic"/>
              </a:rPr>
              <a:t>Basic</a:t>
            </a:r>
            <a:r>
              <a:rPr sz="2800" spc="-25" dirty="0">
                <a:latin typeface="Century Gothic"/>
                <a:cs typeface="Century Gothic"/>
              </a:rPr>
              <a:t> RAG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155"/>
              </a:spcBef>
              <a:buFont typeface="Arial"/>
              <a:buChar char="•"/>
              <a:tabLst>
                <a:tab pos="240665" algn="l"/>
              </a:tabLst>
            </a:pPr>
            <a:r>
              <a:rPr sz="1700" spc="75" dirty="0">
                <a:latin typeface="Century Gothic"/>
                <a:cs typeface="Century Gothic"/>
              </a:rPr>
              <a:t>Jointly</a:t>
            </a:r>
            <a:r>
              <a:rPr sz="1700" spc="7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learn</a:t>
            </a:r>
            <a:r>
              <a:rPr sz="1700" spc="7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to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retrieve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and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generate</a:t>
            </a:r>
            <a:r>
              <a:rPr sz="1700" spc="55" dirty="0">
                <a:latin typeface="Century Gothic"/>
                <a:cs typeface="Century Gothic"/>
              </a:rPr>
              <a:t> </a:t>
            </a:r>
            <a:r>
              <a:rPr sz="1700" spc="-25" dirty="0">
                <a:latin typeface="Century Gothic"/>
                <a:cs typeface="Century Gothic"/>
              </a:rPr>
              <a:t>e2e</a:t>
            </a:r>
            <a:endParaRPr sz="17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465"/>
              </a:spcBef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entury Gothic"/>
                <a:cs typeface="Century Gothic"/>
              </a:rPr>
              <a:t>Latent</a:t>
            </a:r>
            <a:r>
              <a:rPr sz="1700" spc="14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retrieval:</a:t>
            </a:r>
            <a:r>
              <a:rPr sz="1700" spc="15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no</a:t>
            </a:r>
            <a:r>
              <a:rPr sz="1700" spc="15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labels</a:t>
            </a:r>
            <a:r>
              <a:rPr sz="1700" spc="160" dirty="0">
                <a:latin typeface="Century Gothic"/>
                <a:cs typeface="Century Gothic"/>
              </a:rPr>
              <a:t> </a:t>
            </a:r>
            <a:r>
              <a:rPr sz="1700" spc="-20" dirty="0">
                <a:latin typeface="Century Gothic"/>
                <a:cs typeface="Century Gothic"/>
              </a:rPr>
              <a:t>needed</a:t>
            </a:r>
            <a:r>
              <a:rPr sz="1700" spc="14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for</a:t>
            </a:r>
            <a:r>
              <a:rPr sz="1700" spc="15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retrieved</a:t>
            </a:r>
            <a:r>
              <a:rPr sz="1700" spc="145" dirty="0">
                <a:latin typeface="Century Gothic"/>
                <a:cs typeface="Century Gothic"/>
              </a:rPr>
              <a:t> </a:t>
            </a:r>
            <a:r>
              <a:rPr sz="1700" spc="-20" dirty="0">
                <a:latin typeface="Century Gothic"/>
                <a:cs typeface="Century Gothic"/>
              </a:rPr>
              <a:t>docs</a:t>
            </a:r>
            <a:endParaRPr sz="1700">
              <a:latin typeface="Century Gothic"/>
              <a:cs typeface="Century Gothic"/>
            </a:endParaRPr>
          </a:p>
          <a:p>
            <a:pPr marL="240665" indent="-227965">
              <a:lnSpc>
                <a:spcPts val="1880"/>
              </a:lnSpc>
              <a:spcBef>
                <a:spcPts val="1365"/>
              </a:spcBef>
              <a:buFont typeface="Arial"/>
              <a:buChar char="•"/>
              <a:tabLst>
                <a:tab pos="240665" algn="l"/>
              </a:tabLst>
            </a:pPr>
            <a:r>
              <a:rPr sz="1700" dirty="0">
                <a:latin typeface="Century Gothic"/>
                <a:cs typeface="Century Gothic"/>
              </a:rPr>
              <a:t>RAG</a:t>
            </a:r>
            <a:r>
              <a:rPr sz="1700" spc="6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models:</a:t>
            </a:r>
            <a:r>
              <a:rPr sz="1700" spc="70" dirty="0"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296A9B"/>
                </a:solidFill>
                <a:latin typeface="Century Gothic"/>
                <a:cs typeface="Century Gothic"/>
              </a:rPr>
              <a:t>parametric</a:t>
            </a:r>
            <a:r>
              <a:rPr sz="1700" spc="6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+</a:t>
            </a:r>
            <a:r>
              <a:rPr sz="1700" spc="65" dirty="0">
                <a:latin typeface="Century Gothic"/>
                <a:cs typeface="Century Gothic"/>
              </a:rPr>
              <a:t> </a:t>
            </a:r>
            <a:r>
              <a:rPr sz="1700" spc="60" dirty="0">
                <a:solidFill>
                  <a:srgbClr val="92D050"/>
                </a:solidFill>
                <a:latin typeface="Century Gothic"/>
                <a:cs typeface="Century Gothic"/>
              </a:rPr>
              <a:t>non-</a:t>
            </a:r>
            <a:r>
              <a:rPr sz="1700" dirty="0">
                <a:solidFill>
                  <a:srgbClr val="92D050"/>
                </a:solidFill>
                <a:latin typeface="Century Gothic"/>
                <a:cs typeface="Century Gothic"/>
              </a:rPr>
              <a:t>parametric</a:t>
            </a:r>
            <a:r>
              <a:rPr sz="1700" spc="65" dirty="0">
                <a:solidFill>
                  <a:srgbClr val="92D050"/>
                </a:solidFill>
                <a:latin typeface="Century Gothic"/>
                <a:cs typeface="Century Gothic"/>
              </a:rPr>
              <a:t> </a:t>
            </a:r>
            <a:r>
              <a:rPr sz="1700" spc="55" dirty="0">
                <a:solidFill>
                  <a:srgbClr val="92D050"/>
                </a:solidFill>
                <a:latin typeface="Century Gothic"/>
                <a:cs typeface="Century Gothic"/>
              </a:rPr>
              <a:t>memory</a:t>
            </a:r>
            <a:endParaRPr sz="1700">
              <a:latin typeface="Century Gothic"/>
              <a:cs typeface="Century Gothic"/>
            </a:endParaRPr>
          </a:p>
          <a:p>
            <a:pPr marL="1857375">
              <a:lnSpc>
                <a:spcPts val="1280"/>
              </a:lnSpc>
              <a:tabLst>
                <a:tab pos="4128135" algn="l"/>
              </a:tabLst>
            </a:pPr>
            <a:r>
              <a:rPr sz="1200" spc="-10" dirty="0">
                <a:latin typeface="Century Gothic"/>
                <a:cs typeface="Century Gothic"/>
              </a:rPr>
              <a:t>Generator</a:t>
            </a:r>
            <a:r>
              <a:rPr sz="1200" dirty="0">
                <a:latin typeface="Century Gothic"/>
                <a:cs typeface="Century Gothic"/>
              </a:rPr>
              <a:t>	</a:t>
            </a:r>
            <a:r>
              <a:rPr sz="1200" spc="-10" dirty="0">
                <a:latin typeface="Century Gothic"/>
                <a:cs typeface="Century Gothic"/>
              </a:rPr>
              <a:t>Retrieval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2701" y="3122759"/>
            <a:ext cx="7663180" cy="979169"/>
            <a:chOff x="752701" y="3122759"/>
            <a:chExt cx="7663180" cy="979169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945" y="3361568"/>
              <a:ext cx="7330648" cy="7402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876" y="3125934"/>
              <a:ext cx="1658471" cy="3030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5876" y="3125934"/>
              <a:ext cx="1658620" cy="303530"/>
            </a:xfrm>
            <a:custGeom>
              <a:avLst/>
              <a:gdLst/>
              <a:ahLst/>
              <a:cxnLst/>
              <a:rect l="l" t="t" r="r" b="b"/>
              <a:pathLst>
                <a:path w="1658620" h="303529">
                  <a:moveTo>
                    <a:pt x="0" y="50512"/>
                  </a:moveTo>
                  <a:lnTo>
                    <a:pt x="3969" y="30850"/>
                  </a:lnTo>
                  <a:lnTo>
                    <a:pt x="14794" y="14794"/>
                  </a:lnTo>
                  <a:lnTo>
                    <a:pt x="30850" y="3969"/>
                  </a:lnTo>
                  <a:lnTo>
                    <a:pt x="50512" y="0"/>
                  </a:lnTo>
                  <a:lnTo>
                    <a:pt x="1607960" y="0"/>
                  </a:lnTo>
                  <a:lnTo>
                    <a:pt x="1627621" y="3969"/>
                  </a:lnTo>
                  <a:lnTo>
                    <a:pt x="1643677" y="14794"/>
                  </a:lnTo>
                  <a:lnTo>
                    <a:pt x="1654502" y="30850"/>
                  </a:lnTo>
                  <a:lnTo>
                    <a:pt x="1658472" y="50512"/>
                  </a:lnTo>
                  <a:lnTo>
                    <a:pt x="1658472" y="252552"/>
                  </a:lnTo>
                  <a:lnTo>
                    <a:pt x="1654502" y="272214"/>
                  </a:lnTo>
                  <a:lnTo>
                    <a:pt x="1643677" y="288270"/>
                  </a:lnTo>
                  <a:lnTo>
                    <a:pt x="1627621" y="299095"/>
                  </a:lnTo>
                  <a:lnTo>
                    <a:pt x="1607960" y="303065"/>
                  </a:lnTo>
                  <a:lnTo>
                    <a:pt x="50512" y="303065"/>
                  </a:lnTo>
                  <a:lnTo>
                    <a:pt x="30850" y="299095"/>
                  </a:lnTo>
                  <a:lnTo>
                    <a:pt x="14794" y="288270"/>
                  </a:lnTo>
                  <a:lnTo>
                    <a:pt x="3969" y="272214"/>
                  </a:lnTo>
                  <a:lnTo>
                    <a:pt x="0" y="252552"/>
                  </a:lnTo>
                  <a:lnTo>
                    <a:pt x="0" y="50512"/>
                  </a:lnTo>
                  <a:close/>
                </a:path>
              </a:pathLst>
            </a:custGeom>
            <a:ln w="635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52701" y="4517066"/>
            <a:ext cx="6113145" cy="973455"/>
            <a:chOff x="752701" y="4517066"/>
            <a:chExt cx="6113145" cy="97345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9162" y="4753982"/>
              <a:ext cx="5786087" cy="73641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876" y="4520241"/>
              <a:ext cx="1658471" cy="30306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55876" y="4520241"/>
              <a:ext cx="1658620" cy="303530"/>
            </a:xfrm>
            <a:custGeom>
              <a:avLst/>
              <a:gdLst/>
              <a:ahLst/>
              <a:cxnLst/>
              <a:rect l="l" t="t" r="r" b="b"/>
              <a:pathLst>
                <a:path w="1658620" h="303529">
                  <a:moveTo>
                    <a:pt x="0" y="50512"/>
                  </a:moveTo>
                  <a:lnTo>
                    <a:pt x="3969" y="30850"/>
                  </a:lnTo>
                  <a:lnTo>
                    <a:pt x="14794" y="14794"/>
                  </a:lnTo>
                  <a:lnTo>
                    <a:pt x="30850" y="3969"/>
                  </a:lnTo>
                  <a:lnTo>
                    <a:pt x="50512" y="0"/>
                  </a:lnTo>
                  <a:lnTo>
                    <a:pt x="1607960" y="0"/>
                  </a:lnTo>
                  <a:lnTo>
                    <a:pt x="1627621" y="3969"/>
                  </a:lnTo>
                  <a:lnTo>
                    <a:pt x="1643677" y="14794"/>
                  </a:lnTo>
                  <a:lnTo>
                    <a:pt x="1654502" y="30850"/>
                  </a:lnTo>
                  <a:lnTo>
                    <a:pt x="1658472" y="50512"/>
                  </a:lnTo>
                  <a:lnTo>
                    <a:pt x="1658472" y="252552"/>
                  </a:lnTo>
                  <a:lnTo>
                    <a:pt x="1654502" y="272214"/>
                  </a:lnTo>
                  <a:lnTo>
                    <a:pt x="1643677" y="288270"/>
                  </a:lnTo>
                  <a:lnTo>
                    <a:pt x="1627621" y="299095"/>
                  </a:lnTo>
                  <a:lnTo>
                    <a:pt x="1607960" y="303065"/>
                  </a:lnTo>
                  <a:lnTo>
                    <a:pt x="50512" y="303065"/>
                  </a:lnTo>
                  <a:lnTo>
                    <a:pt x="30850" y="299095"/>
                  </a:lnTo>
                  <a:lnTo>
                    <a:pt x="14794" y="288270"/>
                  </a:lnTo>
                  <a:lnTo>
                    <a:pt x="3969" y="272214"/>
                  </a:lnTo>
                  <a:lnTo>
                    <a:pt x="0" y="252552"/>
                  </a:lnTo>
                  <a:lnTo>
                    <a:pt x="0" y="50512"/>
                  </a:lnTo>
                  <a:close/>
                </a:path>
              </a:pathLst>
            </a:custGeom>
            <a:ln w="635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10425" y="3144011"/>
            <a:ext cx="1348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RAG</a:t>
            </a:r>
            <a:r>
              <a:rPr sz="14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sequence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8225" y="4539996"/>
            <a:ext cx="99504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RAG</a:t>
            </a:r>
            <a:r>
              <a:rPr sz="14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Century Gothic"/>
                <a:cs typeface="Century Gothic"/>
              </a:rPr>
              <a:t>token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90046" y="4140708"/>
            <a:ext cx="8102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92D050"/>
                </a:solidFill>
                <a:latin typeface="Century Gothic"/>
                <a:cs typeface="Century Gothic"/>
              </a:rPr>
              <a:t>Retrieval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687792" y="3438606"/>
            <a:ext cx="808355" cy="986155"/>
          </a:xfrm>
          <a:custGeom>
            <a:avLst/>
            <a:gdLst/>
            <a:ahLst/>
            <a:cxnLst/>
            <a:rect l="l" t="t" r="r" b="b"/>
            <a:pathLst>
              <a:path w="808354" h="986154">
                <a:moveTo>
                  <a:pt x="0" y="134637"/>
                </a:moveTo>
                <a:lnTo>
                  <a:pt x="6863" y="92081"/>
                </a:lnTo>
                <a:lnTo>
                  <a:pt x="25977" y="55122"/>
                </a:lnTo>
                <a:lnTo>
                  <a:pt x="55122" y="25977"/>
                </a:lnTo>
                <a:lnTo>
                  <a:pt x="92081" y="6863"/>
                </a:lnTo>
                <a:lnTo>
                  <a:pt x="134637" y="0"/>
                </a:lnTo>
                <a:lnTo>
                  <a:pt x="673170" y="0"/>
                </a:lnTo>
                <a:lnTo>
                  <a:pt x="715726" y="6863"/>
                </a:lnTo>
                <a:lnTo>
                  <a:pt x="752685" y="25977"/>
                </a:lnTo>
                <a:lnTo>
                  <a:pt x="781830" y="55122"/>
                </a:lnTo>
                <a:lnTo>
                  <a:pt x="800944" y="92081"/>
                </a:lnTo>
                <a:lnTo>
                  <a:pt x="807808" y="134637"/>
                </a:lnTo>
                <a:lnTo>
                  <a:pt x="807808" y="851159"/>
                </a:lnTo>
                <a:lnTo>
                  <a:pt x="800944" y="893715"/>
                </a:lnTo>
                <a:lnTo>
                  <a:pt x="781830" y="930674"/>
                </a:lnTo>
                <a:lnTo>
                  <a:pt x="752685" y="959819"/>
                </a:lnTo>
                <a:lnTo>
                  <a:pt x="715726" y="978933"/>
                </a:lnTo>
                <a:lnTo>
                  <a:pt x="673170" y="985797"/>
                </a:lnTo>
                <a:lnTo>
                  <a:pt x="134637" y="985797"/>
                </a:lnTo>
                <a:lnTo>
                  <a:pt x="92081" y="978933"/>
                </a:lnTo>
                <a:lnTo>
                  <a:pt x="55122" y="959819"/>
                </a:lnTo>
                <a:lnTo>
                  <a:pt x="25977" y="930674"/>
                </a:lnTo>
                <a:lnTo>
                  <a:pt x="6863" y="893715"/>
                </a:lnTo>
                <a:lnTo>
                  <a:pt x="0" y="851159"/>
                </a:lnTo>
                <a:lnTo>
                  <a:pt x="0" y="134637"/>
                </a:lnTo>
                <a:close/>
              </a:path>
            </a:pathLst>
          </a:custGeom>
          <a:ln w="12700">
            <a:solidFill>
              <a:srgbClr val="70AD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35249" y="4137660"/>
            <a:ext cx="930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96A9B"/>
                </a:solidFill>
                <a:latin typeface="Century Gothic"/>
                <a:cs typeface="Century Gothic"/>
              </a:rPr>
              <a:t>Generator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778642" y="3429000"/>
            <a:ext cx="1658620" cy="986155"/>
          </a:xfrm>
          <a:custGeom>
            <a:avLst/>
            <a:gdLst/>
            <a:ahLst/>
            <a:cxnLst/>
            <a:rect l="l" t="t" r="r" b="b"/>
            <a:pathLst>
              <a:path w="1658620" h="986154">
                <a:moveTo>
                  <a:pt x="0" y="164301"/>
                </a:moveTo>
                <a:lnTo>
                  <a:pt x="5869" y="120623"/>
                </a:lnTo>
                <a:lnTo>
                  <a:pt x="22432" y="81375"/>
                </a:lnTo>
                <a:lnTo>
                  <a:pt x="48122" y="48122"/>
                </a:lnTo>
                <a:lnTo>
                  <a:pt x="81375" y="22432"/>
                </a:lnTo>
                <a:lnTo>
                  <a:pt x="120623" y="5869"/>
                </a:lnTo>
                <a:lnTo>
                  <a:pt x="164301" y="0"/>
                </a:lnTo>
                <a:lnTo>
                  <a:pt x="1494170" y="0"/>
                </a:lnTo>
                <a:lnTo>
                  <a:pt x="1537848" y="5869"/>
                </a:lnTo>
                <a:lnTo>
                  <a:pt x="1577096" y="22432"/>
                </a:lnTo>
                <a:lnTo>
                  <a:pt x="1610349" y="48122"/>
                </a:lnTo>
                <a:lnTo>
                  <a:pt x="1636040" y="81375"/>
                </a:lnTo>
                <a:lnTo>
                  <a:pt x="1652603" y="120623"/>
                </a:lnTo>
                <a:lnTo>
                  <a:pt x="1658472" y="164301"/>
                </a:lnTo>
                <a:lnTo>
                  <a:pt x="1658472" y="821495"/>
                </a:lnTo>
                <a:lnTo>
                  <a:pt x="1652603" y="865173"/>
                </a:lnTo>
                <a:lnTo>
                  <a:pt x="1636040" y="904421"/>
                </a:lnTo>
                <a:lnTo>
                  <a:pt x="1610349" y="937674"/>
                </a:lnTo>
                <a:lnTo>
                  <a:pt x="1577096" y="963364"/>
                </a:lnTo>
                <a:lnTo>
                  <a:pt x="1537848" y="979927"/>
                </a:lnTo>
                <a:lnTo>
                  <a:pt x="1494170" y="985797"/>
                </a:lnTo>
                <a:lnTo>
                  <a:pt x="164301" y="985797"/>
                </a:lnTo>
                <a:lnTo>
                  <a:pt x="120623" y="979927"/>
                </a:lnTo>
                <a:lnTo>
                  <a:pt x="81375" y="963364"/>
                </a:lnTo>
                <a:lnTo>
                  <a:pt x="48122" y="937674"/>
                </a:lnTo>
                <a:lnTo>
                  <a:pt x="22432" y="904421"/>
                </a:lnTo>
                <a:lnTo>
                  <a:pt x="5869" y="865173"/>
                </a:lnTo>
                <a:lnTo>
                  <a:pt x="0" y="821495"/>
                </a:lnTo>
                <a:lnTo>
                  <a:pt x="0" y="164301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518049" y="6308039"/>
            <a:ext cx="4137025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Generation</a:t>
            </a:r>
            <a:r>
              <a:rPr sz="800" dirty="0">
                <a:latin typeface="Montserrat"/>
                <a:cs typeface="Montserrat"/>
              </a:rPr>
              <a:t> for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Knowledge-</a:t>
            </a:r>
            <a:r>
              <a:rPr sz="800" spc="-10" dirty="0">
                <a:latin typeface="Montserrat"/>
                <a:cs typeface="Montserrat"/>
              </a:rPr>
              <a:t>Intensive</a:t>
            </a:r>
            <a:r>
              <a:rPr sz="800" dirty="0">
                <a:latin typeface="Montserrat"/>
                <a:cs typeface="Montserrat"/>
              </a:rPr>
              <a:t> NLP </a:t>
            </a:r>
            <a:r>
              <a:rPr sz="800" spc="-10" dirty="0">
                <a:latin typeface="Montserrat"/>
                <a:cs typeface="Montserrat"/>
              </a:rPr>
              <a:t>Tasks,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NeurIPS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25" dirty="0">
                <a:latin typeface="Montserrat"/>
                <a:cs typeface="Montserrat"/>
              </a:rPr>
              <a:t>20’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1" y="536955"/>
            <a:ext cx="5996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entury Gothic"/>
                <a:cs typeface="Century Gothic"/>
              </a:rPr>
              <a:t>RAG</a:t>
            </a:r>
            <a:r>
              <a:rPr sz="2800" spc="20" dirty="0">
                <a:latin typeface="Century Gothic"/>
                <a:cs typeface="Century Gothic"/>
              </a:rPr>
              <a:t> </a:t>
            </a:r>
            <a:r>
              <a:rPr sz="2800" spc="195" dirty="0">
                <a:latin typeface="Century Gothic"/>
                <a:cs typeface="Century Gothic"/>
              </a:rPr>
              <a:t>with</a:t>
            </a:r>
            <a:r>
              <a:rPr sz="2800" spc="20" dirty="0">
                <a:latin typeface="Century Gothic"/>
                <a:cs typeface="Century Gothic"/>
              </a:rPr>
              <a:t> </a:t>
            </a:r>
            <a:r>
              <a:rPr sz="2800" spc="65" dirty="0">
                <a:latin typeface="Century Gothic"/>
                <a:cs typeface="Century Gothic"/>
              </a:rPr>
              <a:t>Large</a:t>
            </a:r>
            <a:r>
              <a:rPr sz="2800" spc="15" dirty="0">
                <a:latin typeface="Century Gothic"/>
                <a:cs typeface="Century Gothic"/>
              </a:rPr>
              <a:t> </a:t>
            </a:r>
            <a:r>
              <a:rPr sz="2800" dirty="0">
                <a:latin typeface="Century Gothic"/>
                <a:cs typeface="Century Gothic"/>
              </a:rPr>
              <a:t>Language</a:t>
            </a:r>
            <a:r>
              <a:rPr sz="2800" spc="10" dirty="0">
                <a:latin typeface="Century Gothic"/>
                <a:cs typeface="Century Gothic"/>
              </a:rPr>
              <a:t> </a:t>
            </a:r>
            <a:r>
              <a:rPr sz="2800" spc="-10" dirty="0">
                <a:latin typeface="Century Gothic"/>
                <a:cs typeface="Century Gothic"/>
              </a:rPr>
              <a:t>Model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2641" y="5946140"/>
            <a:ext cx="704215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Naïve</a:t>
            </a:r>
            <a:r>
              <a:rPr sz="1800" spc="-12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RAG:</a:t>
            </a:r>
            <a:r>
              <a:rPr sz="1800" spc="-80" dirty="0">
                <a:latin typeface="Century Gothic"/>
                <a:cs typeface="Century Gothic"/>
              </a:rPr>
              <a:t> </a:t>
            </a:r>
            <a:r>
              <a:rPr sz="1800" spc="125" dirty="0">
                <a:latin typeface="Century Gothic"/>
                <a:cs typeface="Century Gothic"/>
              </a:rPr>
              <a:t>LLM</a:t>
            </a:r>
            <a:r>
              <a:rPr sz="1800" spc="125" dirty="0">
                <a:latin typeface="Malgun Gothic"/>
                <a:cs typeface="Malgun Gothic"/>
              </a:rPr>
              <a:t>을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이용한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RAG</a:t>
            </a:r>
            <a:r>
              <a:rPr sz="1800" spc="-70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시스템</a:t>
            </a:r>
            <a:endParaRPr sz="1800">
              <a:latin typeface="Malgun Gothic"/>
              <a:cs typeface="Malgun Gothic"/>
            </a:endParaRPr>
          </a:p>
          <a:p>
            <a:pPr marL="3038475">
              <a:lnSpc>
                <a:spcPct val="100000"/>
              </a:lnSpc>
              <a:spcBef>
                <a:spcPts val="660"/>
              </a:spcBef>
            </a:pP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Generation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Large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Language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Models: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A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Survey,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Arxiv23’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4270" y="2129891"/>
            <a:ext cx="2552018" cy="23557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3901" y="1583256"/>
            <a:ext cx="7030258" cy="415184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11828" y="4973828"/>
            <a:ext cx="1778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algun Gothic"/>
                <a:cs typeface="Malgun Gothic"/>
              </a:rPr>
              <a:t>일반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165" dirty="0">
                <a:latin typeface="Century Gothic"/>
                <a:cs typeface="Century Gothic"/>
              </a:rPr>
              <a:t>LLM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시스템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7614284" cy="338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>
                <a:latin typeface="Century Gothic"/>
                <a:cs typeface="Century Gothic"/>
              </a:rPr>
              <a:t>Advanced</a:t>
            </a:r>
            <a:r>
              <a:rPr sz="2800" spc="-1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15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114" dirty="0">
                <a:latin typeface="Century Gothic"/>
                <a:cs typeface="Century Gothic"/>
              </a:rPr>
              <a:t>REPLUG:</a:t>
            </a:r>
            <a:r>
              <a:rPr sz="1800" spc="5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Retrieve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and</a:t>
            </a:r>
            <a:r>
              <a:rPr sz="1100" spc="25" dirty="0">
                <a:latin typeface="Century Gothic"/>
                <a:cs typeface="Century Gothic"/>
              </a:rPr>
              <a:t> </a:t>
            </a:r>
            <a:r>
              <a:rPr sz="1100" spc="50" dirty="0">
                <a:latin typeface="Century Gothic"/>
                <a:cs typeface="Century Gothic"/>
              </a:rPr>
              <a:t>Plug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1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spc="90" dirty="0">
                <a:latin typeface="Century Gothic"/>
                <a:cs typeface="Century Gothic"/>
              </a:rPr>
              <a:t>LM</a:t>
            </a:r>
            <a:r>
              <a:rPr sz="1800" spc="90" dirty="0">
                <a:latin typeface="Malgun Gothic"/>
                <a:cs typeface="Malgun Gothic"/>
              </a:rPr>
              <a:t>의</a:t>
            </a:r>
            <a:r>
              <a:rPr sz="1800" spc="-7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성능</a:t>
            </a:r>
            <a:r>
              <a:rPr sz="1800" spc="-7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향상을</a:t>
            </a:r>
            <a:r>
              <a:rPr sz="1800" spc="-7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위해</a:t>
            </a:r>
            <a:r>
              <a:rPr sz="1800" spc="-7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retriever</a:t>
            </a:r>
            <a:r>
              <a:rPr sz="1800" dirty="0">
                <a:latin typeface="Malgun Gothic"/>
                <a:cs typeface="Malgun Gothic"/>
              </a:rPr>
              <a:t>를</a:t>
            </a:r>
            <a:r>
              <a:rPr sz="1800" spc="-7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강화</a:t>
            </a:r>
            <a:endParaRPr sz="18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50" dirty="0">
                <a:latin typeface="Century Gothic"/>
                <a:cs typeface="Century Gothic"/>
              </a:rPr>
              <a:t>Replug</a:t>
            </a:r>
            <a:r>
              <a:rPr sz="1800" spc="65" dirty="0">
                <a:latin typeface="Century Gothic"/>
                <a:cs typeface="Century Gothic"/>
              </a:rPr>
              <a:t> </a:t>
            </a:r>
            <a:r>
              <a:rPr sz="1800" spc="204" dirty="0">
                <a:latin typeface="Century Gothic"/>
                <a:cs typeface="Century Gothic"/>
              </a:rPr>
              <a:t>LSR</a:t>
            </a:r>
            <a:r>
              <a:rPr sz="1800" spc="60" dirty="0">
                <a:latin typeface="Century Gothic"/>
                <a:cs typeface="Century Gothic"/>
              </a:rPr>
              <a:t> </a:t>
            </a:r>
            <a:r>
              <a:rPr sz="1800" spc="65" dirty="0">
                <a:latin typeface="Century Gothic"/>
                <a:cs typeface="Century Gothic"/>
              </a:rPr>
              <a:t>(LM-</a:t>
            </a:r>
            <a:r>
              <a:rPr sz="1800" spc="50" dirty="0">
                <a:latin typeface="Century Gothic"/>
                <a:cs typeface="Century Gothic"/>
              </a:rPr>
              <a:t>Supervised</a:t>
            </a:r>
            <a:r>
              <a:rPr sz="1800" spc="6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Retrieval)</a:t>
            </a:r>
            <a:r>
              <a:rPr sz="1800" spc="60" dirty="0">
                <a:latin typeface="Century Gothic"/>
                <a:cs typeface="Century Gothic"/>
              </a:rPr>
              <a:t> training</a:t>
            </a:r>
            <a:endParaRPr sz="18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18159" algn="l"/>
              </a:tabLst>
            </a:pPr>
            <a:r>
              <a:rPr sz="1800" spc="90" dirty="0">
                <a:latin typeface="Century Gothic"/>
                <a:cs typeface="Century Gothic"/>
              </a:rPr>
              <a:t>LM</a:t>
            </a:r>
            <a:r>
              <a:rPr sz="1800" spc="90" dirty="0">
                <a:latin typeface="Malgun Gothic"/>
                <a:cs typeface="Malgun Gothic"/>
              </a:rPr>
              <a:t>을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black-box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고정</a:t>
            </a:r>
            <a:r>
              <a:rPr sz="1800" spc="-10" dirty="0">
                <a:latin typeface="Century Gothic"/>
                <a:cs typeface="Century Gothic"/>
              </a:rPr>
              <a:t>,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45" dirty="0">
                <a:latin typeface="Century Gothic"/>
                <a:cs typeface="Century Gothic"/>
              </a:rPr>
              <a:t>retriever</a:t>
            </a:r>
            <a:r>
              <a:rPr sz="1800" spc="45" dirty="0">
                <a:latin typeface="Malgun Gothic"/>
                <a:cs typeface="Malgun Gothic"/>
              </a:rPr>
              <a:t>을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학습</a:t>
            </a:r>
            <a:endParaRPr sz="18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919"/>
              </a:spcBef>
              <a:buFont typeface="Arial"/>
              <a:buChar char="•"/>
              <a:tabLst>
                <a:tab pos="840105" algn="l"/>
              </a:tabLst>
            </a:pPr>
            <a:r>
              <a:rPr sz="1600" spc="-130" dirty="0">
                <a:latin typeface="Century Gothic"/>
                <a:cs typeface="Century Gothic"/>
              </a:rPr>
              <a:t>1-</a:t>
            </a:r>
            <a:r>
              <a:rPr sz="1600" dirty="0">
                <a:latin typeface="Century Gothic"/>
                <a:cs typeface="Century Gothic"/>
              </a:rPr>
              <a:t>step:</a:t>
            </a:r>
            <a:r>
              <a:rPr sz="1600" spc="60" dirty="0">
                <a:latin typeface="Century Gothic"/>
                <a:cs typeface="Century Gothic"/>
              </a:rPr>
              <a:t> </a:t>
            </a:r>
            <a:r>
              <a:rPr sz="1600" spc="75" dirty="0">
                <a:latin typeface="Century Gothic"/>
                <a:cs typeface="Century Gothic"/>
              </a:rPr>
              <a:t>input</a:t>
            </a:r>
            <a:r>
              <a:rPr sz="1600" spc="6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text</a:t>
            </a:r>
            <a:r>
              <a:rPr sz="1600" dirty="0">
                <a:latin typeface="Malgun Gothic"/>
                <a:cs typeface="Malgun Gothic"/>
              </a:rPr>
              <a:t>에</a:t>
            </a:r>
            <a:r>
              <a:rPr sz="1600" spc="-5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대한</a:t>
            </a:r>
            <a:r>
              <a:rPr sz="1600" spc="-60" dirty="0">
                <a:latin typeface="Malgun Gothic"/>
                <a:cs typeface="Malgun Gothic"/>
              </a:rPr>
              <a:t> </a:t>
            </a:r>
            <a:r>
              <a:rPr sz="1600" spc="40" dirty="0">
                <a:latin typeface="Century Gothic"/>
                <a:cs typeface="Century Gothic"/>
              </a:rPr>
              <a:t>retrieving</a:t>
            </a:r>
            <a:endParaRPr sz="16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840105" algn="l"/>
              </a:tabLst>
            </a:pPr>
            <a:r>
              <a:rPr sz="1600" dirty="0">
                <a:latin typeface="Century Gothic"/>
                <a:cs typeface="Century Gothic"/>
              </a:rPr>
              <a:t>2-step:</a:t>
            </a:r>
            <a:r>
              <a:rPr sz="1600" spc="35" dirty="0">
                <a:latin typeface="Century Gothic"/>
                <a:cs typeface="Century Gothic"/>
              </a:rPr>
              <a:t> </a:t>
            </a:r>
            <a:r>
              <a:rPr sz="1600" spc="75" dirty="0">
                <a:latin typeface="Century Gothic"/>
                <a:cs typeface="Century Gothic"/>
              </a:rPr>
              <a:t>input</a:t>
            </a:r>
            <a:r>
              <a:rPr sz="1600" spc="40" dirty="0">
                <a:latin typeface="Century Gothic"/>
                <a:cs typeface="Century Gothic"/>
              </a:rPr>
              <a:t> </a:t>
            </a:r>
            <a:r>
              <a:rPr sz="1600" spc="50" dirty="0">
                <a:latin typeface="Century Gothic"/>
                <a:cs typeface="Century Gothic"/>
              </a:rPr>
              <a:t>reformulation</a:t>
            </a:r>
            <a:r>
              <a:rPr sz="1600" spc="45" dirty="0">
                <a:latin typeface="Century Gothic"/>
                <a:cs typeface="Century Gothic"/>
              </a:rPr>
              <a:t> </a:t>
            </a:r>
            <a:r>
              <a:rPr sz="1600" spc="65" dirty="0">
                <a:latin typeface="Century Gothic"/>
                <a:cs typeface="Century Gothic"/>
              </a:rPr>
              <a:t>-</a:t>
            </a:r>
            <a:r>
              <a:rPr sz="1600" dirty="0">
                <a:latin typeface="Century Gothic"/>
                <a:cs typeface="Century Gothic"/>
              </a:rPr>
              <a:t>&gt;</a:t>
            </a:r>
            <a:r>
              <a:rPr sz="1600" spc="4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[retrieved</a:t>
            </a:r>
            <a:r>
              <a:rPr sz="1600" spc="4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document;</a:t>
            </a:r>
            <a:r>
              <a:rPr sz="1600" spc="40" dirty="0">
                <a:latin typeface="Century Gothic"/>
                <a:cs typeface="Century Gothic"/>
              </a:rPr>
              <a:t> </a:t>
            </a:r>
            <a:r>
              <a:rPr sz="1600" spc="75" dirty="0">
                <a:latin typeface="Century Gothic"/>
                <a:cs typeface="Century Gothic"/>
              </a:rPr>
              <a:t>input</a:t>
            </a:r>
            <a:r>
              <a:rPr sz="1600" spc="40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text]</a:t>
            </a:r>
            <a:endParaRPr sz="16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840105" algn="l"/>
              </a:tabLst>
            </a:pPr>
            <a:r>
              <a:rPr sz="1600" dirty="0">
                <a:latin typeface="Century Gothic"/>
                <a:cs typeface="Century Gothic"/>
              </a:rPr>
              <a:t>3-step:</a:t>
            </a:r>
            <a:r>
              <a:rPr sz="1600" spc="7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score</a:t>
            </a:r>
            <a:r>
              <a:rPr sz="1600" spc="7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ensemble</a:t>
            </a:r>
            <a:r>
              <a:rPr sz="1600" spc="75" dirty="0">
                <a:latin typeface="Century Gothic"/>
                <a:cs typeface="Century Gothic"/>
              </a:rPr>
              <a:t> </a:t>
            </a:r>
            <a:r>
              <a:rPr sz="1600" spc="65" dirty="0">
                <a:latin typeface="Century Gothic"/>
                <a:cs typeface="Century Gothic"/>
              </a:rPr>
              <a:t>-</a:t>
            </a:r>
            <a:r>
              <a:rPr sz="1600" dirty="0">
                <a:latin typeface="Century Gothic"/>
                <a:cs typeface="Century Gothic"/>
              </a:rPr>
              <a:t>&gt;</a:t>
            </a:r>
            <a:r>
              <a:rPr sz="1600" spc="80" dirty="0">
                <a:latin typeface="Century Gothic"/>
                <a:cs typeface="Century Gothic"/>
              </a:rPr>
              <a:t> </a:t>
            </a:r>
            <a:r>
              <a:rPr sz="1600" spc="114" dirty="0">
                <a:latin typeface="Century Gothic"/>
                <a:cs typeface="Century Gothic"/>
              </a:rPr>
              <a:t>LM</a:t>
            </a:r>
            <a:r>
              <a:rPr sz="1600" spc="6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perplexity</a:t>
            </a:r>
            <a:r>
              <a:rPr sz="1600" dirty="0">
                <a:latin typeface="Malgun Gothic"/>
                <a:cs typeface="Malgun Gothic"/>
              </a:rPr>
              <a:t>를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증가시키는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문서에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scoring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08231" y="729995"/>
            <a:ext cx="36068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Montserrat"/>
                <a:cs typeface="Montserrat"/>
              </a:rPr>
              <a:t>REPLUG: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Black-</a:t>
            </a:r>
            <a:r>
              <a:rPr sz="800" dirty="0">
                <a:latin typeface="Montserrat"/>
                <a:cs typeface="Montserrat"/>
              </a:rPr>
              <a:t>Box </a:t>
            </a:r>
            <a:r>
              <a:rPr sz="800" spc="-10" dirty="0">
                <a:latin typeface="Montserrat"/>
                <a:cs typeface="Montserrat"/>
              </a:rPr>
              <a:t>Language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Models,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NAACL24’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45457" y="4040128"/>
            <a:ext cx="7002764" cy="276921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4797425" cy="446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>
                <a:latin typeface="Century Gothic"/>
                <a:cs typeface="Century Gothic"/>
              </a:rPr>
              <a:t>Advanced</a:t>
            </a:r>
            <a:r>
              <a:rPr sz="2800" spc="-1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15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185" dirty="0">
                <a:latin typeface="Century Gothic"/>
                <a:cs typeface="Century Gothic"/>
              </a:rPr>
              <a:t>SuRE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spc="50" dirty="0">
                <a:latin typeface="Century Gothic"/>
                <a:cs typeface="Century Gothic"/>
              </a:rPr>
              <a:t>framework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entury Gothic"/>
                <a:cs typeface="Century Gothic"/>
              </a:rPr>
              <a:t>Query</a:t>
            </a:r>
            <a:r>
              <a:rPr sz="1800" dirty="0">
                <a:latin typeface="Malgun Gothic"/>
                <a:cs typeface="Malgun Gothic"/>
              </a:rPr>
              <a:t>와</a:t>
            </a:r>
            <a:r>
              <a:rPr sz="1800" spc="-8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관련된</a:t>
            </a:r>
            <a:r>
              <a:rPr sz="1800" spc="-75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passages</a:t>
            </a:r>
            <a:r>
              <a:rPr sz="1800" spc="50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검색</a:t>
            </a:r>
            <a:endParaRPr sz="18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354965" algn="l"/>
              </a:tabLst>
            </a:pPr>
            <a:r>
              <a:rPr sz="1800" spc="125" dirty="0">
                <a:latin typeface="Century Gothic"/>
                <a:cs typeface="Century Gothic"/>
              </a:rPr>
              <a:t>LLM</a:t>
            </a:r>
            <a:r>
              <a:rPr sz="1800" spc="125" dirty="0">
                <a:latin typeface="Malgun Gothic"/>
                <a:cs typeface="Malgun Gothic"/>
              </a:rPr>
              <a:t>을</a:t>
            </a:r>
            <a:r>
              <a:rPr sz="1800" spc="-9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이용하여</a:t>
            </a:r>
            <a:r>
              <a:rPr sz="1800" spc="-95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answer</a:t>
            </a:r>
            <a:r>
              <a:rPr sz="1800" spc="4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candidates</a:t>
            </a:r>
            <a:r>
              <a:rPr sz="1800" spc="3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생성</a:t>
            </a:r>
            <a:endParaRPr sz="18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Century Gothic"/>
              <a:buAutoNum type="arabicPeriod"/>
              <a:tabLst>
                <a:tab pos="354965" algn="l"/>
              </a:tabLst>
            </a:pPr>
            <a:r>
              <a:rPr sz="1800" dirty="0">
                <a:latin typeface="Malgun Gothic"/>
                <a:cs typeface="Malgun Gothic"/>
              </a:rPr>
              <a:t>각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30" dirty="0">
                <a:latin typeface="Century Gothic"/>
                <a:cs typeface="Century Gothic"/>
              </a:rPr>
              <a:t>candidate</a:t>
            </a:r>
            <a:r>
              <a:rPr sz="1800" spc="-8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별로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요약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생성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Malgun Gothic"/>
                <a:cs typeface="Malgun Gothic"/>
              </a:rPr>
              <a:t>이를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통해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125" dirty="0">
                <a:latin typeface="Century Gothic"/>
                <a:cs typeface="Century Gothic"/>
              </a:rPr>
              <a:t>LLM</a:t>
            </a:r>
            <a:r>
              <a:rPr sz="1800" spc="125" dirty="0">
                <a:latin typeface="Malgun Gothic"/>
                <a:cs typeface="Malgun Gothic"/>
              </a:rPr>
              <a:t>이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더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근거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있는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답변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유도</a:t>
            </a:r>
            <a:endParaRPr sz="18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354965" algn="l"/>
              </a:tabLst>
            </a:pPr>
            <a:r>
              <a:rPr sz="1800" spc="80" dirty="0">
                <a:latin typeface="Century Gothic"/>
                <a:cs typeface="Century Gothic"/>
              </a:rPr>
              <a:t>Prompting</a:t>
            </a:r>
            <a:r>
              <a:rPr sz="1800" spc="80" dirty="0">
                <a:latin typeface="Malgun Gothic"/>
                <a:cs typeface="Malgun Gothic"/>
              </a:rPr>
              <a:t>으로</a:t>
            </a:r>
            <a:r>
              <a:rPr sz="1800" spc="-7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요약</a:t>
            </a:r>
            <a:r>
              <a:rPr sz="1800" spc="-65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verification</a:t>
            </a:r>
            <a:r>
              <a:rPr sz="1800" spc="6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수행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18159" algn="l"/>
              </a:tabLst>
            </a:pPr>
            <a:r>
              <a:rPr sz="1800" spc="-45" dirty="0">
                <a:latin typeface="Century Gothic"/>
                <a:cs typeface="Century Gothic"/>
              </a:rPr>
              <a:t>Q;C;P</a:t>
            </a:r>
            <a:r>
              <a:rPr sz="1800" spc="-50" dirty="0">
                <a:latin typeface="Century Gothic"/>
                <a:cs typeface="Century Gothic"/>
              </a:rPr>
              <a:t> </a:t>
            </a:r>
            <a:r>
              <a:rPr sz="1800" spc="75" dirty="0">
                <a:latin typeface="Century Gothic"/>
                <a:cs typeface="Century Gothic"/>
              </a:rPr>
              <a:t>-</a:t>
            </a:r>
            <a:r>
              <a:rPr sz="1800" dirty="0">
                <a:latin typeface="Century Gothic"/>
                <a:cs typeface="Century Gothic"/>
              </a:rPr>
              <a:t>&gt;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spc="114" dirty="0">
                <a:latin typeface="Century Gothic"/>
                <a:cs typeface="Century Gothic"/>
              </a:rPr>
              <a:t>True</a:t>
            </a:r>
            <a:r>
              <a:rPr sz="1800" spc="-40" dirty="0">
                <a:latin typeface="Century Gothic"/>
                <a:cs typeface="Century Gothic"/>
              </a:rPr>
              <a:t> </a:t>
            </a:r>
            <a:r>
              <a:rPr sz="1800" spc="65" dirty="0">
                <a:latin typeface="Century Gothic"/>
                <a:cs typeface="Century Gothic"/>
              </a:rPr>
              <a:t>or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spc="45" dirty="0">
                <a:latin typeface="Century Gothic"/>
                <a:cs typeface="Century Gothic"/>
              </a:rPr>
              <a:t>False</a:t>
            </a:r>
            <a:endParaRPr sz="18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354965" algn="l"/>
              </a:tabLst>
            </a:pPr>
            <a:r>
              <a:rPr sz="1800" spc="80" dirty="0">
                <a:latin typeface="Century Gothic"/>
                <a:cs typeface="Century Gothic"/>
              </a:rPr>
              <a:t>Prompting</a:t>
            </a:r>
            <a:r>
              <a:rPr sz="1800" spc="80" dirty="0">
                <a:latin typeface="Malgun Gothic"/>
                <a:cs typeface="Malgun Gothic"/>
              </a:rPr>
              <a:t>으로</a:t>
            </a:r>
            <a:r>
              <a:rPr sz="1800" spc="-85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pair-</a:t>
            </a:r>
            <a:r>
              <a:rPr sz="1800" spc="65" dirty="0">
                <a:latin typeface="Century Gothic"/>
                <a:cs typeface="Century Gothic"/>
              </a:rPr>
              <a:t>wise</a:t>
            </a:r>
            <a:r>
              <a:rPr sz="1800" spc="55" dirty="0">
                <a:latin typeface="Century Gothic"/>
                <a:cs typeface="Century Gothic"/>
              </a:rPr>
              <a:t> </a:t>
            </a:r>
            <a:r>
              <a:rPr sz="1800" spc="75" dirty="0">
                <a:latin typeface="Century Gothic"/>
                <a:cs typeface="Century Gothic"/>
              </a:rPr>
              <a:t>ranking</a:t>
            </a:r>
            <a:r>
              <a:rPr sz="1800" spc="60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수행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5949188"/>
            <a:ext cx="2235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entury Gothic"/>
                <a:cs typeface="Century Gothic"/>
              </a:rPr>
              <a:t>6.</a:t>
            </a:r>
            <a:r>
              <a:rPr sz="1800" dirty="0">
                <a:latin typeface="Century Gothic"/>
                <a:cs typeface="Century Gothic"/>
              </a:rPr>
              <a:t>	</a:t>
            </a:r>
            <a:r>
              <a:rPr sz="1800" dirty="0">
                <a:latin typeface="Malgun Gothic"/>
                <a:cs typeface="Malgun Gothic"/>
              </a:rPr>
              <a:t>최종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answer</a:t>
            </a:r>
            <a:r>
              <a:rPr sz="1800" spc="114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선택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7562" y="6448044"/>
            <a:ext cx="54978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Montserrat"/>
                <a:cs typeface="Montserrat"/>
              </a:rPr>
              <a:t>SURE: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SUMMARIZING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RETRIEVALS </a:t>
            </a:r>
            <a:r>
              <a:rPr sz="800" dirty="0">
                <a:latin typeface="Montserrat"/>
                <a:cs typeface="Montserrat"/>
              </a:rPr>
              <a:t>USING</a:t>
            </a:r>
            <a:r>
              <a:rPr sz="800" spc="-2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ANSWER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CANDIDATES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OPEN-DOMAIN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QA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OF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LLMS, ICLR24’</a:t>
            </a:r>
            <a:endParaRPr sz="800">
              <a:latin typeface="Montserrat"/>
              <a:cs typeface="Montserra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0414" y="607664"/>
            <a:ext cx="5937565" cy="33212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9051" y="4043166"/>
            <a:ext cx="4648200" cy="234283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293010" y="4430307"/>
            <a:ext cx="1083310" cy="208915"/>
            <a:chOff x="5293010" y="4430307"/>
            <a:chExt cx="1083310" cy="208915"/>
          </a:xfrm>
        </p:grpSpPr>
        <p:sp>
          <p:nvSpPr>
            <p:cNvPr id="15" name="object 15"/>
            <p:cNvSpPr/>
            <p:nvPr/>
          </p:nvSpPr>
          <p:spPr>
            <a:xfrm>
              <a:off x="5299360" y="4436658"/>
              <a:ext cx="1070610" cy="196215"/>
            </a:xfrm>
            <a:custGeom>
              <a:avLst/>
              <a:gdLst/>
              <a:ahLst/>
              <a:cxnLst/>
              <a:rect l="l" t="t" r="r" b="b"/>
              <a:pathLst>
                <a:path w="1070610" h="196214">
                  <a:moveTo>
                    <a:pt x="972215" y="0"/>
                  </a:moveTo>
                  <a:lnTo>
                    <a:pt x="972215" y="48910"/>
                  </a:lnTo>
                  <a:lnTo>
                    <a:pt x="0" y="48910"/>
                  </a:lnTo>
                  <a:lnTo>
                    <a:pt x="0" y="146728"/>
                  </a:lnTo>
                  <a:lnTo>
                    <a:pt x="972215" y="146728"/>
                  </a:lnTo>
                  <a:lnTo>
                    <a:pt x="972215" y="195638"/>
                  </a:lnTo>
                  <a:lnTo>
                    <a:pt x="1070033" y="97817"/>
                  </a:lnTo>
                  <a:lnTo>
                    <a:pt x="972215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99360" y="4436657"/>
              <a:ext cx="1070610" cy="196215"/>
            </a:xfrm>
            <a:custGeom>
              <a:avLst/>
              <a:gdLst/>
              <a:ahLst/>
              <a:cxnLst/>
              <a:rect l="l" t="t" r="r" b="b"/>
              <a:pathLst>
                <a:path w="1070610" h="196214">
                  <a:moveTo>
                    <a:pt x="972215" y="195639"/>
                  </a:moveTo>
                  <a:lnTo>
                    <a:pt x="972215" y="146728"/>
                  </a:lnTo>
                  <a:lnTo>
                    <a:pt x="0" y="146728"/>
                  </a:lnTo>
                  <a:lnTo>
                    <a:pt x="0" y="48910"/>
                  </a:lnTo>
                  <a:lnTo>
                    <a:pt x="972215" y="48910"/>
                  </a:lnTo>
                  <a:lnTo>
                    <a:pt x="972215" y="0"/>
                  </a:lnTo>
                  <a:lnTo>
                    <a:pt x="1070034" y="97818"/>
                  </a:lnTo>
                  <a:lnTo>
                    <a:pt x="972215" y="19563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0803" y="5156119"/>
            <a:ext cx="5624741" cy="62195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202" y="6239721"/>
            <a:ext cx="3469101" cy="455165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4283075" cy="554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>
                <a:latin typeface="Century Gothic"/>
                <a:cs typeface="Century Gothic"/>
              </a:rPr>
              <a:t>Advanced</a:t>
            </a:r>
            <a:r>
              <a:rPr sz="2800" spc="-1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155" dirty="0">
                <a:latin typeface="Century Gothic"/>
                <a:cs typeface="Century Gothic"/>
              </a:rPr>
              <a:t>RAPTOR</a:t>
            </a:r>
            <a:endParaRPr sz="24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505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Malgun Gothic"/>
                <a:cs typeface="Malgun Gothic"/>
              </a:rPr>
              <a:t>의미가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유사한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spc="85" dirty="0">
                <a:latin typeface="Century Gothic"/>
                <a:cs typeface="Century Gothic"/>
              </a:rPr>
              <a:t>chunk</a:t>
            </a:r>
            <a:r>
              <a:rPr sz="2200" spc="-30" dirty="0">
                <a:latin typeface="Century Gothic"/>
                <a:cs typeface="Century Gothic"/>
              </a:rPr>
              <a:t> </a:t>
            </a:r>
            <a:r>
              <a:rPr sz="2200" spc="-35" dirty="0">
                <a:latin typeface="Malgun Gothic"/>
                <a:cs typeface="Malgun Gothic"/>
              </a:rPr>
              <a:t>별로</a:t>
            </a:r>
            <a:endParaRPr sz="2200">
              <a:latin typeface="Malgun Gothic"/>
              <a:cs typeface="Malgun Gothic"/>
            </a:endParaRPr>
          </a:p>
          <a:p>
            <a:pPr marL="241300">
              <a:lnSpc>
                <a:spcPct val="100000"/>
              </a:lnSpc>
              <a:spcBef>
                <a:spcPts val="455"/>
              </a:spcBef>
            </a:pPr>
            <a:r>
              <a:rPr sz="2200" spc="85" dirty="0">
                <a:latin typeface="Century Gothic"/>
                <a:cs typeface="Century Gothic"/>
              </a:rPr>
              <a:t>clustering</a:t>
            </a:r>
            <a:r>
              <a:rPr sz="2200" spc="-70" dirty="0">
                <a:latin typeface="Century Gothic"/>
                <a:cs typeface="Century Gothic"/>
              </a:rPr>
              <a:t> </a:t>
            </a:r>
            <a:r>
              <a:rPr sz="2200" spc="100" dirty="0">
                <a:latin typeface="Century Gothic"/>
                <a:cs typeface="Century Gothic"/>
              </a:rPr>
              <a:t>-</a:t>
            </a:r>
            <a:r>
              <a:rPr sz="2200" dirty="0">
                <a:latin typeface="Century Gothic"/>
                <a:cs typeface="Century Gothic"/>
              </a:rPr>
              <a:t>&gt;</a:t>
            </a:r>
            <a:r>
              <a:rPr sz="2200" spc="-60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추상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spc="-25" dirty="0">
                <a:latin typeface="Malgun Gothic"/>
                <a:cs typeface="Malgun Gothic"/>
              </a:rPr>
              <a:t>요약</a:t>
            </a:r>
            <a:endParaRPr sz="22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560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Malgun Gothic"/>
                <a:cs typeface="Malgun Gothic"/>
              </a:rPr>
              <a:t>관련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정보를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포함하고</a:t>
            </a:r>
            <a:r>
              <a:rPr sz="2200" spc="-200" dirty="0">
                <a:latin typeface="Malgun Gothic"/>
                <a:cs typeface="Malgun Gothic"/>
              </a:rPr>
              <a:t> </a:t>
            </a:r>
            <a:r>
              <a:rPr sz="2200" spc="-25" dirty="0">
                <a:latin typeface="Malgun Gothic"/>
                <a:cs typeface="Malgun Gothic"/>
              </a:rPr>
              <a:t>있는</a:t>
            </a:r>
            <a:endParaRPr sz="2200">
              <a:latin typeface="Malgun Gothic"/>
              <a:cs typeface="Malgun Gothic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sz="2200" spc="85" dirty="0">
                <a:latin typeface="Century Gothic"/>
                <a:cs typeface="Century Gothic"/>
              </a:rPr>
              <a:t>chunk</a:t>
            </a:r>
            <a:r>
              <a:rPr sz="2200" spc="-30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별로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새로운</a:t>
            </a:r>
            <a:r>
              <a:rPr sz="2200" spc="-195" dirty="0">
                <a:latin typeface="Malgun Gothic"/>
                <a:cs typeface="Malgun Gothic"/>
              </a:rPr>
              <a:t> </a:t>
            </a:r>
            <a:r>
              <a:rPr sz="2200" spc="85" dirty="0">
                <a:latin typeface="Century Gothic"/>
                <a:cs typeface="Century Gothic"/>
              </a:rPr>
              <a:t>chunk</a:t>
            </a:r>
            <a:r>
              <a:rPr sz="2200" spc="-30" dirty="0">
                <a:latin typeface="Century Gothic"/>
                <a:cs typeface="Century Gothic"/>
              </a:rPr>
              <a:t> </a:t>
            </a:r>
            <a:r>
              <a:rPr sz="2200" spc="-25" dirty="0">
                <a:latin typeface="Malgun Gothic"/>
                <a:cs typeface="Malgun Gothic"/>
              </a:rPr>
              <a:t>생성</a:t>
            </a:r>
            <a:endParaRPr sz="22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18159" algn="l"/>
              </a:tabLst>
            </a:pPr>
            <a:r>
              <a:rPr sz="2200" dirty="0">
                <a:latin typeface="Malgun Gothic"/>
                <a:cs typeface="Malgun Gothic"/>
              </a:rPr>
              <a:t>유의미한</a:t>
            </a:r>
            <a:r>
              <a:rPr sz="2200" spc="-170" dirty="0">
                <a:latin typeface="Malgun Gothic"/>
                <a:cs typeface="Malgun Gothic"/>
              </a:rPr>
              <a:t> </a:t>
            </a:r>
            <a:r>
              <a:rPr sz="2200" spc="155" dirty="0">
                <a:latin typeface="Century Gothic"/>
                <a:cs typeface="Century Gothic"/>
              </a:rPr>
              <a:t>multi-</a:t>
            </a:r>
            <a:r>
              <a:rPr sz="2200" dirty="0">
                <a:latin typeface="Century Gothic"/>
                <a:cs typeface="Century Gothic"/>
              </a:rPr>
              <a:t>hop</a:t>
            </a:r>
            <a:r>
              <a:rPr sz="2200" spc="-10" dirty="0">
                <a:latin typeface="Century Gothic"/>
                <a:cs typeface="Century Gothic"/>
              </a:rPr>
              <a:t> </a:t>
            </a:r>
            <a:r>
              <a:rPr sz="2200" spc="-25" dirty="0">
                <a:latin typeface="Malgun Gothic"/>
                <a:cs typeface="Malgun Gothic"/>
              </a:rPr>
              <a:t>생성</a:t>
            </a:r>
            <a:endParaRPr sz="220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1955"/>
              </a:spcBef>
              <a:buFont typeface="Arial"/>
              <a:buChar char="•"/>
            </a:pPr>
            <a:endParaRPr sz="22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200" spc="55" dirty="0">
                <a:latin typeface="Century Gothic"/>
                <a:cs typeface="Century Gothic"/>
              </a:rPr>
              <a:t>Document</a:t>
            </a:r>
            <a:r>
              <a:rPr sz="2200" spc="-30" dirty="0">
                <a:latin typeface="Century Gothic"/>
                <a:cs typeface="Century Gothic"/>
              </a:rPr>
              <a:t> </a:t>
            </a:r>
            <a:r>
              <a:rPr sz="2200" spc="70" dirty="0">
                <a:latin typeface="Century Gothic"/>
                <a:cs typeface="Century Gothic"/>
              </a:rPr>
              <a:t>clustering</a:t>
            </a:r>
            <a:endParaRPr sz="22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18159" algn="l"/>
              </a:tabLst>
            </a:pPr>
            <a:r>
              <a:rPr sz="2200" dirty="0">
                <a:latin typeface="Century Gothic"/>
                <a:cs typeface="Century Gothic"/>
              </a:rPr>
              <a:t>Gaussian</a:t>
            </a:r>
            <a:r>
              <a:rPr sz="2200" spc="80" dirty="0">
                <a:latin typeface="Century Gothic"/>
                <a:cs typeface="Century Gothic"/>
              </a:rPr>
              <a:t> </a:t>
            </a:r>
            <a:r>
              <a:rPr sz="2200" spc="95" dirty="0">
                <a:latin typeface="Century Gothic"/>
                <a:cs typeface="Century Gothic"/>
              </a:rPr>
              <a:t>Mixture</a:t>
            </a:r>
            <a:r>
              <a:rPr sz="2200" spc="75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Models</a:t>
            </a:r>
            <a:endParaRPr sz="22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518159" algn="l"/>
              </a:tabLst>
            </a:pPr>
            <a:r>
              <a:rPr sz="2200" dirty="0">
                <a:latin typeface="Century Gothic"/>
                <a:cs typeface="Century Gothic"/>
              </a:rPr>
              <a:t>100</a:t>
            </a:r>
            <a:r>
              <a:rPr sz="2200" spc="-20" dirty="0">
                <a:latin typeface="Century Gothic"/>
                <a:cs typeface="Century Gothic"/>
              </a:rPr>
              <a:t> </a:t>
            </a:r>
            <a:r>
              <a:rPr sz="2200" spc="60" dirty="0">
                <a:latin typeface="Century Gothic"/>
                <a:cs typeface="Century Gothic"/>
              </a:rPr>
              <a:t>token</a:t>
            </a:r>
            <a:r>
              <a:rPr sz="2200" spc="-25" dirty="0">
                <a:latin typeface="Century Gothic"/>
                <a:cs typeface="Century Gothic"/>
              </a:rPr>
              <a:t> </a:t>
            </a:r>
            <a:r>
              <a:rPr sz="2200" spc="80" dirty="0">
                <a:latin typeface="Century Gothic"/>
                <a:cs typeface="Century Gothic"/>
              </a:rPr>
              <a:t>chunking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0933" y="900648"/>
            <a:ext cx="6936375" cy="223271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00632" y="3619606"/>
            <a:ext cx="7374684" cy="257702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25998" y="6308039"/>
            <a:ext cx="4029075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0" dirty="0">
                <a:latin typeface="Montserrat"/>
                <a:cs typeface="Montserrat"/>
              </a:rPr>
              <a:t>RAPTOR: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Recursive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Abstractive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Processing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25" dirty="0">
                <a:latin typeface="Montserrat"/>
                <a:cs typeface="Montserrat"/>
              </a:rPr>
              <a:t>Tree-</a:t>
            </a:r>
            <a:r>
              <a:rPr sz="800" spc="-10" dirty="0">
                <a:latin typeface="Montserrat"/>
                <a:cs typeface="Montserrat"/>
              </a:rPr>
              <a:t>Organized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Retrieval,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ICLR24’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1" y="536955"/>
            <a:ext cx="5410200" cy="931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60" dirty="0">
                <a:latin typeface="Century Gothic"/>
                <a:cs typeface="Century Gothic"/>
              </a:rPr>
              <a:t>Modular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"/>
              <a:buChar char="•"/>
              <a:tabLst>
                <a:tab pos="240665" algn="l"/>
              </a:tabLst>
            </a:pPr>
            <a:r>
              <a:rPr sz="1500" dirty="0">
                <a:latin typeface="Malgun Gothic"/>
                <a:cs typeface="Malgun Gothic"/>
              </a:rPr>
              <a:t>다양한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모듈과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기능을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통합하여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더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큰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다양성과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유연성을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spc="-25" dirty="0">
                <a:latin typeface="Malgun Gothic"/>
                <a:cs typeface="Malgun Gothic"/>
              </a:rPr>
              <a:t>제공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29173" y="6308039"/>
            <a:ext cx="402590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Generation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Large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Language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Models: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A</a:t>
            </a:r>
            <a:r>
              <a:rPr sz="800" spc="-2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Survey,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Arxiv24’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535941" y="1860295"/>
            <a:ext cx="6436360" cy="45339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0665" algn="l"/>
              </a:tabLst>
            </a:pPr>
            <a:r>
              <a:rPr sz="1500" dirty="0">
                <a:latin typeface="Century Gothic"/>
                <a:cs typeface="Century Gothic"/>
              </a:rPr>
              <a:t>Search</a:t>
            </a:r>
            <a:r>
              <a:rPr sz="1500" spc="25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Module</a:t>
            </a:r>
            <a:endParaRPr sz="1500">
              <a:latin typeface="Century Gothic"/>
              <a:cs typeface="Century Gothic"/>
            </a:endParaRPr>
          </a:p>
          <a:p>
            <a:pPr marL="518159" marR="6985" lvl="1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518159" algn="l"/>
              </a:tabLst>
            </a:pPr>
            <a:r>
              <a:rPr sz="1500" dirty="0">
                <a:latin typeface="Malgun Gothic"/>
                <a:cs typeface="Malgun Gothic"/>
              </a:rPr>
              <a:t>특정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시나리오에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맞춰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spc="110" dirty="0">
                <a:latin typeface="Century Gothic"/>
                <a:cs typeface="Century Gothic"/>
              </a:rPr>
              <a:t>LLM</a:t>
            </a:r>
            <a:r>
              <a:rPr sz="1500" spc="110" dirty="0">
                <a:latin typeface="Malgun Gothic"/>
                <a:cs typeface="Malgun Gothic"/>
              </a:rPr>
              <a:t>이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생성한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코드나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spc="50" dirty="0">
                <a:latin typeface="Century Gothic"/>
                <a:cs typeface="Century Gothic"/>
              </a:rPr>
              <a:t>SQL,</a:t>
            </a:r>
            <a:r>
              <a:rPr sz="1500" spc="-35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사용자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도구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등을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spc="-50" dirty="0">
                <a:latin typeface="Malgun Gothic"/>
                <a:cs typeface="Malgun Gothic"/>
              </a:rPr>
              <a:t>사 </a:t>
            </a:r>
            <a:r>
              <a:rPr sz="1500" dirty="0">
                <a:latin typeface="Malgun Gothic"/>
                <a:cs typeface="Malgun Gothic"/>
              </a:rPr>
              <a:t>용하여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96A9B"/>
                </a:solidFill>
                <a:latin typeface="Malgun Gothic"/>
                <a:cs typeface="Malgun Gothic"/>
              </a:rPr>
              <a:t>직접</a:t>
            </a:r>
            <a:r>
              <a:rPr sz="1500" spc="-14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296A9B"/>
                </a:solidFill>
                <a:latin typeface="Malgun Gothic"/>
                <a:cs typeface="Malgun Gothic"/>
              </a:rPr>
              <a:t>검색</a:t>
            </a:r>
            <a:endParaRPr sz="15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500" dirty="0">
                <a:latin typeface="Malgun Gothic"/>
                <a:cs typeface="Malgun Gothic"/>
              </a:rPr>
              <a:t>외부</a:t>
            </a:r>
            <a:r>
              <a:rPr sz="1500" spc="-105" dirty="0"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96A9B"/>
                </a:solidFill>
                <a:latin typeface="Malgun Gothic"/>
                <a:cs typeface="Malgun Gothic"/>
              </a:rPr>
              <a:t>검색</a:t>
            </a:r>
            <a:r>
              <a:rPr sz="1500" spc="-10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96A9B"/>
                </a:solidFill>
                <a:latin typeface="Malgun Gothic"/>
                <a:cs typeface="Malgun Gothic"/>
              </a:rPr>
              <a:t>엔진</a:t>
            </a:r>
            <a:r>
              <a:rPr sz="1500" dirty="0">
                <a:latin typeface="Malgun Gothic"/>
                <a:cs typeface="Malgun Gothic"/>
              </a:rPr>
              <a:t>이나</a:t>
            </a:r>
            <a:r>
              <a:rPr sz="1500" spc="-105" dirty="0"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96A9B"/>
                </a:solidFill>
                <a:latin typeface="Century Gothic"/>
                <a:cs typeface="Century Gothic"/>
              </a:rPr>
              <a:t>text</a:t>
            </a:r>
            <a:r>
              <a:rPr sz="1500" spc="1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500" spc="-155" dirty="0">
                <a:latin typeface="Century Gothic"/>
                <a:cs typeface="Century Gothic"/>
              </a:rPr>
              <a:t>/</a:t>
            </a:r>
            <a:r>
              <a:rPr sz="1500" dirty="0"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96A9B"/>
                </a:solidFill>
                <a:latin typeface="Century Gothic"/>
                <a:cs typeface="Century Gothic"/>
              </a:rPr>
              <a:t>table </a:t>
            </a:r>
            <a:r>
              <a:rPr sz="1500" spc="-155" dirty="0">
                <a:latin typeface="Century Gothic"/>
                <a:cs typeface="Century Gothic"/>
              </a:rPr>
              <a:t>/</a:t>
            </a:r>
            <a:r>
              <a:rPr sz="1500" dirty="0"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96A9B"/>
                </a:solidFill>
                <a:latin typeface="Century Gothic"/>
                <a:cs typeface="Century Gothic"/>
              </a:rPr>
              <a:t>knowledge graph</a:t>
            </a:r>
            <a:r>
              <a:rPr sz="1500" spc="1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등</a:t>
            </a:r>
            <a:r>
              <a:rPr sz="1500" spc="-105" dirty="0">
                <a:latin typeface="Malgun Gothic"/>
                <a:cs typeface="Malgun Gothic"/>
              </a:rPr>
              <a:t> </a:t>
            </a:r>
            <a:r>
              <a:rPr sz="1500" spc="-25" dirty="0">
                <a:latin typeface="Malgun Gothic"/>
                <a:cs typeface="Malgun Gothic"/>
              </a:rPr>
              <a:t>사용</a:t>
            </a:r>
            <a:endParaRPr sz="15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240665" algn="l"/>
              </a:tabLst>
            </a:pPr>
            <a:r>
              <a:rPr sz="1500" dirty="0">
                <a:latin typeface="Century Gothic"/>
                <a:cs typeface="Century Gothic"/>
              </a:rPr>
              <a:t>Memory</a:t>
            </a:r>
            <a:r>
              <a:rPr sz="1500" spc="195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Module</a:t>
            </a:r>
            <a:endParaRPr sz="15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500" spc="145" dirty="0">
                <a:latin typeface="Century Gothic"/>
                <a:cs typeface="Century Gothic"/>
              </a:rPr>
              <a:t>LLM</a:t>
            </a:r>
            <a:r>
              <a:rPr sz="1500" spc="-25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자체의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메모리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기능을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사용하여</a:t>
            </a:r>
            <a:r>
              <a:rPr sz="1500" spc="-1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검색을</a:t>
            </a:r>
            <a:r>
              <a:rPr sz="1500" spc="-135" dirty="0">
                <a:latin typeface="Malgun Gothic"/>
                <a:cs typeface="Malgun Gothic"/>
              </a:rPr>
              <a:t> </a:t>
            </a:r>
            <a:r>
              <a:rPr sz="1500" spc="-25" dirty="0">
                <a:latin typeface="Malgun Gothic"/>
                <a:cs typeface="Malgun Gothic"/>
              </a:rPr>
              <a:t>개선</a:t>
            </a:r>
            <a:endParaRPr sz="1500">
              <a:latin typeface="Malgun Gothic"/>
              <a:cs typeface="Malgun Gothic"/>
            </a:endParaRPr>
          </a:p>
          <a:p>
            <a:pPr marL="518159" marR="5080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500" dirty="0">
                <a:latin typeface="Century Gothic"/>
                <a:cs typeface="Century Gothic"/>
              </a:rPr>
              <a:t>Retrieval-</a:t>
            </a:r>
            <a:r>
              <a:rPr sz="1500" spc="-20" dirty="0">
                <a:latin typeface="Century Gothic"/>
                <a:cs typeface="Century Gothic"/>
              </a:rPr>
              <a:t>enhanced</a:t>
            </a:r>
            <a:r>
              <a:rPr sz="1500" spc="14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generator</a:t>
            </a:r>
            <a:r>
              <a:rPr sz="1500" dirty="0">
                <a:latin typeface="Malgun Gothic"/>
                <a:cs typeface="Malgun Gothic"/>
              </a:rPr>
              <a:t>를</a:t>
            </a:r>
            <a:r>
              <a:rPr sz="1500" spc="35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활용하여</a:t>
            </a:r>
            <a:r>
              <a:rPr sz="1500" spc="40" dirty="0">
                <a:latin typeface="Malgun Gothic"/>
                <a:cs typeface="Malgun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original</a:t>
            </a:r>
            <a:r>
              <a:rPr sz="1500" spc="14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query</a:t>
            </a:r>
            <a:r>
              <a:rPr sz="1500" dirty="0">
                <a:latin typeface="Malgun Gothic"/>
                <a:cs typeface="Malgun Gothic"/>
              </a:rPr>
              <a:t>와</a:t>
            </a:r>
            <a:r>
              <a:rPr sz="1500" spc="40" dirty="0">
                <a:latin typeface="Malgun Gothic"/>
                <a:cs typeface="Malgun Gothic"/>
              </a:rPr>
              <a:t> </a:t>
            </a:r>
            <a:r>
              <a:rPr sz="1500" spc="-20" dirty="0">
                <a:latin typeface="Century Gothic"/>
                <a:cs typeface="Century Gothic"/>
              </a:rPr>
              <a:t>dual </a:t>
            </a:r>
            <a:r>
              <a:rPr sz="1500" dirty="0">
                <a:latin typeface="Century Gothic"/>
                <a:cs typeface="Century Gothic"/>
              </a:rPr>
              <a:t>query</a:t>
            </a:r>
            <a:r>
              <a:rPr sz="1500" dirty="0">
                <a:latin typeface="Malgun Gothic"/>
                <a:cs typeface="Malgun Gothic"/>
              </a:rPr>
              <a:t>를</a:t>
            </a:r>
            <a:r>
              <a:rPr sz="1500" spc="-10" dirty="0">
                <a:latin typeface="Malgun Gothic"/>
                <a:cs typeface="Malgun Gothic"/>
              </a:rPr>
              <a:t> </a:t>
            </a:r>
            <a:r>
              <a:rPr sz="1500" spc="-25" dirty="0">
                <a:latin typeface="Malgun Gothic"/>
                <a:cs typeface="Malgun Gothic"/>
              </a:rPr>
              <a:t>결합</a:t>
            </a:r>
            <a:endParaRPr sz="15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</a:tabLst>
            </a:pPr>
            <a:r>
              <a:rPr sz="1500" dirty="0">
                <a:latin typeface="Century Gothic"/>
                <a:cs typeface="Century Gothic"/>
              </a:rPr>
              <a:t>Query</a:t>
            </a:r>
            <a:r>
              <a:rPr sz="1500" spc="10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Augmentation</a:t>
            </a:r>
            <a:r>
              <a:rPr sz="1500" spc="100" dirty="0">
                <a:latin typeface="Century Gothic"/>
                <a:cs typeface="Century Gothic"/>
              </a:rPr>
              <a:t> </a:t>
            </a:r>
            <a:r>
              <a:rPr sz="1500" spc="-155" dirty="0">
                <a:latin typeface="Century Gothic"/>
                <a:cs typeface="Century Gothic"/>
              </a:rPr>
              <a:t>/</a:t>
            </a:r>
            <a:r>
              <a:rPr sz="1500" spc="95" dirty="0">
                <a:latin typeface="Century Gothic"/>
                <a:cs typeface="Century Gothic"/>
              </a:rPr>
              <a:t> </a:t>
            </a:r>
            <a:r>
              <a:rPr sz="1500" spc="70" dirty="0">
                <a:latin typeface="Century Gothic"/>
                <a:cs typeface="Century Gothic"/>
              </a:rPr>
              <a:t>Routing</a:t>
            </a:r>
            <a:r>
              <a:rPr sz="1500" spc="95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Modules</a:t>
            </a:r>
            <a:endParaRPr sz="15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240665" algn="l"/>
              </a:tabLst>
            </a:pPr>
            <a:r>
              <a:rPr sz="1500" dirty="0">
                <a:latin typeface="Century Gothic"/>
                <a:cs typeface="Century Gothic"/>
              </a:rPr>
              <a:t>Context Generation</a:t>
            </a:r>
            <a:r>
              <a:rPr sz="1500" spc="-5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Module</a:t>
            </a:r>
            <a:endParaRPr sz="15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500" spc="100" dirty="0">
                <a:solidFill>
                  <a:srgbClr val="296A9B"/>
                </a:solidFill>
                <a:latin typeface="Century Gothic"/>
                <a:cs typeface="Century Gothic"/>
              </a:rPr>
              <a:t>HyDE</a:t>
            </a:r>
            <a:r>
              <a:rPr sz="1500" spc="100" dirty="0">
                <a:latin typeface="Malgun Gothic"/>
                <a:cs typeface="Malgun Gothic"/>
              </a:rPr>
              <a:t>와</a:t>
            </a:r>
            <a:r>
              <a:rPr sz="1500" spc="-135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같은</a:t>
            </a:r>
            <a:r>
              <a:rPr sz="1500" spc="-135" dirty="0">
                <a:latin typeface="Malgun Gothic"/>
                <a:cs typeface="Malgun Gothic"/>
              </a:rPr>
              <a:t> </a:t>
            </a:r>
            <a:r>
              <a:rPr sz="1500" spc="-35" dirty="0">
                <a:latin typeface="Malgun Gothic"/>
                <a:cs typeface="Malgun Gothic"/>
              </a:rPr>
              <a:t>방법</a:t>
            </a:r>
            <a:endParaRPr sz="15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</a:tabLst>
            </a:pPr>
            <a:r>
              <a:rPr sz="1500" spc="90" dirty="0">
                <a:latin typeface="Century Gothic"/>
                <a:cs typeface="Century Gothic"/>
              </a:rPr>
              <a:t>Task</a:t>
            </a:r>
            <a:r>
              <a:rPr sz="1500" spc="-15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Adapter</a:t>
            </a:r>
            <a:endParaRPr sz="15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500" spc="50" dirty="0">
                <a:latin typeface="Century Gothic"/>
                <a:cs typeface="Century Gothic"/>
              </a:rPr>
              <a:t>Downstream</a:t>
            </a:r>
            <a:r>
              <a:rPr sz="1500" spc="25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task</a:t>
            </a:r>
            <a:r>
              <a:rPr sz="1500" dirty="0">
                <a:latin typeface="Malgun Gothic"/>
                <a:cs typeface="Malgun Gothic"/>
              </a:rPr>
              <a:t>에</a:t>
            </a:r>
            <a:r>
              <a:rPr sz="1500" spc="-75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적용하기</a:t>
            </a:r>
            <a:r>
              <a:rPr sz="1500" spc="-75" dirty="0">
                <a:latin typeface="Malgun Gothic"/>
                <a:cs typeface="Malgun Gothic"/>
              </a:rPr>
              <a:t> </a:t>
            </a:r>
            <a:r>
              <a:rPr sz="1500" dirty="0">
                <a:latin typeface="Malgun Gothic"/>
                <a:cs typeface="Malgun Gothic"/>
              </a:rPr>
              <a:t>위한</a:t>
            </a:r>
            <a:r>
              <a:rPr sz="1500" spc="-75" dirty="0">
                <a:latin typeface="Malgun Gothic"/>
                <a:cs typeface="Malgun Gothic"/>
              </a:rPr>
              <a:t> </a:t>
            </a:r>
            <a:r>
              <a:rPr sz="1500" spc="-25" dirty="0">
                <a:latin typeface="Malgun Gothic"/>
                <a:cs typeface="Malgun Gothic"/>
              </a:rPr>
              <a:t>방법</a:t>
            </a:r>
            <a:endParaRPr sz="15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518159" algn="l"/>
              </a:tabLst>
            </a:pPr>
            <a:r>
              <a:rPr sz="1500" dirty="0">
                <a:latin typeface="Malgun Gothic"/>
                <a:cs typeface="Malgun Gothic"/>
              </a:rPr>
              <a:t>필요한</a:t>
            </a:r>
            <a:r>
              <a:rPr sz="1500" spc="-70" dirty="0"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96A9B"/>
                </a:solidFill>
                <a:latin typeface="Century Gothic"/>
                <a:cs typeface="Century Gothic"/>
              </a:rPr>
              <a:t>zero-</a:t>
            </a:r>
            <a:r>
              <a:rPr sz="1500" spc="65" dirty="0">
                <a:solidFill>
                  <a:srgbClr val="296A9B"/>
                </a:solidFill>
                <a:latin typeface="Century Gothic"/>
                <a:cs typeface="Century Gothic"/>
              </a:rPr>
              <a:t>shot</a:t>
            </a:r>
            <a:r>
              <a:rPr sz="1500" spc="45" dirty="0">
                <a:solidFill>
                  <a:srgbClr val="296A9B"/>
                </a:solidFill>
                <a:latin typeface="Century Gothic"/>
                <a:cs typeface="Century Gothic"/>
              </a:rPr>
              <a:t> prompt</a:t>
            </a:r>
            <a:r>
              <a:rPr sz="1500" spc="45" dirty="0">
                <a:latin typeface="Malgun Gothic"/>
                <a:cs typeface="Malgun Gothic"/>
              </a:rPr>
              <a:t>를</a:t>
            </a:r>
            <a:r>
              <a:rPr sz="1500" spc="-70" dirty="0">
                <a:latin typeface="Malgun Gothic"/>
                <a:cs typeface="Malgun Gothic"/>
              </a:rPr>
              <a:t> </a:t>
            </a:r>
            <a:r>
              <a:rPr sz="1500" spc="-25" dirty="0">
                <a:latin typeface="Malgun Gothic"/>
                <a:cs typeface="Malgun Gothic"/>
              </a:rPr>
              <a:t>사용</a:t>
            </a:r>
            <a:endParaRPr sz="15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18159" algn="l"/>
              </a:tabLst>
            </a:pPr>
            <a:r>
              <a:rPr sz="1500" spc="60" dirty="0">
                <a:solidFill>
                  <a:srgbClr val="296A9B"/>
                </a:solidFill>
                <a:latin typeface="Century Gothic"/>
                <a:cs typeface="Century Gothic"/>
              </a:rPr>
              <a:t>Zero-</a:t>
            </a:r>
            <a:r>
              <a:rPr sz="1500" spc="65" dirty="0">
                <a:solidFill>
                  <a:srgbClr val="296A9B"/>
                </a:solidFill>
                <a:latin typeface="Century Gothic"/>
                <a:cs typeface="Century Gothic"/>
              </a:rPr>
              <a:t>shot</a:t>
            </a:r>
            <a:r>
              <a:rPr sz="1500" spc="6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96A9B"/>
                </a:solidFill>
                <a:latin typeface="Century Gothic"/>
                <a:cs typeface="Century Gothic"/>
              </a:rPr>
              <a:t>query</a:t>
            </a:r>
            <a:r>
              <a:rPr sz="1500" dirty="0">
                <a:latin typeface="Malgun Gothic"/>
                <a:cs typeface="Malgun Gothic"/>
              </a:rPr>
              <a:t>를</a:t>
            </a:r>
            <a:r>
              <a:rPr sz="1500" spc="-55" dirty="0">
                <a:latin typeface="Malgun Gothic"/>
                <a:cs typeface="Malgun Gothic"/>
              </a:rPr>
              <a:t> </a:t>
            </a:r>
            <a:r>
              <a:rPr sz="1500" spc="-25" dirty="0">
                <a:latin typeface="Malgun Gothic"/>
                <a:cs typeface="Malgun Gothic"/>
              </a:rPr>
              <a:t>생성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29049" y="1213611"/>
            <a:ext cx="3800475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41300" marR="5080" indent="-228600">
              <a:lnSpc>
                <a:spcPts val="1900"/>
              </a:lnSpc>
              <a:spcBef>
                <a:spcPts val="180"/>
              </a:spcBef>
              <a:buFont typeface="Arial"/>
              <a:buChar char="•"/>
              <a:tabLst>
                <a:tab pos="241300" algn="l"/>
              </a:tabLst>
            </a:pPr>
            <a:r>
              <a:rPr sz="1600" dirty="0">
                <a:latin typeface="Malgun Gothic"/>
                <a:cs typeface="Malgun Gothic"/>
              </a:rPr>
              <a:t>모듈</a:t>
            </a:r>
            <a:r>
              <a:rPr sz="1600" spc="-114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추가</a:t>
            </a:r>
            <a:r>
              <a:rPr sz="1600" spc="-114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교체</a:t>
            </a:r>
            <a:r>
              <a:rPr sz="1600" spc="-114" dirty="0">
                <a:latin typeface="Malgun Gothic"/>
                <a:cs typeface="Malgun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(Adding</a:t>
            </a:r>
            <a:r>
              <a:rPr sz="1600" spc="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or </a:t>
            </a:r>
            <a:r>
              <a:rPr sz="1600" spc="-10" dirty="0">
                <a:latin typeface="Century Gothic"/>
                <a:cs typeface="Century Gothic"/>
              </a:rPr>
              <a:t>Replacing Modules)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29049" y="1710436"/>
            <a:ext cx="4406900" cy="12446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18159" indent="-2279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518159" algn="l"/>
              </a:tabLst>
            </a:pPr>
            <a:r>
              <a:rPr sz="1600" dirty="0">
                <a:latin typeface="Malgun Gothic"/>
                <a:cs typeface="Malgun Gothic"/>
              </a:rPr>
              <a:t>기존</a:t>
            </a:r>
            <a:r>
              <a:rPr sz="1600" spc="-130" dirty="0">
                <a:latin typeface="Malgun Gothic"/>
                <a:cs typeface="Malgun Gothic"/>
              </a:rPr>
              <a:t> </a:t>
            </a:r>
            <a:r>
              <a:rPr sz="1600" spc="45" dirty="0">
                <a:latin typeface="Century Gothic"/>
                <a:cs typeface="Century Gothic"/>
              </a:rPr>
              <a:t>Retriever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-175" dirty="0">
                <a:latin typeface="Century Gothic"/>
                <a:cs typeface="Century Gothic"/>
              </a:rPr>
              <a:t>/</a:t>
            </a:r>
            <a:r>
              <a:rPr sz="1600" spc="-10" dirty="0">
                <a:latin typeface="Century Gothic"/>
                <a:cs typeface="Century Gothic"/>
              </a:rPr>
              <a:t> Reader</a:t>
            </a:r>
            <a:r>
              <a:rPr sz="1600" spc="-10" dirty="0">
                <a:latin typeface="Malgun Gothic"/>
                <a:cs typeface="Malgun Gothic"/>
              </a:rPr>
              <a:t>에</a:t>
            </a:r>
            <a:r>
              <a:rPr sz="1600" spc="-125" dirty="0"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296A9B"/>
                </a:solidFill>
                <a:latin typeface="Malgun Gothic"/>
                <a:cs typeface="Malgun Gothic"/>
              </a:rPr>
              <a:t>신규</a:t>
            </a:r>
            <a:r>
              <a:rPr sz="1600" spc="-12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296A9B"/>
                </a:solidFill>
                <a:latin typeface="Malgun Gothic"/>
                <a:cs typeface="Malgun Gothic"/>
              </a:rPr>
              <a:t>모듈</a:t>
            </a:r>
            <a:r>
              <a:rPr sz="1600" spc="-13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600" spc="-25" dirty="0">
                <a:solidFill>
                  <a:srgbClr val="296A9B"/>
                </a:solidFill>
                <a:latin typeface="Malgun Gothic"/>
                <a:cs typeface="Malgun Gothic"/>
              </a:rPr>
              <a:t>추가</a:t>
            </a:r>
            <a:endParaRPr sz="1600">
              <a:latin typeface="Malgun Gothic"/>
              <a:cs typeface="Malgun Gothic"/>
            </a:endParaRPr>
          </a:p>
          <a:p>
            <a:pPr marL="840105" lvl="1" indent="-2279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40105" algn="l"/>
              </a:tabLst>
            </a:pPr>
            <a:r>
              <a:rPr sz="1600" spc="60" dirty="0">
                <a:latin typeface="Century Gothic"/>
                <a:cs typeface="Century Gothic"/>
              </a:rPr>
              <a:t>Rewrite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spc="-175" dirty="0">
                <a:latin typeface="Century Gothic"/>
                <a:cs typeface="Century Gothic"/>
              </a:rPr>
              <a:t>/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spc="60" dirty="0">
                <a:latin typeface="Century Gothic"/>
                <a:cs typeface="Century Gothic"/>
              </a:rPr>
              <a:t>Rerank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와</a:t>
            </a:r>
            <a:r>
              <a:rPr sz="1600" spc="-1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같은</a:t>
            </a:r>
            <a:r>
              <a:rPr sz="1600" spc="-13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모듈</a:t>
            </a:r>
            <a:endParaRPr sz="1600">
              <a:latin typeface="Malgun Gothic"/>
              <a:cs typeface="Malgun Gothic"/>
            </a:endParaRPr>
          </a:p>
          <a:p>
            <a:pPr marL="241300" marR="578485" indent="-228600">
              <a:lnSpc>
                <a:spcPts val="190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1600" dirty="0">
                <a:latin typeface="Malgun Gothic"/>
                <a:cs typeface="Malgun Gothic"/>
              </a:rPr>
              <a:t>모듈간</a:t>
            </a:r>
            <a:r>
              <a:rPr sz="1600" spc="-11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흐름</a:t>
            </a:r>
            <a:r>
              <a:rPr sz="1600" spc="-11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제어</a:t>
            </a:r>
            <a:r>
              <a:rPr sz="1600" spc="-110" dirty="0">
                <a:latin typeface="Malgun Gothic"/>
                <a:cs typeface="Malgun Gothic"/>
              </a:rPr>
              <a:t> </a:t>
            </a:r>
            <a:r>
              <a:rPr sz="1600" spc="50" dirty="0">
                <a:latin typeface="Century Gothic"/>
                <a:cs typeface="Century Gothic"/>
              </a:rPr>
              <a:t>(Adjusting</a:t>
            </a:r>
            <a:r>
              <a:rPr sz="1600" spc="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the</a:t>
            </a:r>
            <a:r>
              <a:rPr sz="1600" spc="5" dirty="0">
                <a:latin typeface="Century Gothic"/>
                <a:cs typeface="Century Gothic"/>
              </a:rPr>
              <a:t> </a:t>
            </a:r>
            <a:r>
              <a:rPr sz="1600" spc="65" dirty="0">
                <a:latin typeface="Century Gothic"/>
                <a:cs typeface="Century Gothic"/>
              </a:rPr>
              <a:t>Flow </a:t>
            </a:r>
            <a:r>
              <a:rPr sz="1600" dirty="0">
                <a:latin typeface="Century Gothic"/>
                <a:cs typeface="Century Gothic"/>
              </a:rPr>
              <a:t>between</a:t>
            </a:r>
            <a:r>
              <a:rPr sz="1600" spc="2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Modules)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6505575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60" dirty="0">
                <a:latin typeface="Century Gothic"/>
                <a:cs typeface="Century Gothic"/>
              </a:rPr>
              <a:t>Modular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114" dirty="0">
                <a:latin typeface="Century Gothic"/>
                <a:cs typeface="Century Gothic"/>
              </a:rPr>
              <a:t>Iter-</a:t>
            </a:r>
            <a:r>
              <a:rPr sz="2400" dirty="0">
                <a:latin typeface="Century Gothic"/>
                <a:cs typeface="Century Gothic"/>
              </a:rPr>
              <a:t>RetGen:</a:t>
            </a:r>
            <a:r>
              <a:rPr sz="2400" spc="-95" dirty="0">
                <a:latin typeface="Century Gothic"/>
                <a:cs typeface="Century Gothic"/>
              </a:rPr>
              <a:t> </a:t>
            </a:r>
            <a:r>
              <a:rPr sz="1800" spc="-20" dirty="0">
                <a:latin typeface="Montserrat"/>
                <a:cs typeface="Montserrat"/>
              </a:rPr>
              <a:t>Iterative</a:t>
            </a:r>
            <a:r>
              <a:rPr sz="1800" spc="-50" dirty="0">
                <a:latin typeface="Montserrat"/>
                <a:cs typeface="Montserrat"/>
              </a:rPr>
              <a:t> </a:t>
            </a:r>
            <a:r>
              <a:rPr sz="1800" spc="-25" dirty="0">
                <a:latin typeface="Montserrat"/>
                <a:cs typeface="Montserrat"/>
              </a:rPr>
              <a:t>Retrieval-</a:t>
            </a:r>
            <a:r>
              <a:rPr sz="1800" spc="-10" dirty="0">
                <a:latin typeface="Montserrat"/>
                <a:cs typeface="Montserrat"/>
              </a:rPr>
              <a:t>Generation</a:t>
            </a:r>
            <a:r>
              <a:rPr sz="1800" spc="-50" dirty="0">
                <a:latin typeface="Montserrat"/>
                <a:cs typeface="Montserrat"/>
              </a:rPr>
              <a:t> </a:t>
            </a:r>
            <a:r>
              <a:rPr sz="1800" spc="-10" dirty="0">
                <a:latin typeface="Montserrat"/>
                <a:cs typeface="Montserrat"/>
              </a:rPr>
              <a:t>Synergy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6670" y="2032612"/>
            <a:ext cx="9427835" cy="334536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73412" y="6308039"/>
            <a:ext cx="568198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0" dirty="0">
                <a:latin typeface="Montserrat"/>
                <a:cs typeface="Montserrat"/>
              </a:rPr>
              <a:t>Enhancing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Large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Language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Models</a:t>
            </a:r>
            <a:r>
              <a:rPr sz="800" spc="1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with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Iterative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Generation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Synergy,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EMNLP23’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4385945" cy="557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60" dirty="0">
                <a:latin typeface="Century Gothic"/>
                <a:cs typeface="Century Gothic"/>
              </a:rPr>
              <a:t>Modular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15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70" dirty="0">
                <a:latin typeface="Century Gothic"/>
                <a:cs typeface="Century Gothic"/>
              </a:rPr>
              <a:t>Self-</a:t>
            </a:r>
            <a:r>
              <a:rPr sz="1800" spc="-25" dirty="0">
                <a:latin typeface="Century Gothic"/>
                <a:cs typeface="Century Gothic"/>
              </a:rPr>
              <a:t>RAG</a:t>
            </a:r>
            <a:endParaRPr sz="1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entury Gothic"/>
                <a:cs typeface="Century Gothic"/>
              </a:rPr>
              <a:t>Naïve</a:t>
            </a:r>
            <a:r>
              <a:rPr sz="1800" spc="-80" dirty="0">
                <a:latin typeface="Century Gothic"/>
                <a:cs typeface="Century Gothic"/>
              </a:rPr>
              <a:t> </a:t>
            </a:r>
            <a:r>
              <a:rPr sz="1800" spc="-20" dirty="0">
                <a:latin typeface="Century Gothic"/>
                <a:cs typeface="Century Gothic"/>
              </a:rPr>
              <a:t>RAG</a:t>
            </a:r>
            <a:r>
              <a:rPr sz="1800" spc="-20" dirty="0">
                <a:latin typeface="Malgun Gothic"/>
                <a:cs typeface="Malgun Gothic"/>
              </a:rPr>
              <a:t>는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검색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결과를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그대로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반영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Malgun Gothic"/>
                <a:cs typeface="Malgun Gothic"/>
              </a:rPr>
              <a:t>답변과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관련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없는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내용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출력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Malgun Gothic"/>
                <a:cs typeface="Malgun Gothic"/>
              </a:rPr>
              <a:t>여전히</a:t>
            </a:r>
            <a:r>
              <a:rPr sz="1800" spc="20" dirty="0">
                <a:latin typeface="Malgun Gothic"/>
                <a:cs typeface="Malgun Gothic"/>
              </a:rPr>
              <a:t> </a:t>
            </a:r>
            <a:r>
              <a:rPr sz="1800" spc="10" dirty="0">
                <a:latin typeface="Century Gothic"/>
                <a:cs typeface="Century Gothic"/>
              </a:rPr>
              <a:t>hallucination</a:t>
            </a:r>
            <a:r>
              <a:rPr sz="1800" spc="14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존재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Malgun Gothic"/>
                <a:cs typeface="Malgun Gothic"/>
              </a:rPr>
              <a:t>검색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결과가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필요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없어도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사용</a:t>
            </a:r>
            <a:endParaRPr sz="18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70" dirty="0">
                <a:latin typeface="Century Gothic"/>
                <a:cs typeface="Century Gothic"/>
              </a:rPr>
              <a:t>Self-</a:t>
            </a:r>
            <a:r>
              <a:rPr sz="1800" spc="-25" dirty="0">
                <a:latin typeface="Century Gothic"/>
                <a:cs typeface="Century Gothic"/>
              </a:rPr>
              <a:t>RAG:</a:t>
            </a:r>
            <a:r>
              <a:rPr sz="1800" spc="4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Retrieval</a:t>
            </a:r>
            <a:r>
              <a:rPr sz="1600" spc="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결과를</a:t>
            </a:r>
            <a:r>
              <a:rPr sz="1600" spc="-8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평가하여</a:t>
            </a:r>
            <a:r>
              <a:rPr sz="1600" spc="-85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사용</a:t>
            </a:r>
            <a:endParaRPr sz="1600">
              <a:latin typeface="Malgun Gothic"/>
              <a:cs typeface="Malgun Gothic"/>
            </a:endParaRPr>
          </a:p>
          <a:p>
            <a:pPr marL="632460" indent="-3429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632460" algn="l"/>
              </a:tabLst>
            </a:pPr>
            <a:r>
              <a:rPr sz="1800" dirty="0">
                <a:latin typeface="Century Gothic"/>
                <a:cs typeface="Century Gothic"/>
              </a:rPr>
              <a:t>Reflection</a:t>
            </a:r>
            <a:r>
              <a:rPr sz="1800" spc="130" dirty="0">
                <a:latin typeface="Century Gothic"/>
                <a:cs typeface="Century Gothic"/>
              </a:rPr>
              <a:t> </a:t>
            </a:r>
            <a:r>
              <a:rPr sz="1800" spc="50" dirty="0">
                <a:latin typeface="Century Gothic"/>
                <a:cs typeface="Century Gothic"/>
              </a:rPr>
              <a:t>token</a:t>
            </a:r>
            <a:r>
              <a:rPr sz="1800" spc="12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생성</a:t>
            </a:r>
            <a:endParaRPr sz="1800">
              <a:latin typeface="Malgun Gothic"/>
              <a:cs typeface="Malgun Gothic"/>
            </a:endParaRPr>
          </a:p>
          <a:p>
            <a:pPr marL="632460" indent="-34290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32460" algn="l"/>
              </a:tabLst>
            </a:pPr>
            <a:r>
              <a:rPr sz="1800" spc="50" dirty="0">
                <a:latin typeface="Century Gothic"/>
                <a:cs typeface="Century Gothic"/>
              </a:rPr>
              <a:t>R.token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결과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기반</a:t>
            </a:r>
            <a:r>
              <a:rPr sz="1800" spc="-155" dirty="0">
                <a:latin typeface="Malgun Gothic"/>
                <a:cs typeface="Malgun Gothic"/>
              </a:rPr>
              <a:t> </a:t>
            </a:r>
            <a:r>
              <a:rPr sz="1800" spc="65" dirty="0">
                <a:latin typeface="Century Gothic"/>
                <a:cs typeface="Century Gothic"/>
              </a:rPr>
              <a:t>ranking</a:t>
            </a:r>
            <a:endParaRPr sz="1800">
              <a:latin typeface="Century Gothic"/>
              <a:cs typeface="Century Gothic"/>
            </a:endParaRPr>
          </a:p>
          <a:p>
            <a:pPr marL="632460" indent="-34290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632460" algn="l"/>
              </a:tabLst>
            </a:pPr>
            <a:r>
              <a:rPr sz="1800" spc="60" dirty="0">
                <a:latin typeface="Century Gothic"/>
                <a:cs typeface="Century Gothic"/>
              </a:rPr>
              <a:t>Output</a:t>
            </a:r>
            <a:r>
              <a:rPr sz="1800" spc="-70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확인</a:t>
            </a:r>
            <a:r>
              <a:rPr sz="1800" spc="-10" dirty="0">
                <a:latin typeface="Century Gothic"/>
                <a:cs typeface="Century Gothic"/>
              </a:rPr>
              <a:t>: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응답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생성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65" dirty="0">
                <a:latin typeface="Century Gothic"/>
                <a:cs typeface="Century Gothic"/>
              </a:rPr>
              <a:t>or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spc="-240" dirty="0">
                <a:latin typeface="Century Gothic"/>
                <a:cs typeface="Century Gothic"/>
              </a:rPr>
              <a:t>1,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2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반복</a:t>
            </a:r>
            <a:endParaRPr sz="1800">
              <a:latin typeface="Malgun Gothic"/>
              <a:cs typeface="Malgun Gothic"/>
            </a:endParaRPr>
          </a:p>
          <a:p>
            <a:pPr marL="954405" lvl="1" indent="-342265">
              <a:lnSpc>
                <a:spcPct val="100000"/>
              </a:lnSpc>
              <a:spcBef>
                <a:spcPts val="855"/>
              </a:spcBef>
              <a:buFont typeface="Century Gothic"/>
              <a:buAutoNum type="arabicPeriod"/>
              <a:tabLst>
                <a:tab pos="954405" algn="l"/>
              </a:tabLst>
            </a:pPr>
            <a:r>
              <a:rPr sz="1400" dirty="0">
                <a:latin typeface="Malgun Gothic"/>
                <a:cs typeface="Malgun Gothic"/>
              </a:rPr>
              <a:t>마지막으로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관련된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chunk</a:t>
            </a:r>
            <a:r>
              <a:rPr sz="1400" dirty="0">
                <a:latin typeface="Malgun Gothic"/>
                <a:cs typeface="Malgun Gothic"/>
              </a:rPr>
              <a:t>를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모두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사용하여</a:t>
            </a:r>
            <a:endParaRPr sz="1400">
              <a:latin typeface="Malgun Gothic"/>
              <a:cs typeface="Malgun Gothic"/>
            </a:endParaRPr>
          </a:p>
          <a:p>
            <a:pPr marL="955040">
              <a:lnSpc>
                <a:spcPct val="100000"/>
              </a:lnSpc>
              <a:spcBef>
                <a:spcPts val="409"/>
              </a:spcBef>
            </a:pPr>
            <a:r>
              <a:rPr sz="1400" spc="125" dirty="0">
                <a:latin typeface="Century Gothic"/>
                <a:cs typeface="Century Gothic"/>
              </a:rPr>
              <a:t>LLM</a:t>
            </a:r>
            <a:r>
              <a:rPr sz="1400" spc="-2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응답</a:t>
            </a:r>
            <a:r>
              <a:rPr sz="1400" spc="-12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생성</a:t>
            </a:r>
            <a:endParaRPr sz="1400">
              <a:latin typeface="Malgun Gothic"/>
              <a:cs typeface="Malgun Gothic"/>
            </a:endParaRPr>
          </a:p>
          <a:p>
            <a:pPr marL="632460" indent="-342900">
              <a:lnSpc>
                <a:spcPct val="100000"/>
              </a:lnSpc>
              <a:spcBef>
                <a:spcPts val="825"/>
              </a:spcBef>
              <a:buAutoNum type="arabicPeriod" startAt="4"/>
              <a:tabLst>
                <a:tab pos="632460" algn="l"/>
              </a:tabLst>
            </a:pPr>
            <a:r>
              <a:rPr sz="1800" dirty="0">
                <a:latin typeface="Century Gothic"/>
                <a:cs typeface="Century Gothic"/>
              </a:rPr>
              <a:t>Retrieval</a:t>
            </a:r>
            <a:r>
              <a:rPr sz="1800" dirty="0">
                <a:latin typeface="Malgun Gothic"/>
                <a:cs typeface="Malgun Gothic"/>
              </a:rPr>
              <a:t>이</a:t>
            </a:r>
            <a:r>
              <a:rPr sz="1800" spc="-4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필요하지</a:t>
            </a:r>
            <a:r>
              <a:rPr sz="1800" spc="-4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않는</a:t>
            </a:r>
            <a:r>
              <a:rPr sz="1800" spc="-4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경우</a:t>
            </a:r>
            <a:endParaRPr sz="1800">
              <a:latin typeface="Malgun Gothic"/>
              <a:cs typeface="Malgun Gothic"/>
            </a:endParaRPr>
          </a:p>
          <a:p>
            <a:pPr marL="954405" lvl="1" indent="-342265">
              <a:lnSpc>
                <a:spcPct val="100000"/>
              </a:lnSpc>
              <a:spcBef>
                <a:spcPts val="950"/>
              </a:spcBef>
              <a:buFont typeface="Century Gothic"/>
              <a:buAutoNum type="arabicPeriod"/>
              <a:tabLst>
                <a:tab pos="954405" algn="l"/>
              </a:tabLst>
            </a:pPr>
            <a:r>
              <a:rPr sz="1400" dirty="0">
                <a:latin typeface="Malgun Gothic"/>
                <a:cs typeface="Malgun Gothic"/>
              </a:rPr>
              <a:t>바로</a:t>
            </a:r>
            <a:r>
              <a:rPr sz="1400" spc="-130" dirty="0">
                <a:latin typeface="Malgun Gothic"/>
                <a:cs typeface="Malgun Gothic"/>
              </a:rPr>
              <a:t> </a:t>
            </a:r>
            <a:r>
              <a:rPr sz="1400" spc="75" dirty="0">
                <a:latin typeface="Century Gothic"/>
                <a:cs typeface="Century Gothic"/>
              </a:rPr>
              <a:t>LLM</a:t>
            </a:r>
            <a:r>
              <a:rPr sz="1400" spc="75" dirty="0">
                <a:latin typeface="Malgun Gothic"/>
                <a:cs typeface="Malgun Gothic"/>
              </a:rPr>
              <a:t>으로</a:t>
            </a:r>
            <a:r>
              <a:rPr sz="1400" spc="-1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응답</a:t>
            </a:r>
            <a:r>
              <a:rPr sz="1400" spc="-12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생성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7639" y="728032"/>
            <a:ext cx="7103430" cy="37248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5771" y="4591531"/>
            <a:ext cx="4761199" cy="158706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436962" y="6308039"/>
            <a:ext cx="521843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20" dirty="0">
                <a:latin typeface="Montserrat"/>
                <a:cs typeface="Montserrat"/>
              </a:rPr>
              <a:t>SELF-</a:t>
            </a:r>
            <a:r>
              <a:rPr sz="800" spc="-10" dirty="0">
                <a:latin typeface="Montserrat"/>
                <a:cs typeface="Montserrat"/>
              </a:rPr>
              <a:t>RAG: LEARNING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TO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RETRIEVE, GENERATE,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AND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CRITIQUE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THROUGH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SELF-REFLECTION,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ICLR24’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5000625" cy="531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60" dirty="0">
                <a:latin typeface="Century Gothic"/>
                <a:cs typeface="Century Gothic"/>
              </a:rPr>
              <a:t>Modular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215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 dirty="0">
                <a:latin typeface="Century Gothic"/>
                <a:cs typeface="Century Gothic"/>
              </a:rPr>
              <a:t>Adaptive-</a:t>
            </a:r>
            <a:r>
              <a:rPr sz="1800" spc="-25" dirty="0">
                <a:latin typeface="Century Gothic"/>
                <a:cs typeface="Century Gothic"/>
              </a:rPr>
              <a:t>RAG</a:t>
            </a: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Font typeface="Arial"/>
              <a:buChar char="•"/>
            </a:pPr>
            <a:endParaRPr sz="18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entury Gothic"/>
                <a:cs typeface="Century Gothic"/>
              </a:rPr>
              <a:t>RAG</a:t>
            </a:r>
            <a:r>
              <a:rPr sz="1800" spc="-8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시스템에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대한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전략적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방법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제안</a:t>
            </a:r>
            <a:endParaRPr sz="18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Malgun Gothic"/>
                <a:cs typeface="Malgun Gothic"/>
              </a:rPr>
              <a:t>주어진</a:t>
            </a:r>
            <a:r>
              <a:rPr sz="1800" spc="-95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query</a:t>
            </a:r>
            <a:r>
              <a:rPr sz="1800" spc="4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type</a:t>
            </a:r>
            <a:r>
              <a:rPr sz="1800" spc="4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분류</a:t>
            </a:r>
            <a:endParaRPr sz="18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Malgun Gothic"/>
                <a:cs typeface="Malgun Gothic"/>
              </a:rPr>
              <a:t>분류된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type</a:t>
            </a:r>
            <a:r>
              <a:rPr sz="1800" dirty="0">
                <a:latin typeface="Malgun Gothic"/>
                <a:cs typeface="Malgun Gothic"/>
              </a:rPr>
              <a:t>에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따라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RAG</a:t>
            </a:r>
            <a:r>
              <a:rPr sz="1800" spc="-8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방식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선택</a:t>
            </a:r>
            <a:endParaRPr sz="18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930"/>
              </a:spcBef>
              <a:buFont typeface="Arial"/>
              <a:buChar char="•"/>
            </a:pPr>
            <a:endParaRPr sz="18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Malgun Gothic"/>
                <a:cs typeface="Malgun Gothic"/>
              </a:rPr>
              <a:t>고려해볼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점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18159" algn="l"/>
              </a:tabLst>
            </a:pPr>
            <a:r>
              <a:rPr sz="1800" spc="10" dirty="0">
                <a:latin typeface="Century Gothic"/>
                <a:cs typeface="Century Gothic"/>
              </a:rPr>
              <a:t>Query</a:t>
            </a:r>
            <a:r>
              <a:rPr sz="1800" spc="220" dirty="0">
                <a:latin typeface="Century Gothic"/>
                <a:cs typeface="Century Gothic"/>
              </a:rPr>
              <a:t> </a:t>
            </a:r>
            <a:r>
              <a:rPr sz="1800" spc="10" dirty="0">
                <a:latin typeface="Century Gothic"/>
                <a:cs typeface="Century Gothic"/>
              </a:rPr>
              <a:t>classifier</a:t>
            </a:r>
            <a:r>
              <a:rPr sz="1800" spc="10" dirty="0">
                <a:latin typeface="Malgun Gothic"/>
                <a:cs typeface="Malgun Gothic"/>
              </a:rPr>
              <a:t>에</a:t>
            </a:r>
            <a:r>
              <a:rPr sz="1800" spc="9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의존성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Century Gothic"/>
                <a:cs typeface="Century Gothic"/>
              </a:rPr>
              <a:t>Query</a:t>
            </a:r>
            <a:r>
              <a:rPr sz="1800" spc="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분류</a:t>
            </a:r>
            <a:r>
              <a:rPr sz="1800" spc="-1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데이터가</a:t>
            </a:r>
            <a:r>
              <a:rPr sz="1800" spc="-1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적을</a:t>
            </a:r>
            <a:r>
              <a:rPr sz="1800" spc="-12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경우</a:t>
            </a:r>
            <a:r>
              <a:rPr sz="1800" spc="-25" dirty="0">
                <a:latin typeface="Century Gothic"/>
                <a:cs typeface="Century Gothic"/>
              </a:rPr>
              <a:t>?</a:t>
            </a:r>
            <a:endParaRPr sz="1800">
              <a:latin typeface="Century Gothic"/>
              <a:cs typeface="Century Gothic"/>
            </a:endParaRPr>
          </a:p>
          <a:p>
            <a:pPr marL="518159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Century Gothic"/>
                <a:cs typeface="Century Gothic"/>
              </a:rPr>
              <a:t>Labeling</a:t>
            </a:r>
            <a:r>
              <a:rPr sz="1800" spc="270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비용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518159" algn="l"/>
              </a:tabLst>
            </a:pPr>
            <a:r>
              <a:rPr sz="1800" spc="70" dirty="0">
                <a:latin typeface="Century Gothic"/>
                <a:cs typeface="Century Gothic"/>
              </a:rPr>
              <a:t>Serving</a:t>
            </a:r>
            <a:r>
              <a:rPr sz="1800" spc="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할</a:t>
            </a:r>
            <a:r>
              <a:rPr sz="1800" spc="-13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때</a:t>
            </a:r>
            <a:r>
              <a:rPr sz="1800" spc="-13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query</a:t>
            </a:r>
            <a:r>
              <a:rPr sz="1800" dirty="0">
                <a:latin typeface="Malgun Gothic"/>
                <a:cs typeface="Malgun Gothic"/>
              </a:rPr>
              <a:t>와</a:t>
            </a:r>
            <a:r>
              <a:rPr sz="1800" spc="-13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관련</a:t>
            </a:r>
            <a:r>
              <a:rPr sz="1800" spc="-13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없는</a:t>
            </a:r>
            <a:r>
              <a:rPr sz="1800" spc="-13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입력</a:t>
            </a:r>
            <a:r>
              <a:rPr sz="1800" spc="-13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대응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4661" y="3258046"/>
            <a:ext cx="5711840" cy="28483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40182" y="849702"/>
            <a:ext cx="6138579" cy="192562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528912" y="6308039"/>
            <a:ext cx="612648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20" dirty="0">
                <a:latin typeface="Montserrat"/>
                <a:cs typeface="Montserrat"/>
              </a:rPr>
              <a:t>Adaptive-</a:t>
            </a:r>
            <a:r>
              <a:rPr sz="800" spc="-10" dirty="0">
                <a:latin typeface="Montserrat"/>
                <a:cs typeface="Montserrat"/>
              </a:rPr>
              <a:t>RAG: Learning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to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Adapt</a:t>
            </a:r>
            <a:r>
              <a:rPr sz="800" spc="-20" dirty="0">
                <a:latin typeface="Montserrat"/>
                <a:cs typeface="Montserrat"/>
              </a:rPr>
              <a:t> Retrieval-</a:t>
            </a:r>
            <a:r>
              <a:rPr sz="800" spc="-10" dirty="0">
                <a:latin typeface="Montserrat"/>
                <a:cs typeface="Montserrat"/>
              </a:rPr>
              <a:t>Augmented Large Language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Models </a:t>
            </a:r>
            <a:r>
              <a:rPr sz="800" spc="-10" dirty="0">
                <a:latin typeface="Montserrat"/>
                <a:cs typeface="Montserrat"/>
              </a:rPr>
              <a:t>through Question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Complexity,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NAACL24’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38" y="536955"/>
            <a:ext cx="3643629" cy="493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60" dirty="0">
                <a:latin typeface="Century Gothic"/>
                <a:cs typeface="Century Gothic"/>
              </a:rPr>
              <a:t>Modular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1300" marR="276225" indent="-228600">
              <a:lnSpc>
                <a:spcPct val="117300"/>
              </a:lnSpc>
              <a:spcBef>
                <a:spcPts val="1800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85" dirty="0">
                <a:latin typeface="Century Gothic"/>
                <a:cs typeface="Century Gothic"/>
              </a:rPr>
              <a:t>RAT:</a:t>
            </a:r>
            <a:r>
              <a:rPr sz="2200" spc="-35" dirty="0">
                <a:latin typeface="Century Gothic"/>
                <a:cs typeface="Century Gothic"/>
              </a:rPr>
              <a:t> </a:t>
            </a:r>
            <a:r>
              <a:rPr sz="2200" spc="35" dirty="0">
                <a:latin typeface="Century Gothic"/>
                <a:cs typeface="Century Gothic"/>
              </a:rPr>
              <a:t>Retrieval </a:t>
            </a:r>
            <a:r>
              <a:rPr sz="2200" dirty="0">
                <a:latin typeface="Century Gothic"/>
                <a:cs typeface="Century Gothic"/>
              </a:rPr>
              <a:t>Augmented</a:t>
            </a:r>
            <a:r>
              <a:rPr sz="2200" spc="345" dirty="0">
                <a:latin typeface="Century Gothic"/>
                <a:cs typeface="Century Gothic"/>
              </a:rPr>
              <a:t> </a:t>
            </a:r>
            <a:r>
              <a:rPr sz="2200" spc="120" dirty="0">
                <a:latin typeface="Century Gothic"/>
                <a:cs typeface="Century Gothic"/>
              </a:rPr>
              <a:t>Thoughts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2200">
              <a:latin typeface="Century Gothic"/>
              <a:cs typeface="Century Gothic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sz="2000" spc="45" dirty="0">
                <a:latin typeface="Century Gothic"/>
                <a:cs typeface="Century Gothic"/>
              </a:rPr>
              <a:t>Hallucination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해결</a:t>
            </a:r>
            <a:r>
              <a:rPr sz="2000" spc="-15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방법</a:t>
            </a:r>
            <a:endParaRPr sz="20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entury Gothic"/>
                <a:cs typeface="Century Gothic"/>
              </a:rPr>
              <a:t>Let’s</a:t>
            </a:r>
            <a:r>
              <a:rPr sz="2000" spc="120" dirty="0">
                <a:latin typeface="Century Gothic"/>
                <a:cs typeface="Century Gothic"/>
              </a:rPr>
              <a:t> </a:t>
            </a:r>
            <a:r>
              <a:rPr sz="2000" spc="140" dirty="0">
                <a:latin typeface="Century Gothic"/>
                <a:cs typeface="Century Gothic"/>
              </a:rPr>
              <a:t>think</a:t>
            </a:r>
            <a:r>
              <a:rPr sz="2000" spc="125" dirty="0">
                <a:latin typeface="Century Gothic"/>
                <a:cs typeface="Century Gothic"/>
              </a:rPr>
              <a:t> </a:t>
            </a:r>
            <a:r>
              <a:rPr sz="2000" spc="55" dirty="0">
                <a:latin typeface="Century Gothic"/>
                <a:cs typeface="Century Gothic"/>
              </a:rPr>
              <a:t>step-</a:t>
            </a:r>
            <a:r>
              <a:rPr sz="2000" dirty="0">
                <a:latin typeface="Century Gothic"/>
                <a:cs typeface="Century Gothic"/>
              </a:rPr>
              <a:t>by-</a:t>
            </a:r>
            <a:r>
              <a:rPr sz="2000" spc="30" dirty="0">
                <a:latin typeface="Century Gothic"/>
                <a:cs typeface="Century Gothic"/>
              </a:rPr>
              <a:t>step</a:t>
            </a:r>
            <a:endParaRPr sz="20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1395"/>
              </a:spcBef>
              <a:buAutoNum type="arabicPeriod"/>
              <a:tabLst>
                <a:tab pos="354965" algn="l"/>
              </a:tabLst>
            </a:pPr>
            <a:r>
              <a:rPr sz="2000" spc="120" dirty="0">
                <a:latin typeface="Century Gothic"/>
                <a:cs typeface="Century Gothic"/>
              </a:rPr>
              <a:t>Prompt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입력</a:t>
            </a:r>
            <a:r>
              <a:rPr sz="2000" spc="-180" dirty="0">
                <a:latin typeface="Malgun Gothic"/>
                <a:cs typeface="Malgun Gothic"/>
              </a:rPr>
              <a:t> </a:t>
            </a:r>
            <a:r>
              <a:rPr sz="2000" spc="90" dirty="0">
                <a:latin typeface="Century Gothic"/>
                <a:cs typeface="Century Gothic"/>
              </a:rPr>
              <a:t>-</a:t>
            </a:r>
            <a:r>
              <a:rPr sz="2000" dirty="0">
                <a:latin typeface="Century Gothic"/>
                <a:cs typeface="Century Gothic"/>
              </a:rPr>
              <a:t>&gt;</a:t>
            </a:r>
            <a:r>
              <a:rPr sz="2000" spc="-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CoT</a:t>
            </a:r>
            <a:r>
              <a:rPr sz="2000" spc="-4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생성</a:t>
            </a:r>
            <a:endParaRPr sz="20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510"/>
              </a:spcBef>
              <a:buAutoNum type="arabicPeriod"/>
              <a:tabLst>
                <a:tab pos="354965" algn="l"/>
              </a:tabLst>
            </a:pPr>
            <a:r>
              <a:rPr sz="2000" spc="80" dirty="0">
                <a:latin typeface="Century Gothic"/>
                <a:cs typeface="Century Gothic"/>
              </a:rPr>
              <a:t>[Task</a:t>
            </a:r>
            <a:r>
              <a:rPr sz="2000" spc="5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prompt;</a:t>
            </a:r>
            <a:r>
              <a:rPr sz="2000" spc="6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CoT]</a:t>
            </a:r>
            <a:r>
              <a:rPr sz="2000" spc="65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검색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  <a:tabLst>
                <a:tab pos="354965" algn="l"/>
              </a:tabLst>
            </a:pPr>
            <a:r>
              <a:rPr sz="2000" spc="-25" dirty="0">
                <a:latin typeface="Century Gothic"/>
                <a:cs typeface="Century Gothic"/>
              </a:rPr>
              <a:t>3.</a:t>
            </a:r>
            <a:r>
              <a:rPr sz="2000" dirty="0">
                <a:latin typeface="Century Gothic"/>
                <a:cs typeface="Century Gothic"/>
              </a:rPr>
              <a:t>	+</a:t>
            </a:r>
            <a:r>
              <a:rPr sz="2000" spc="-8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검색결과</a:t>
            </a:r>
            <a:r>
              <a:rPr sz="2000" spc="-180" dirty="0">
                <a:latin typeface="Malgun Gothic"/>
                <a:cs typeface="Malgun Gothic"/>
              </a:rPr>
              <a:t> </a:t>
            </a:r>
            <a:r>
              <a:rPr sz="2000" spc="90" dirty="0">
                <a:latin typeface="Century Gothic"/>
                <a:cs typeface="Century Gothic"/>
              </a:rPr>
              <a:t>-</a:t>
            </a:r>
            <a:r>
              <a:rPr sz="2000" dirty="0">
                <a:latin typeface="Century Gothic"/>
                <a:cs typeface="Century Gothic"/>
              </a:rPr>
              <a:t>&gt;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spc="180" dirty="0">
                <a:latin typeface="Century Gothic"/>
                <a:cs typeface="Century Gothic"/>
              </a:rPr>
              <a:t>LLM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CoT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수정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000" dirty="0">
                <a:latin typeface="Century Gothic"/>
                <a:cs typeface="Century Gothic"/>
              </a:rPr>
              <a:t>4.</a:t>
            </a:r>
            <a:r>
              <a:rPr sz="2000" spc="434" dirty="0">
                <a:latin typeface="Century Gothic"/>
                <a:cs typeface="Century Gothic"/>
              </a:rPr>
              <a:t> </a:t>
            </a:r>
            <a:r>
              <a:rPr sz="2000" spc="55" dirty="0">
                <a:latin typeface="Century Gothic"/>
                <a:cs typeface="Century Gothic"/>
              </a:rPr>
              <a:t>2-</a:t>
            </a:r>
            <a:r>
              <a:rPr sz="2000" dirty="0">
                <a:latin typeface="Century Gothic"/>
                <a:cs typeface="Century Gothic"/>
              </a:rPr>
              <a:t>3</a:t>
            </a:r>
            <a:r>
              <a:rPr sz="2000" spc="-1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번</a:t>
            </a:r>
            <a:r>
              <a:rPr sz="2000" spc="-15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반복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8297" y="1274583"/>
            <a:ext cx="7565071" cy="450826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316310" y="6308039"/>
            <a:ext cx="5338445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0" dirty="0">
                <a:latin typeface="Montserrat"/>
                <a:cs typeface="Montserrat"/>
              </a:rPr>
              <a:t>RAT: Retrieval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Thoughts</a:t>
            </a:r>
            <a:r>
              <a:rPr sz="800" dirty="0">
                <a:latin typeface="Montserrat"/>
                <a:cs typeface="Montserrat"/>
              </a:rPr>
              <a:t> Elicit</a:t>
            </a:r>
            <a:r>
              <a:rPr sz="800" spc="-20" dirty="0">
                <a:latin typeface="Montserrat"/>
                <a:cs typeface="Montserrat"/>
              </a:rPr>
              <a:t> Context-Aware</a:t>
            </a:r>
            <a:r>
              <a:rPr sz="800" spc="-10" dirty="0">
                <a:latin typeface="Montserrat"/>
                <a:cs typeface="Montserrat"/>
              </a:rPr>
              <a:t> Reasoning </a:t>
            </a:r>
            <a:r>
              <a:rPr sz="800" dirty="0">
                <a:latin typeface="Montserrat"/>
                <a:cs typeface="Montserrat"/>
              </a:rPr>
              <a:t>in</a:t>
            </a:r>
            <a:r>
              <a:rPr sz="800" spc="-10" dirty="0">
                <a:latin typeface="Montserrat"/>
                <a:cs typeface="Montserrat"/>
              </a:rPr>
              <a:t> Long-Horizon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Generation,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Arxiv24’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5843270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60" dirty="0">
                <a:latin typeface="Century Gothic"/>
                <a:cs typeface="Century Gothic"/>
              </a:rPr>
              <a:t>Modular</a:t>
            </a:r>
            <a:r>
              <a:rPr sz="2800" spc="-3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90" dirty="0">
                <a:latin typeface="Century Gothic"/>
                <a:cs typeface="Century Gothic"/>
              </a:rPr>
              <a:t>RAT:</a:t>
            </a:r>
            <a:r>
              <a:rPr sz="2400" spc="105" dirty="0">
                <a:latin typeface="Century Gothic"/>
                <a:cs typeface="Century Gothic"/>
              </a:rPr>
              <a:t> </a:t>
            </a:r>
            <a:r>
              <a:rPr sz="2400" spc="50" dirty="0">
                <a:latin typeface="Century Gothic"/>
                <a:cs typeface="Century Gothic"/>
              </a:rPr>
              <a:t>Retrieval</a:t>
            </a:r>
            <a:r>
              <a:rPr sz="2400" spc="11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Augmented</a:t>
            </a:r>
            <a:r>
              <a:rPr sz="2400" spc="100" dirty="0">
                <a:latin typeface="Century Gothic"/>
                <a:cs typeface="Century Gothic"/>
              </a:rPr>
              <a:t> </a:t>
            </a:r>
            <a:r>
              <a:rPr sz="2400" spc="125" dirty="0">
                <a:latin typeface="Century Gothic"/>
                <a:cs typeface="Century Gothic"/>
              </a:rPr>
              <a:t>Thoughts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2575" y="1739987"/>
            <a:ext cx="7663948" cy="44901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316310" y="6308039"/>
            <a:ext cx="5338445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0" dirty="0">
                <a:latin typeface="Montserrat"/>
                <a:cs typeface="Montserrat"/>
              </a:rPr>
              <a:t>RAT: Retrieval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Thoughts</a:t>
            </a:r>
            <a:r>
              <a:rPr sz="800" dirty="0">
                <a:latin typeface="Montserrat"/>
                <a:cs typeface="Montserrat"/>
              </a:rPr>
              <a:t> Elicit</a:t>
            </a:r>
            <a:r>
              <a:rPr sz="800" spc="-20" dirty="0">
                <a:latin typeface="Montserrat"/>
                <a:cs typeface="Montserrat"/>
              </a:rPr>
              <a:t> Context-Aware</a:t>
            </a:r>
            <a:r>
              <a:rPr sz="800" spc="-10" dirty="0">
                <a:latin typeface="Montserrat"/>
                <a:cs typeface="Montserrat"/>
              </a:rPr>
              <a:t> Reasoning </a:t>
            </a:r>
            <a:r>
              <a:rPr sz="800" dirty="0">
                <a:latin typeface="Montserrat"/>
                <a:cs typeface="Montserrat"/>
              </a:rPr>
              <a:t>in</a:t>
            </a:r>
            <a:r>
              <a:rPr sz="800" spc="-10" dirty="0">
                <a:latin typeface="Montserrat"/>
                <a:cs typeface="Montserrat"/>
              </a:rPr>
              <a:t> Long-Horizon</a:t>
            </a:r>
            <a:r>
              <a:rPr sz="800" spc="-1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Generation,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Arxiv24’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3756" y="563885"/>
            <a:ext cx="5933358" cy="157118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5940" y="536955"/>
            <a:ext cx="11007725" cy="584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5" dirty="0">
                <a:latin typeface="Century Gothic"/>
                <a:cs typeface="Century Gothic"/>
              </a:rPr>
              <a:t>Multimodal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05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20" dirty="0">
                <a:latin typeface="Century Gothic"/>
                <a:cs typeface="Century Gothic"/>
              </a:rPr>
              <a:t>Reveal:</a:t>
            </a:r>
            <a:r>
              <a:rPr sz="2400" spc="225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Retrieval-Augmented</a:t>
            </a:r>
            <a:r>
              <a:rPr sz="1400" spc="125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Visual</a:t>
            </a:r>
            <a:r>
              <a:rPr sz="1400" spc="12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Language</a:t>
            </a:r>
            <a:r>
              <a:rPr sz="1400" spc="135" dirty="0">
                <a:latin typeface="Century Gothic"/>
                <a:cs typeface="Century Gothic"/>
              </a:rPr>
              <a:t> </a:t>
            </a:r>
            <a:r>
              <a:rPr sz="1400" spc="-10" dirty="0">
                <a:latin typeface="Century Gothic"/>
                <a:cs typeface="Century Gothic"/>
              </a:rPr>
              <a:t>Model</a:t>
            </a: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85"/>
              </a:spcBef>
              <a:buFont typeface="Arial"/>
              <a:buChar char="•"/>
            </a:pPr>
            <a:endParaRPr sz="1400">
              <a:latin typeface="Century Gothic"/>
              <a:cs typeface="Century Gothic"/>
            </a:endParaRPr>
          </a:p>
          <a:p>
            <a:pPr marL="241300" marR="5080" indent="-228600">
              <a:lnSpc>
                <a:spcPct val="101099"/>
              </a:lnSpc>
              <a:buFont typeface="Arial"/>
              <a:buChar char="•"/>
              <a:tabLst>
                <a:tab pos="241300" algn="l"/>
              </a:tabLst>
            </a:pPr>
            <a:r>
              <a:rPr sz="1800" spc="55" dirty="0">
                <a:latin typeface="Century Gothic"/>
                <a:cs typeface="Century Gothic"/>
              </a:rPr>
              <a:t>T5,</a:t>
            </a:r>
            <a:r>
              <a:rPr sz="1800" spc="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GPT,</a:t>
            </a:r>
            <a:r>
              <a:rPr sz="1800" spc="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PaLM,</a:t>
            </a:r>
            <a:r>
              <a:rPr sz="1800" spc="25" dirty="0">
                <a:latin typeface="Century Gothic"/>
                <a:cs typeface="Century Gothic"/>
              </a:rPr>
              <a:t> </a:t>
            </a:r>
            <a:r>
              <a:rPr sz="1800" spc="75" dirty="0">
                <a:latin typeface="Century Gothic"/>
                <a:cs typeface="Century Gothic"/>
              </a:rPr>
              <a:t>Flamingo</a:t>
            </a:r>
            <a:r>
              <a:rPr sz="1800" spc="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등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거대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모델들은</a:t>
            </a:r>
            <a:r>
              <a:rPr sz="1800" spc="-120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텍스트</a:t>
            </a:r>
            <a:r>
              <a:rPr sz="1800" spc="-10" dirty="0">
                <a:latin typeface="Century Gothic"/>
                <a:cs typeface="Century Gothic"/>
              </a:rPr>
              <a:t>,</a:t>
            </a:r>
            <a:r>
              <a:rPr sz="1800" spc="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이미지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등의</a:t>
            </a:r>
            <a:r>
              <a:rPr sz="1800" spc="-120" dirty="0">
                <a:latin typeface="Malgun Gothic"/>
                <a:cs typeface="Malgun Gothic"/>
              </a:rPr>
              <a:t> </a:t>
            </a:r>
            <a:r>
              <a:rPr sz="1800" spc="60" dirty="0">
                <a:latin typeface="Century Gothic"/>
                <a:cs typeface="Century Gothic"/>
              </a:rPr>
              <a:t>world-</a:t>
            </a:r>
            <a:r>
              <a:rPr sz="1800" dirty="0">
                <a:latin typeface="Century Gothic"/>
                <a:cs typeface="Century Gothic"/>
              </a:rPr>
              <a:t>knowledge</a:t>
            </a:r>
            <a:r>
              <a:rPr sz="1800" dirty="0">
                <a:latin typeface="Malgun Gothic"/>
                <a:cs typeface="Malgun Gothic"/>
              </a:rPr>
              <a:t>를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학습할</a:t>
            </a:r>
            <a:r>
              <a:rPr sz="1800" spc="-114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수</a:t>
            </a:r>
            <a:r>
              <a:rPr sz="1800" spc="-12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있음을 보임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Malgun Gothic"/>
                <a:cs typeface="Malgun Gothic"/>
              </a:rPr>
              <a:t>두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가지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단점을</a:t>
            </a:r>
            <a:r>
              <a:rPr sz="1800" spc="-16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가짐</a:t>
            </a:r>
            <a:endParaRPr sz="18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535"/>
              </a:spcBef>
              <a:buFont typeface="Arial"/>
              <a:buChar char="•"/>
              <a:tabLst>
                <a:tab pos="840105" algn="l"/>
              </a:tabLst>
            </a:pPr>
            <a:r>
              <a:rPr sz="1600" dirty="0">
                <a:latin typeface="Century Gothic"/>
                <a:cs typeface="Century Gothic"/>
              </a:rPr>
              <a:t>Parameter,</a:t>
            </a:r>
            <a:r>
              <a:rPr sz="1600" spc="25" dirty="0">
                <a:latin typeface="Century Gothic"/>
                <a:cs typeface="Century Gothic"/>
              </a:rPr>
              <a:t> </a:t>
            </a:r>
            <a:r>
              <a:rPr sz="1600" spc="-60" dirty="0">
                <a:latin typeface="Century Gothic"/>
                <a:cs typeface="Century Gothic"/>
              </a:rPr>
              <a:t>data,</a:t>
            </a:r>
            <a:r>
              <a:rPr sz="1600" spc="2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계산</a:t>
            </a:r>
            <a:r>
              <a:rPr sz="1600" spc="-9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등</a:t>
            </a:r>
            <a:r>
              <a:rPr sz="1600" spc="-90" dirty="0">
                <a:latin typeface="Malgun Gothic"/>
                <a:cs typeface="Malgun Gothic"/>
              </a:rPr>
              <a:t> </a:t>
            </a:r>
            <a:r>
              <a:rPr sz="1600" spc="75" dirty="0">
                <a:solidFill>
                  <a:srgbClr val="296A9B"/>
                </a:solidFill>
                <a:latin typeface="Century Gothic"/>
                <a:cs typeface="Century Gothic"/>
              </a:rPr>
              <a:t>high</a:t>
            </a:r>
            <a:r>
              <a:rPr sz="1600" spc="3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600" spc="-20" dirty="0">
                <a:solidFill>
                  <a:srgbClr val="296A9B"/>
                </a:solidFill>
                <a:latin typeface="Century Gothic"/>
                <a:cs typeface="Century Gothic"/>
              </a:rPr>
              <a:t>cost</a:t>
            </a:r>
            <a:endParaRPr sz="16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40105" algn="l"/>
              </a:tabLst>
            </a:pPr>
            <a:r>
              <a:rPr sz="1600" spc="75" dirty="0">
                <a:latin typeface="Century Gothic"/>
                <a:cs typeface="Century Gothic"/>
              </a:rPr>
              <a:t>World-</a:t>
            </a:r>
            <a:r>
              <a:rPr sz="1600" dirty="0">
                <a:latin typeface="Century Gothic"/>
                <a:cs typeface="Century Gothic"/>
              </a:rPr>
              <a:t>knowledge</a:t>
            </a:r>
            <a:r>
              <a:rPr sz="1600" dirty="0">
                <a:latin typeface="Malgun Gothic"/>
                <a:cs typeface="Malgun Gothic"/>
              </a:rPr>
              <a:t>가</a:t>
            </a:r>
            <a:r>
              <a:rPr sz="1600" spc="-9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업데이트</a:t>
            </a:r>
            <a:r>
              <a:rPr sz="1600" spc="-9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될</a:t>
            </a:r>
            <a:r>
              <a:rPr sz="1600" spc="-9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때마다</a:t>
            </a:r>
            <a:r>
              <a:rPr sz="1600" spc="-95" dirty="0"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296A9B"/>
                </a:solidFill>
                <a:latin typeface="Malgun Gothic"/>
                <a:cs typeface="Malgun Gothic"/>
              </a:rPr>
              <a:t>재학습</a:t>
            </a:r>
            <a:r>
              <a:rPr sz="1600" spc="-9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600" spc="-25" dirty="0">
                <a:solidFill>
                  <a:srgbClr val="296A9B"/>
                </a:solidFill>
                <a:latin typeface="Malgun Gothic"/>
                <a:cs typeface="Malgun Gothic"/>
              </a:rPr>
              <a:t>필요</a:t>
            </a:r>
            <a:endParaRPr sz="16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518159" algn="l"/>
              </a:tabLst>
            </a:pPr>
            <a:r>
              <a:rPr sz="1800" spc="80" dirty="0">
                <a:solidFill>
                  <a:srgbClr val="296A9B"/>
                </a:solidFill>
                <a:latin typeface="Century Gothic"/>
                <a:cs typeface="Century Gothic"/>
              </a:rPr>
              <a:t>Single-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modality</a:t>
            </a:r>
            <a:r>
              <a:rPr sz="1800" dirty="0">
                <a:solidFill>
                  <a:srgbClr val="296A9B"/>
                </a:solidFill>
                <a:latin typeface="Malgun Gothic"/>
                <a:cs typeface="Malgun Gothic"/>
              </a:rPr>
              <a:t>의</a:t>
            </a:r>
            <a:r>
              <a:rPr sz="1800" spc="17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800" spc="-25" dirty="0">
                <a:solidFill>
                  <a:srgbClr val="296A9B"/>
                </a:solidFill>
                <a:latin typeface="Malgun Gothic"/>
                <a:cs typeface="Malgun Gothic"/>
              </a:rPr>
              <a:t>한계</a:t>
            </a:r>
            <a:endParaRPr sz="18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535"/>
              </a:spcBef>
              <a:buFont typeface="Arial"/>
              <a:buChar char="•"/>
              <a:tabLst>
                <a:tab pos="840105" algn="l"/>
              </a:tabLst>
            </a:pPr>
            <a:r>
              <a:rPr sz="1600" dirty="0">
                <a:latin typeface="Malgun Gothic"/>
                <a:cs typeface="Malgun Gothic"/>
              </a:rPr>
              <a:t>기존</a:t>
            </a:r>
            <a:r>
              <a:rPr sz="1600" spc="65" dirty="0">
                <a:latin typeface="Malgun Gothic"/>
                <a:cs typeface="Malgun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Retrieval-augmented</a:t>
            </a:r>
            <a:r>
              <a:rPr sz="1600" spc="19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model</a:t>
            </a:r>
            <a:r>
              <a:rPr sz="1600" dirty="0">
                <a:latin typeface="Malgun Gothic"/>
                <a:cs typeface="Malgun Gothic"/>
              </a:rPr>
              <a:t>에서는</a:t>
            </a:r>
            <a:r>
              <a:rPr sz="1600" spc="65" dirty="0">
                <a:latin typeface="Malgun Gothic"/>
                <a:cs typeface="Malgun Gothic"/>
              </a:rPr>
              <a:t> </a:t>
            </a:r>
            <a:r>
              <a:rPr sz="1600" spc="60" dirty="0">
                <a:latin typeface="Century Gothic"/>
                <a:cs typeface="Century Gothic"/>
              </a:rPr>
              <a:t>single-</a:t>
            </a:r>
            <a:r>
              <a:rPr sz="1600" dirty="0">
                <a:latin typeface="Century Gothic"/>
                <a:cs typeface="Century Gothic"/>
              </a:rPr>
              <a:t>modality</a:t>
            </a:r>
            <a:r>
              <a:rPr sz="1600" spc="180" dirty="0">
                <a:latin typeface="Century Gothic"/>
                <a:cs typeface="Century Gothic"/>
              </a:rPr>
              <a:t> </a:t>
            </a:r>
            <a:r>
              <a:rPr sz="1600" spc="-30" dirty="0">
                <a:latin typeface="Century Gothic"/>
                <a:cs typeface="Century Gothic"/>
              </a:rPr>
              <a:t>backbone</a:t>
            </a:r>
            <a:r>
              <a:rPr sz="1600" spc="-30" dirty="0">
                <a:latin typeface="Malgun Gothic"/>
                <a:cs typeface="Malgun Gothic"/>
              </a:rPr>
              <a:t>이</a:t>
            </a:r>
            <a:r>
              <a:rPr sz="1600" spc="65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연구됨</a:t>
            </a:r>
            <a:endParaRPr sz="160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 dirty="0">
                <a:latin typeface="Century Gothic"/>
                <a:cs typeface="Century Gothic"/>
              </a:rPr>
              <a:t>Reveal</a:t>
            </a:r>
            <a:r>
              <a:rPr sz="1800" spc="-10" dirty="0">
                <a:latin typeface="Malgun Gothic"/>
                <a:cs typeface="Malgun Gothic"/>
              </a:rPr>
              <a:t>은</a:t>
            </a:r>
            <a:r>
              <a:rPr sz="1800" spc="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Retrieval-augmented</a:t>
            </a:r>
            <a:r>
              <a:rPr sz="1800" spc="200" dirty="0">
                <a:latin typeface="Century Gothic"/>
                <a:cs typeface="Century Gothic"/>
              </a:rPr>
              <a:t> </a:t>
            </a:r>
            <a:r>
              <a:rPr sz="1800" spc="-40" dirty="0">
                <a:latin typeface="Century Gothic"/>
                <a:cs typeface="Century Gothic"/>
              </a:rPr>
              <a:t>approach</a:t>
            </a:r>
            <a:r>
              <a:rPr sz="1800" spc="-40" dirty="0">
                <a:latin typeface="Malgun Gothic"/>
                <a:cs typeface="Malgun Gothic"/>
              </a:rPr>
              <a:t>을</a:t>
            </a:r>
            <a:r>
              <a:rPr sz="1800" spc="6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사용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518159" algn="l"/>
              </a:tabLst>
            </a:pPr>
            <a:r>
              <a:rPr sz="1800" spc="10" dirty="0">
                <a:latin typeface="Century Gothic"/>
                <a:cs typeface="Century Gothic"/>
              </a:rPr>
              <a:t>Neural</a:t>
            </a:r>
            <a:r>
              <a:rPr sz="1800" spc="110" dirty="0">
                <a:latin typeface="Century Gothic"/>
                <a:cs typeface="Century Gothic"/>
              </a:rPr>
              <a:t> </a:t>
            </a:r>
            <a:r>
              <a:rPr sz="1800" spc="10" dirty="0">
                <a:latin typeface="Century Gothic"/>
                <a:cs typeface="Century Gothic"/>
              </a:rPr>
              <a:t>representation</a:t>
            </a:r>
            <a:r>
              <a:rPr sz="1800" spc="105" dirty="0">
                <a:latin typeface="Century Gothic"/>
                <a:cs typeface="Century Gothic"/>
              </a:rPr>
              <a:t> </a:t>
            </a:r>
            <a:r>
              <a:rPr sz="1800" spc="10" dirty="0">
                <a:latin typeface="Century Gothic"/>
                <a:cs typeface="Century Gothic"/>
              </a:rPr>
              <a:t>learning</a:t>
            </a:r>
            <a:r>
              <a:rPr sz="1800" spc="10" dirty="0">
                <a:latin typeface="Malgun Gothic"/>
                <a:cs typeface="Malgun Gothic"/>
              </a:rPr>
              <a:t>을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통해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Malgun Gothic"/>
                <a:cs typeface="Malgun Gothic"/>
              </a:rPr>
              <a:t>지식을</a:t>
            </a:r>
            <a:r>
              <a:rPr sz="1800" spc="-2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800" spc="10" dirty="0">
                <a:solidFill>
                  <a:srgbClr val="296A9B"/>
                </a:solidFill>
                <a:latin typeface="Century Gothic"/>
                <a:cs typeface="Century Gothic"/>
              </a:rPr>
              <a:t>key-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value</a:t>
            </a:r>
            <a:r>
              <a:rPr sz="1800" spc="110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spc="65" dirty="0">
                <a:solidFill>
                  <a:srgbClr val="296A9B"/>
                </a:solidFill>
                <a:latin typeface="Century Gothic"/>
                <a:cs typeface="Century Gothic"/>
              </a:rPr>
              <a:t>memory</a:t>
            </a:r>
            <a:r>
              <a:rPr sz="1800" spc="65" dirty="0">
                <a:solidFill>
                  <a:srgbClr val="296A9B"/>
                </a:solidFill>
                <a:latin typeface="Malgun Gothic"/>
                <a:cs typeface="Malgun Gothic"/>
              </a:rPr>
              <a:t>로</a:t>
            </a:r>
            <a:r>
              <a:rPr sz="1800" spc="-25" dirty="0">
                <a:solidFill>
                  <a:srgbClr val="296A9B"/>
                </a:solidFill>
                <a:latin typeface="Malgun Gothic"/>
                <a:cs typeface="Malgun Gothic"/>
              </a:rPr>
              <a:t> 변환</a:t>
            </a:r>
            <a:endParaRPr sz="1800">
              <a:latin typeface="Malgun Gothic"/>
              <a:cs typeface="Malgun Gothic"/>
            </a:endParaRPr>
          </a:p>
          <a:p>
            <a:pPr marL="518159" lvl="1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518159" algn="l"/>
              </a:tabLst>
            </a:pPr>
            <a:r>
              <a:rPr sz="1800" dirty="0">
                <a:latin typeface="Century Gothic"/>
                <a:cs typeface="Century Gothic"/>
              </a:rPr>
              <a:t>Knowledge</a:t>
            </a:r>
            <a:r>
              <a:rPr sz="1800" spc="90" dirty="0">
                <a:latin typeface="Century Gothic"/>
                <a:cs typeface="Century Gothic"/>
              </a:rPr>
              <a:t> </a:t>
            </a:r>
            <a:r>
              <a:rPr sz="1800" spc="65" dirty="0">
                <a:latin typeface="Century Gothic"/>
                <a:cs typeface="Century Gothic"/>
              </a:rPr>
              <a:t>memorization</a:t>
            </a:r>
            <a:r>
              <a:rPr sz="1800" spc="65" dirty="0">
                <a:latin typeface="Malgun Gothic"/>
                <a:cs typeface="Malgun Gothic"/>
              </a:rPr>
              <a:t>과</a:t>
            </a:r>
            <a:r>
              <a:rPr sz="1800" spc="-40" dirty="0">
                <a:latin typeface="Malgun Gothic"/>
                <a:cs typeface="Malgun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reasoning</a:t>
            </a:r>
            <a:r>
              <a:rPr sz="1800" dirty="0">
                <a:latin typeface="Malgun Gothic"/>
                <a:cs typeface="Malgun Gothic"/>
              </a:rPr>
              <a:t>을</a:t>
            </a:r>
            <a:r>
              <a:rPr sz="1800" spc="-4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분리</a:t>
            </a:r>
            <a:r>
              <a:rPr sz="1800" spc="-40" dirty="0">
                <a:latin typeface="Malgun Gothic"/>
                <a:cs typeface="Malgun Gothic"/>
              </a:rPr>
              <a:t> </a:t>
            </a:r>
            <a:r>
              <a:rPr sz="1800" spc="75" dirty="0">
                <a:latin typeface="Century Gothic"/>
                <a:cs typeface="Century Gothic"/>
              </a:rPr>
              <a:t>-</a:t>
            </a:r>
            <a:r>
              <a:rPr sz="1800" dirty="0">
                <a:latin typeface="Century Gothic"/>
                <a:cs typeface="Century Gothic"/>
              </a:rPr>
              <a:t>&gt;</a:t>
            </a:r>
            <a:r>
              <a:rPr sz="1800" spc="95" dirty="0"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external</a:t>
            </a:r>
            <a:r>
              <a:rPr sz="1800" spc="9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Century Gothic"/>
                <a:cs typeface="Century Gothic"/>
              </a:rPr>
              <a:t>knowledge</a:t>
            </a:r>
            <a:r>
              <a:rPr sz="1800" spc="9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Malgun Gothic"/>
                <a:cs typeface="Malgun Gothic"/>
              </a:rPr>
              <a:t>사용</a:t>
            </a:r>
            <a:r>
              <a:rPr sz="1800" spc="-4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296A9B"/>
                </a:solidFill>
                <a:latin typeface="Malgun Gothic"/>
                <a:cs typeface="Malgun Gothic"/>
              </a:rPr>
              <a:t>가능</a:t>
            </a:r>
            <a:r>
              <a:rPr sz="1800" dirty="0">
                <a:latin typeface="Malgun Gothic"/>
                <a:cs typeface="Malgun Gothic"/>
              </a:rPr>
              <a:t>케</a:t>
            </a:r>
            <a:r>
              <a:rPr sz="1800" spc="-40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함</a:t>
            </a:r>
            <a:endParaRPr sz="1800">
              <a:latin typeface="Malgun Gothic"/>
              <a:cs typeface="Malgun Gothic"/>
            </a:endParaRPr>
          </a:p>
          <a:p>
            <a:pPr marL="840105" lvl="2" indent="-227965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840105" algn="l"/>
              </a:tabLst>
            </a:pPr>
            <a:r>
              <a:rPr sz="1600" spc="45" dirty="0">
                <a:latin typeface="Century Gothic"/>
                <a:cs typeface="Century Gothic"/>
              </a:rPr>
              <a:t>Wikipedia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passages</a:t>
            </a:r>
            <a:r>
              <a:rPr sz="1600" spc="-3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and</a:t>
            </a:r>
            <a:r>
              <a:rPr sz="1600" spc="-20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images</a:t>
            </a:r>
            <a:endParaRPr sz="16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40105" algn="l"/>
              </a:tabLst>
            </a:pPr>
            <a:r>
              <a:rPr sz="1600" spc="60" dirty="0">
                <a:latin typeface="Century Gothic"/>
                <a:cs typeface="Century Gothic"/>
              </a:rPr>
              <a:t>WikiData</a:t>
            </a:r>
            <a:r>
              <a:rPr sz="1600" spc="114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knowledge</a:t>
            </a:r>
            <a:r>
              <a:rPr sz="1600" spc="105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graph</a:t>
            </a:r>
            <a:endParaRPr sz="1600">
              <a:latin typeface="Century Gothic"/>
              <a:cs typeface="Century Gothic"/>
            </a:endParaRPr>
          </a:p>
          <a:p>
            <a:pPr marL="840105" lvl="2" indent="-2279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40105" algn="l"/>
              </a:tabLst>
            </a:pPr>
            <a:r>
              <a:rPr sz="1600" dirty="0">
                <a:latin typeface="Century Gothic"/>
                <a:cs typeface="Century Gothic"/>
              </a:rPr>
              <a:t>Web</a:t>
            </a:r>
            <a:r>
              <a:rPr sz="1600" spc="55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image-</a:t>
            </a:r>
            <a:r>
              <a:rPr sz="1600" spc="55" dirty="0">
                <a:latin typeface="Century Gothic"/>
                <a:cs typeface="Century Gothic"/>
              </a:rPr>
              <a:t>text </a:t>
            </a:r>
            <a:r>
              <a:rPr sz="1600" dirty="0">
                <a:latin typeface="Century Gothic"/>
                <a:cs typeface="Century Gothic"/>
              </a:rPr>
              <a:t>pairs</a:t>
            </a:r>
            <a:r>
              <a:rPr sz="1600" spc="5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and</a:t>
            </a:r>
            <a:r>
              <a:rPr sz="1600" spc="55" dirty="0">
                <a:latin typeface="Century Gothic"/>
                <a:cs typeface="Century Gothic"/>
              </a:rPr>
              <a:t> </a:t>
            </a:r>
            <a:r>
              <a:rPr sz="1600" spc="-25" dirty="0">
                <a:latin typeface="Century Gothic"/>
                <a:cs typeface="Century Gothic"/>
              </a:rPr>
              <a:t>VQA</a:t>
            </a:r>
            <a:r>
              <a:rPr sz="1600" spc="6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data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6062" y="6308039"/>
            <a:ext cx="606933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0" dirty="0">
                <a:latin typeface="Montserrat"/>
                <a:cs typeface="Montserrat"/>
              </a:rPr>
              <a:t>REVEAL: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Visual-Language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Pre-</a:t>
            </a:r>
            <a:r>
              <a:rPr sz="800" spc="-10" dirty="0">
                <a:latin typeface="Montserrat"/>
                <a:cs typeface="Montserrat"/>
              </a:rPr>
              <a:t>Training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with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Multi-Source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Multimodal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Knowledge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Memory,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CVF23’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5485130" cy="107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5" dirty="0">
                <a:latin typeface="Century Gothic"/>
                <a:cs typeface="Century Gothic"/>
              </a:rPr>
              <a:t>Multimodal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05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20" dirty="0">
                <a:latin typeface="Century Gothic"/>
                <a:cs typeface="Century Gothic"/>
              </a:rPr>
              <a:t>Reveal:</a:t>
            </a:r>
            <a:r>
              <a:rPr sz="2400" spc="225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Retrieval-Augmented</a:t>
            </a:r>
            <a:r>
              <a:rPr sz="1400" spc="125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Visual</a:t>
            </a:r>
            <a:r>
              <a:rPr sz="1400" spc="12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Language</a:t>
            </a:r>
            <a:r>
              <a:rPr sz="1400" spc="135" dirty="0">
                <a:latin typeface="Century Gothic"/>
                <a:cs typeface="Century Gothic"/>
              </a:rPr>
              <a:t> </a:t>
            </a:r>
            <a:r>
              <a:rPr sz="1400" spc="-10" dirty="0">
                <a:latin typeface="Century Gothic"/>
                <a:cs typeface="Century Gothic"/>
              </a:rPr>
              <a:t>Model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105" y="1942598"/>
            <a:ext cx="11521517" cy="342988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586062" y="6308039"/>
            <a:ext cx="6069330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0" dirty="0">
                <a:latin typeface="Montserrat"/>
                <a:cs typeface="Montserrat"/>
              </a:rPr>
              <a:t>REVEAL: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Augmented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Visual-Language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Pre-</a:t>
            </a:r>
            <a:r>
              <a:rPr sz="800" spc="-10" dirty="0">
                <a:latin typeface="Montserrat"/>
                <a:cs typeface="Montserrat"/>
              </a:rPr>
              <a:t>Training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with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Multi-Source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Multimodal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Knowledge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Memory,</a:t>
            </a:r>
            <a:r>
              <a:rPr sz="800" spc="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CVF23’</a:t>
            </a:r>
            <a:endParaRPr sz="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0388" y="85852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127248"/>
            <a:ext cx="238760" cy="231140"/>
            <a:chOff x="9046239" y="127248"/>
            <a:chExt cx="238760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130634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127248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9337955" y="127248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536955"/>
            <a:ext cx="2995295" cy="11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05" dirty="0">
                <a:latin typeface="Century Gothic"/>
                <a:cs typeface="Century Gothic"/>
              </a:rPr>
              <a:t>Multimodal</a:t>
            </a:r>
            <a:r>
              <a:rPr sz="2800" spc="-20" dirty="0">
                <a:latin typeface="Century Gothic"/>
                <a:cs typeface="Century Gothic"/>
              </a:rPr>
              <a:t> </a:t>
            </a:r>
            <a:r>
              <a:rPr sz="2800" spc="-25" dirty="0">
                <a:latin typeface="Century Gothic"/>
                <a:cs typeface="Century Gothic"/>
              </a:rPr>
              <a:t>RAG</a:t>
            </a:r>
            <a:endParaRPr sz="2800" dirty="0">
              <a:latin typeface="Century Gothic"/>
              <a:cs typeface="Century Gothic"/>
            </a:endParaRPr>
          </a:p>
          <a:p>
            <a:pPr marL="240029" indent="-227329">
              <a:lnSpc>
                <a:spcPct val="100000"/>
              </a:lnSpc>
              <a:spcBef>
                <a:spcPts val="227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10" dirty="0">
                <a:latin typeface="Century Gothic"/>
                <a:cs typeface="Century Gothic"/>
              </a:rPr>
              <a:t>MuRAG</a:t>
            </a: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38" y="215900"/>
            <a:ext cx="3416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latin typeface="Century Gothic"/>
                <a:cs typeface="Century Gothic"/>
              </a:rPr>
              <a:t>Retrievals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45" dirty="0">
                <a:latin typeface="Century Gothic"/>
                <a:cs typeface="Century Gothic"/>
              </a:rPr>
              <a:t>Embeddings</a:t>
            </a:r>
            <a:r>
              <a:rPr sz="1200" spc="-10" dirty="0">
                <a:latin typeface="Century Gothic"/>
                <a:cs typeface="Century Gothic"/>
              </a:rPr>
              <a:t> and</a:t>
            </a:r>
            <a:r>
              <a:rPr sz="1200" spc="-15" dirty="0">
                <a:latin typeface="Century Gothic"/>
                <a:cs typeface="Century Gothic"/>
              </a:rPr>
              <a:t> </a:t>
            </a:r>
            <a:r>
              <a:rPr sz="1200" spc="50" dirty="0">
                <a:latin typeface="Century Gothic"/>
                <a:cs typeface="Century Gothic"/>
              </a:rPr>
              <a:t>ranking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–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RAG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0274" y="1189927"/>
            <a:ext cx="8899303" cy="486533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776562" y="6308039"/>
            <a:ext cx="5878195" cy="149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800" spc="-10" dirty="0">
                <a:latin typeface="Montserrat"/>
                <a:cs typeface="Montserrat"/>
              </a:rPr>
              <a:t>MuRAG: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Multimodal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Retrieval-</a:t>
            </a:r>
            <a:r>
              <a:rPr sz="800" spc="-10" dirty="0">
                <a:latin typeface="Montserrat"/>
                <a:cs typeface="Montserrat"/>
              </a:rPr>
              <a:t>Augmented </a:t>
            </a:r>
            <a:r>
              <a:rPr sz="800" spc="-20" dirty="0">
                <a:latin typeface="Montserrat"/>
                <a:cs typeface="Montserrat"/>
              </a:rPr>
              <a:t>Generator</a:t>
            </a:r>
            <a:r>
              <a:rPr sz="800" spc="-5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for</a:t>
            </a:r>
            <a:r>
              <a:rPr sz="800" spc="-10" dirty="0">
                <a:latin typeface="Montserrat"/>
                <a:cs typeface="Montserrat"/>
              </a:rPr>
              <a:t> </a:t>
            </a:r>
            <a:r>
              <a:rPr sz="800" dirty="0">
                <a:latin typeface="Montserrat"/>
                <a:cs typeface="Montserrat"/>
              </a:rPr>
              <a:t>Open</a:t>
            </a:r>
            <a:r>
              <a:rPr sz="800" spc="-10" dirty="0">
                <a:latin typeface="Montserrat"/>
                <a:cs typeface="Montserrat"/>
              </a:rPr>
              <a:t> Question Answering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over Images</a:t>
            </a:r>
            <a:r>
              <a:rPr sz="800" dirty="0">
                <a:latin typeface="Montserrat"/>
                <a:cs typeface="Montserrat"/>
              </a:rPr>
              <a:t> and</a:t>
            </a:r>
            <a:r>
              <a:rPr sz="800" spc="-10" dirty="0">
                <a:latin typeface="Montserrat"/>
                <a:cs typeface="Montserrat"/>
              </a:rPr>
              <a:t> </a:t>
            </a:r>
            <a:r>
              <a:rPr sz="800" spc="-20" dirty="0">
                <a:latin typeface="Montserrat"/>
                <a:cs typeface="Montserrat"/>
              </a:rPr>
              <a:t>Text,</a:t>
            </a:r>
            <a:r>
              <a:rPr sz="800" dirty="0">
                <a:latin typeface="Montserrat"/>
                <a:cs typeface="Montserrat"/>
              </a:rPr>
              <a:t> </a:t>
            </a:r>
            <a:r>
              <a:rPr sz="800" spc="-10" dirty="0">
                <a:latin typeface="Montserrat"/>
                <a:cs typeface="Montserrat"/>
              </a:rPr>
              <a:t>EMNLP22’</a:t>
            </a:r>
            <a:endParaRPr sz="800" dirty="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1000" y="255667"/>
            <a:ext cx="411141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85894" y="6338681"/>
            <a:ext cx="1295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67" dirty="0">
                <a:latin typeface="Roboto"/>
                <a:cs typeface="Roboto"/>
              </a:rPr>
              <a:t>2</a:t>
            </a:r>
            <a:endParaRPr sz="1333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6417" y="255667"/>
            <a:ext cx="6687569" cy="55210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2767" y="6595370"/>
            <a:ext cx="2527300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13" dirty="0">
                <a:latin typeface="Roboto"/>
                <a:cs typeface="Roboto"/>
                <a:hlinkClick r:id="rId3"/>
              </a:rPr>
              <a:t>https://arxiv.org/pdf/2009.07118.pdf</a:t>
            </a:r>
            <a:endParaRPr sz="120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8052" y="5843391"/>
            <a:ext cx="4967765" cy="9497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411141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3" dirty="0"/>
              <a:t>GPT-</a:t>
            </a:r>
            <a:r>
              <a:rPr dirty="0"/>
              <a:t>3:</a:t>
            </a:r>
            <a:r>
              <a:rPr spc="-7" dirty="0"/>
              <a:t> </a:t>
            </a:r>
            <a:r>
              <a:rPr dirty="0"/>
              <a:t>Larger</a:t>
            </a:r>
            <a:r>
              <a:rPr spc="-7" dirty="0"/>
              <a:t> </a:t>
            </a:r>
            <a:r>
              <a:rPr spc="-13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884" y="1133785"/>
            <a:ext cx="9182233" cy="552101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42</a:t>
            </a:fld>
            <a:endParaRPr spc="-33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987" y="609600"/>
            <a:ext cx="411141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3" dirty="0"/>
              <a:t>GPT-</a:t>
            </a:r>
            <a:r>
              <a:rPr dirty="0"/>
              <a:t>3:</a:t>
            </a:r>
            <a:r>
              <a:rPr spc="27" dirty="0"/>
              <a:t> </a:t>
            </a:r>
            <a:r>
              <a:rPr spc="-13" dirty="0"/>
              <a:t>Performance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917" y="1184785"/>
            <a:ext cx="10874175" cy="51953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43</a:t>
            </a:fld>
            <a:endParaRPr spc="-33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987" y="914400"/>
            <a:ext cx="411141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3" dirty="0"/>
              <a:t>PET:</a:t>
            </a:r>
            <a:r>
              <a:rPr spc="-133" dirty="0"/>
              <a:t> </a:t>
            </a:r>
            <a:r>
              <a:rPr dirty="0"/>
              <a:t>Without</a:t>
            </a:r>
            <a:r>
              <a:rPr spc="-133" dirty="0"/>
              <a:t> </a:t>
            </a:r>
            <a:r>
              <a:rPr dirty="0"/>
              <a:t>Knowledge</a:t>
            </a:r>
            <a:r>
              <a:rPr spc="-133" dirty="0"/>
              <a:t> </a:t>
            </a:r>
            <a:r>
              <a:rPr spc="-13" dirty="0"/>
              <a:t>Distillation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967" y="1758701"/>
            <a:ext cx="6642099" cy="4190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15633" y="2051851"/>
            <a:ext cx="3534833" cy="2287806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342045">
              <a:lnSpc>
                <a:spcPts val="2200"/>
              </a:lnSpc>
              <a:spcBef>
                <a:spcPts val="240"/>
              </a:spcBef>
            </a:pPr>
            <a:r>
              <a:rPr sz="1867" spc="-13" dirty="0">
                <a:latin typeface="Roboto"/>
                <a:cs typeface="Roboto"/>
              </a:rPr>
              <a:t>Without</a:t>
            </a:r>
            <a:r>
              <a:rPr sz="1867" spc="-47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knowledge</a:t>
            </a:r>
            <a:r>
              <a:rPr sz="1867" spc="-40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distillation using</a:t>
            </a:r>
            <a:r>
              <a:rPr sz="1867" spc="-53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unlabeled</a:t>
            </a:r>
            <a:r>
              <a:rPr sz="1867" spc="-47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dataset,</a:t>
            </a:r>
            <a:r>
              <a:rPr sz="1867" spc="-47" dirty="0">
                <a:latin typeface="Roboto"/>
                <a:cs typeface="Roboto"/>
              </a:rPr>
              <a:t> </a:t>
            </a:r>
            <a:r>
              <a:rPr sz="1867" spc="-33" dirty="0">
                <a:latin typeface="Roboto"/>
                <a:cs typeface="Roboto"/>
              </a:rPr>
              <a:t>PET </a:t>
            </a:r>
            <a:r>
              <a:rPr sz="1867" spc="-13" dirty="0">
                <a:latin typeface="Roboto"/>
                <a:cs typeface="Roboto"/>
              </a:rPr>
              <a:t>performs</a:t>
            </a:r>
            <a:r>
              <a:rPr sz="1867" spc="-53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even</a:t>
            </a:r>
            <a:r>
              <a:rPr sz="1867" spc="-53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better.</a:t>
            </a:r>
            <a:endParaRPr sz="1867" dirty="0">
              <a:latin typeface="Roboto"/>
              <a:cs typeface="Roboto"/>
            </a:endParaRPr>
          </a:p>
          <a:p>
            <a:pPr marL="16933" marR="6773" indent="58419">
              <a:lnSpc>
                <a:spcPts val="2200"/>
              </a:lnSpc>
              <a:spcBef>
                <a:spcPts val="2200"/>
              </a:spcBef>
            </a:pPr>
            <a:r>
              <a:rPr sz="1867" dirty="0">
                <a:latin typeface="Roboto"/>
                <a:cs typeface="Roboto"/>
              </a:rPr>
              <a:t>But</a:t>
            </a:r>
            <a:r>
              <a:rPr sz="1867" spc="-87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n*k</a:t>
            </a:r>
            <a:r>
              <a:rPr sz="1867" spc="-80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times</a:t>
            </a:r>
            <a:r>
              <a:rPr sz="1867" spc="-80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larger</a:t>
            </a:r>
            <a:r>
              <a:rPr sz="1867" spc="-80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than</a:t>
            </a:r>
            <a:r>
              <a:rPr sz="1867" spc="-87" dirty="0">
                <a:latin typeface="Roboto"/>
                <a:cs typeface="Roboto"/>
              </a:rPr>
              <a:t> </a:t>
            </a:r>
            <a:r>
              <a:rPr sz="1867" spc="-33" dirty="0">
                <a:latin typeface="Roboto"/>
                <a:cs typeface="Roboto"/>
              </a:rPr>
              <a:t>the </a:t>
            </a:r>
            <a:r>
              <a:rPr sz="1867" spc="-13" dirty="0">
                <a:latin typeface="Roboto"/>
                <a:cs typeface="Roboto"/>
              </a:rPr>
              <a:t>distilled</a:t>
            </a:r>
            <a:r>
              <a:rPr sz="1867" spc="-60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model.</a:t>
            </a:r>
            <a:r>
              <a:rPr sz="1867" spc="-60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(k=number</a:t>
            </a:r>
            <a:r>
              <a:rPr sz="1867" spc="-53" dirty="0">
                <a:latin typeface="Roboto"/>
                <a:cs typeface="Roboto"/>
              </a:rPr>
              <a:t> </a:t>
            </a:r>
            <a:r>
              <a:rPr sz="1867" spc="-33" dirty="0">
                <a:latin typeface="Roboto"/>
                <a:cs typeface="Roboto"/>
              </a:rPr>
              <a:t>of </a:t>
            </a:r>
            <a:r>
              <a:rPr sz="1867" dirty="0">
                <a:latin typeface="Roboto"/>
                <a:cs typeface="Roboto"/>
              </a:rPr>
              <a:t>PVPs,</a:t>
            </a:r>
            <a:r>
              <a:rPr sz="1867" spc="-53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n=number</a:t>
            </a:r>
            <a:r>
              <a:rPr sz="1867" spc="-53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of</a:t>
            </a:r>
            <a:r>
              <a:rPr sz="1867" spc="-53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LMs</a:t>
            </a:r>
            <a:r>
              <a:rPr sz="1867" spc="-47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per</a:t>
            </a:r>
            <a:r>
              <a:rPr sz="1867" spc="-53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each PVP)</a:t>
            </a:r>
            <a:endParaRPr sz="1867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457200" y="457200"/>
            <a:ext cx="13817600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27" dirty="0"/>
              <a:t>iPET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601" y="1414216"/>
            <a:ext cx="9930553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dirty="0">
                <a:latin typeface="Roboto"/>
                <a:cs typeface="Roboto"/>
              </a:rPr>
              <a:t>Some</a:t>
            </a:r>
            <a:r>
              <a:rPr sz="1867" spc="-120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patterns</a:t>
            </a:r>
            <a:r>
              <a:rPr sz="1867" spc="-73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perform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worse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than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others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spc="-167" dirty="0">
                <a:latin typeface="Roboto"/>
                <a:cs typeface="Roboto"/>
              </a:rPr>
              <a:t>-</a:t>
            </a:r>
            <a:r>
              <a:rPr sz="1867" spc="-187" dirty="0">
                <a:latin typeface="Roboto"/>
                <a:cs typeface="Roboto"/>
              </a:rPr>
              <a:t>&gt;</a:t>
            </a:r>
            <a:r>
              <a:rPr sz="1867" spc="-40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The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training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set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for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final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model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dirty="0">
                <a:latin typeface="Roboto"/>
                <a:cs typeface="Roboto"/>
              </a:rPr>
              <a:t>may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contain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spc="-27" dirty="0">
                <a:latin typeface="Roboto"/>
                <a:cs typeface="Roboto"/>
              </a:rPr>
              <a:t>many </a:t>
            </a:r>
            <a:r>
              <a:rPr sz="1867" spc="-13" dirty="0">
                <a:latin typeface="Roboto"/>
                <a:cs typeface="Roboto"/>
              </a:rPr>
              <a:t>falsely</a:t>
            </a:r>
            <a:r>
              <a:rPr sz="1867" spc="-73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labeled</a:t>
            </a:r>
            <a:r>
              <a:rPr sz="1867" spc="-67" dirty="0">
                <a:latin typeface="Roboto"/>
                <a:cs typeface="Roboto"/>
              </a:rPr>
              <a:t> </a:t>
            </a:r>
            <a:r>
              <a:rPr sz="1867" spc="-13" dirty="0">
                <a:latin typeface="Roboto"/>
                <a:cs typeface="Roboto"/>
              </a:rPr>
              <a:t>examples.</a:t>
            </a:r>
            <a:endParaRPr sz="1867" dirty="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077" y="2307967"/>
            <a:ext cx="8591843" cy="43472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45</a:t>
            </a:fld>
            <a:endParaRPr spc="-33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987" y="685800"/>
            <a:ext cx="411141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PET</a:t>
            </a:r>
            <a:r>
              <a:rPr spc="-7" dirty="0"/>
              <a:t> </a:t>
            </a:r>
            <a:r>
              <a:rPr dirty="0"/>
              <a:t>vs.</a:t>
            </a:r>
            <a:r>
              <a:rPr spc="-7" dirty="0"/>
              <a:t> </a:t>
            </a:r>
            <a:r>
              <a:rPr spc="-73" dirty="0"/>
              <a:t>GPT-</a:t>
            </a:r>
            <a:r>
              <a:rPr spc="-67" dirty="0"/>
              <a:t>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453" y="1205385"/>
            <a:ext cx="10733095" cy="552101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46</a:t>
            </a:fld>
            <a:endParaRPr spc="-33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974433" y="714200"/>
            <a:ext cx="10243200" cy="62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LLaMA 2 - Model Evaluations</a:t>
            </a:r>
          </a:p>
        </p:txBody>
      </p:sp>
      <p:cxnSp>
        <p:nvCxnSpPr>
          <p:cNvPr id="374" name="Google Shape;374;p35"/>
          <p:cNvCxnSpPr/>
          <p:nvPr/>
        </p:nvCxnSpPr>
        <p:spPr>
          <a:xfrm>
            <a:off x="4188600" y="1378333"/>
            <a:ext cx="3814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078F8C1-642A-673A-76A2-82FFF3ABD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78" y="2095449"/>
            <a:ext cx="11566263" cy="326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589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03632" y="554200"/>
            <a:ext cx="832612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03632" y="6319999"/>
            <a:ext cx="832612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6931" y="554200"/>
            <a:ext cx="244687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97701" y="844979"/>
            <a:ext cx="6836833" cy="12482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4000" b="1" dirty="0">
                <a:solidFill>
                  <a:srgbClr val="F46524"/>
                </a:solidFill>
                <a:latin typeface="Raleway"/>
                <a:cs typeface="Raleway"/>
              </a:rPr>
              <a:t>LLM</a:t>
            </a:r>
            <a:r>
              <a:rPr sz="4000" b="1" spc="-47" dirty="0">
                <a:solidFill>
                  <a:srgbClr val="F46524"/>
                </a:solidFill>
                <a:latin typeface="Raleway"/>
                <a:cs typeface="Raleway"/>
              </a:rPr>
              <a:t> </a:t>
            </a:r>
            <a:r>
              <a:rPr sz="4000" b="1" dirty="0">
                <a:solidFill>
                  <a:srgbClr val="F46524"/>
                </a:solidFill>
                <a:latin typeface="Raleway"/>
                <a:cs typeface="Raleway"/>
              </a:rPr>
              <a:t>can</a:t>
            </a:r>
            <a:r>
              <a:rPr sz="4000" b="1" spc="-33" dirty="0">
                <a:solidFill>
                  <a:srgbClr val="F46524"/>
                </a:solidFill>
                <a:latin typeface="Raleway"/>
                <a:cs typeface="Raleway"/>
              </a:rPr>
              <a:t> </a:t>
            </a:r>
            <a:r>
              <a:rPr sz="4000" b="1" dirty="0">
                <a:solidFill>
                  <a:srgbClr val="F46524"/>
                </a:solidFill>
                <a:latin typeface="Raleway"/>
                <a:cs typeface="Raleway"/>
              </a:rPr>
              <a:t>modify</a:t>
            </a:r>
            <a:r>
              <a:rPr sz="4000" b="1" spc="-133" dirty="0">
                <a:solidFill>
                  <a:srgbClr val="F46524"/>
                </a:solidFill>
                <a:latin typeface="Raleway"/>
                <a:cs typeface="Raleway"/>
              </a:rPr>
              <a:t> </a:t>
            </a:r>
            <a:r>
              <a:rPr sz="4000" b="1" dirty="0">
                <a:solidFill>
                  <a:srgbClr val="F46524"/>
                </a:solidFill>
                <a:latin typeface="Raleway"/>
                <a:cs typeface="Raleway"/>
              </a:rPr>
              <a:t>its</a:t>
            </a:r>
            <a:r>
              <a:rPr sz="4000" b="1" spc="-27" dirty="0">
                <a:solidFill>
                  <a:srgbClr val="F46524"/>
                </a:solidFill>
                <a:latin typeface="Raleway"/>
                <a:cs typeface="Raleway"/>
              </a:rPr>
              <a:t> </a:t>
            </a:r>
            <a:r>
              <a:rPr sz="4000" b="1" spc="-13" dirty="0">
                <a:solidFill>
                  <a:srgbClr val="F46524"/>
                </a:solidFill>
                <a:latin typeface="Raleway"/>
                <a:cs typeface="Raleway"/>
              </a:rPr>
              <a:t>behavior </a:t>
            </a:r>
            <a:r>
              <a:rPr sz="4000" b="1" dirty="0">
                <a:solidFill>
                  <a:srgbClr val="F46524"/>
                </a:solidFill>
                <a:latin typeface="Raleway"/>
                <a:cs typeface="Raleway"/>
              </a:rPr>
              <a:t>based</a:t>
            </a:r>
            <a:r>
              <a:rPr sz="4000" b="1" spc="-80" dirty="0">
                <a:solidFill>
                  <a:srgbClr val="F46524"/>
                </a:solidFill>
                <a:latin typeface="Raleway"/>
                <a:cs typeface="Raleway"/>
              </a:rPr>
              <a:t> </a:t>
            </a:r>
            <a:r>
              <a:rPr sz="4000" b="1" dirty="0">
                <a:solidFill>
                  <a:srgbClr val="F46524"/>
                </a:solidFill>
                <a:latin typeface="Raleway"/>
                <a:cs typeface="Raleway"/>
              </a:rPr>
              <a:t>on</a:t>
            </a:r>
            <a:r>
              <a:rPr sz="4000" b="1" spc="-73" dirty="0">
                <a:solidFill>
                  <a:srgbClr val="F46524"/>
                </a:solidFill>
                <a:latin typeface="Raleway"/>
                <a:cs typeface="Raleway"/>
              </a:rPr>
              <a:t> </a:t>
            </a:r>
            <a:r>
              <a:rPr sz="4000" b="1" dirty="0">
                <a:solidFill>
                  <a:srgbClr val="F46524"/>
                </a:solidFill>
                <a:latin typeface="Raleway"/>
                <a:cs typeface="Raleway"/>
              </a:rPr>
              <a:t>previous</a:t>
            </a:r>
            <a:r>
              <a:rPr sz="4000" b="1" spc="-80" dirty="0">
                <a:solidFill>
                  <a:srgbClr val="F46524"/>
                </a:solidFill>
                <a:latin typeface="Raleway"/>
                <a:cs typeface="Raleway"/>
              </a:rPr>
              <a:t> </a:t>
            </a:r>
            <a:r>
              <a:rPr sz="4000" b="1" spc="-13" dirty="0">
                <a:solidFill>
                  <a:srgbClr val="F46524"/>
                </a:solidFill>
                <a:latin typeface="Raleway"/>
                <a:cs typeface="Raleway"/>
              </a:rPr>
              <a:t>prompts</a:t>
            </a:r>
            <a:endParaRPr sz="4000" dirty="0">
              <a:latin typeface="Raleway"/>
              <a:cs typeface="Raleway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0500" y="2874001"/>
            <a:ext cx="4194387" cy="12506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lnSpc>
                <a:spcPct val="114599"/>
              </a:lnSpc>
              <a:spcBef>
                <a:spcPts val="133"/>
              </a:spcBef>
            </a:pPr>
            <a:r>
              <a:rPr sz="2400" dirty="0">
                <a:latin typeface="Lato"/>
                <a:cs typeface="Lato"/>
              </a:rPr>
              <a:t>Exhibiting</a:t>
            </a:r>
            <a:r>
              <a:rPr sz="2400" spc="-80" dirty="0">
                <a:latin typeface="Lato"/>
                <a:cs typeface="Lato"/>
              </a:rPr>
              <a:t> </a:t>
            </a:r>
            <a:r>
              <a:rPr sz="2400" spc="-13" dirty="0">
                <a:latin typeface="Lato"/>
                <a:cs typeface="Lato"/>
              </a:rPr>
              <a:t>chain-of-thought,</a:t>
            </a:r>
            <a:r>
              <a:rPr sz="2400" spc="-80" dirty="0">
                <a:latin typeface="Lato"/>
                <a:cs typeface="Lato"/>
              </a:rPr>
              <a:t> </a:t>
            </a:r>
            <a:r>
              <a:rPr sz="2400" spc="-33" dirty="0">
                <a:latin typeface="Lato"/>
                <a:cs typeface="Lato"/>
              </a:rPr>
              <a:t>or </a:t>
            </a:r>
            <a:r>
              <a:rPr sz="2400" u="heavy" spc="-13" dirty="0">
                <a:solidFill>
                  <a:srgbClr val="0277BD"/>
                </a:solidFill>
                <a:uFill>
                  <a:solidFill>
                    <a:srgbClr val="0277BD"/>
                  </a:solidFill>
                </a:uFill>
                <a:latin typeface="Lato"/>
                <a:cs typeface="Lato"/>
                <a:hlinkClick r:id="rId2"/>
              </a:rPr>
              <a:t>reasoning</a:t>
            </a:r>
            <a:r>
              <a:rPr sz="2400" spc="-13" dirty="0">
                <a:latin typeface="Lato"/>
                <a:cs typeface="Lato"/>
              </a:rPr>
              <a:t>,</a:t>
            </a:r>
            <a:r>
              <a:rPr sz="2400" spc="-120" dirty="0">
                <a:latin typeface="Lato"/>
                <a:cs typeface="Lato"/>
              </a:rPr>
              <a:t> </a:t>
            </a:r>
            <a:r>
              <a:rPr sz="2400" dirty="0">
                <a:latin typeface="Lato"/>
                <a:cs typeface="Lato"/>
              </a:rPr>
              <a:t>in</a:t>
            </a:r>
            <a:r>
              <a:rPr sz="2400" spc="-120" dirty="0">
                <a:latin typeface="Lato"/>
                <a:cs typeface="Lato"/>
              </a:rPr>
              <a:t> </a:t>
            </a:r>
            <a:r>
              <a:rPr sz="2400" dirty="0">
                <a:latin typeface="Lato"/>
                <a:cs typeface="Lato"/>
              </a:rPr>
              <a:t>prompts</a:t>
            </a:r>
            <a:r>
              <a:rPr sz="2400" spc="-113" dirty="0">
                <a:latin typeface="Lato"/>
                <a:cs typeface="Lato"/>
              </a:rPr>
              <a:t> </a:t>
            </a:r>
            <a:r>
              <a:rPr sz="2400" spc="-13" dirty="0">
                <a:latin typeface="Lato"/>
                <a:cs typeface="Lato"/>
              </a:rPr>
              <a:t>produces </a:t>
            </a:r>
            <a:r>
              <a:rPr sz="2400" dirty="0">
                <a:latin typeface="Lato"/>
                <a:cs typeface="Lato"/>
              </a:rPr>
              <a:t>better</a:t>
            </a:r>
            <a:r>
              <a:rPr sz="2400" spc="-27" dirty="0">
                <a:latin typeface="Lato"/>
                <a:cs typeface="Lato"/>
              </a:rPr>
              <a:t> </a:t>
            </a:r>
            <a:r>
              <a:rPr sz="2400" spc="-13" dirty="0">
                <a:latin typeface="Lato"/>
                <a:cs typeface="Lato"/>
              </a:rPr>
              <a:t>responses.</a:t>
            </a:r>
            <a:endParaRPr sz="2400" dirty="0">
              <a:latin typeface="Lato"/>
              <a:cs typeface="La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0437" y="2515565"/>
            <a:ext cx="6249247" cy="3535680"/>
            <a:chOff x="75327" y="1886674"/>
            <a:chExt cx="4686935" cy="26517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129" y="1997115"/>
              <a:ext cx="4507566" cy="24219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090" y="1891437"/>
              <a:ext cx="4677410" cy="2642235"/>
            </a:xfrm>
            <a:custGeom>
              <a:avLst/>
              <a:gdLst/>
              <a:ahLst/>
              <a:cxnLst/>
              <a:rect l="l" t="t" r="r" b="b"/>
              <a:pathLst>
                <a:path w="4677410" h="2642235">
                  <a:moveTo>
                    <a:pt x="0" y="0"/>
                  </a:moveTo>
                  <a:lnTo>
                    <a:pt x="4676875" y="0"/>
                  </a:lnTo>
                  <a:lnTo>
                    <a:pt x="4676875" y="2641749"/>
                  </a:lnTo>
                  <a:lnTo>
                    <a:pt x="0" y="26417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01567" y="87885"/>
            <a:ext cx="3787140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i="1" spc="-60" dirty="0">
                <a:latin typeface="Lato"/>
                <a:cs typeface="Lato"/>
              </a:rPr>
              <a:t>Few-</a:t>
            </a:r>
            <a:r>
              <a:rPr sz="1867" b="1" i="1" spc="-27" dirty="0">
                <a:latin typeface="Lato"/>
                <a:cs typeface="Lato"/>
              </a:rPr>
              <a:t>shot</a:t>
            </a:r>
            <a:r>
              <a:rPr sz="1867" b="1" i="1" spc="-13" dirty="0">
                <a:latin typeface="Lato"/>
                <a:cs typeface="Lato"/>
              </a:rPr>
              <a:t> </a:t>
            </a:r>
            <a:r>
              <a:rPr sz="1867" b="1" i="1" spc="-33" dirty="0">
                <a:latin typeface="Lato"/>
                <a:cs typeface="Lato"/>
              </a:rPr>
              <a:t>In-context</a:t>
            </a:r>
            <a:r>
              <a:rPr sz="1867" b="1" i="1" spc="-7" dirty="0">
                <a:latin typeface="Lato"/>
                <a:cs typeface="Lato"/>
              </a:rPr>
              <a:t> </a:t>
            </a:r>
            <a:r>
              <a:rPr sz="1867" b="1" i="1" spc="-13" dirty="0">
                <a:latin typeface="Lato"/>
                <a:cs typeface="Lato"/>
              </a:rPr>
              <a:t>Learning</a:t>
            </a:r>
            <a:r>
              <a:rPr sz="1867" b="1" i="1" spc="-7" dirty="0">
                <a:latin typeface="Lato"/>
                <a:cs typeface="Lato"/>
              </a:rPr>
              <a:t> </a:t>
            </a:r>
            <a:r>
              <a:rPr sz="1867" b="1" i="1" spc="-13" dirty="0">
                <a:latin typeface="Lato"/>
                <a:cs typeface="Lato"/>
              </a:rPr>
              <a:t>example</a:t>
            </a:r>
            <a:endParaRPr sz="1867" dirty="0">
              <a:latin typeface="Lato"/>
              <a:cs typeface="La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91532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50799">
              <a:spcBef>
                <a:spcPts val="113"/>
              </a:spcBef>
            </a:pPr>
            <a:fld id="{81D60167-4931-47E6-BA6A-407CBD079E47}" type="slidenum">
              <a:rPr spc="-33" dirty="0"/>
              <a:pPr marL="50799">
                <a:spcBef>
                  <a:spcPts val="113"/>
                </a:spcBef>
              </a:pPr>
              <a:t>48</a:t>
            </a:fld>
            <a:endParaRPr spc="-33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896" y="983361"/>
            <a:ext cx="2258695" cy="277495"/>
          </a:xfrm>
          <a:prstGeom prst="rect">
            <a:avLst/>
          </a:prstGeom>
          <a:solidFill>
            <a:srgbClr val="ED1A5E"/>
          </a:solidFill>
        </p:spPr>
        <p:txBody>
          <a:bodyPr vert="horz" wrap="square" lIns="0" tIns="31750" rIns="0" bIns="0" rtlCol="0">
            <a:spAutoFit/>
          </a:bodyPr>
          <a:lstStyle/>
          <a:p>
            <a:pPr marL="358775">
              <a:lnSpc>
                <a:spcPct val="100000"/>
              </a:lnSpc>
              <a:spcBef>
                <a:spcPts val="25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Context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Window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950" y="1445613"/>
            <a:ext cx="1605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Input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Size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925" y="2603933"/>
            <a:ext cx="5842635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Gulim"/>
                <a:cs typeface="Gulim"/>
              </a:rPr>
              <a:t>마이크로소프트</a:t>
            </a:r>
            <a:r>
              <a:rPr sz="1800" dirty="0">
                <a:latin typeface="Arial"/>
                <a:cs typeface="Arial"/>
              </a:rPr>
              <a:t>(MS)</a:t>
            </a:r>
            <a:r>
              <a:rPr sz="1800" dirty="0">
                <a:latin typeface="Gulim"/>
                <a:cs typeface="Gulim"/>
              </a:rPr>
              <a:t>가</a:t>
            </a:r>
            <a:r>
              <a:rPr sz="1800" spc="-114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롱넷</a:t>
            </a:r>
            <a:r>
              <a:rPr sz="1800" dirty="0">
                <a:latin typeface="Arial"/>
                <a:cs typeface="Arial"/>
              </a:rPr>
              <a:t>(LongNet)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트랜스포머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모델을 </a:t>
            </a:r>
            <a:r>
              <a:rPr sz="1800" dirty="0">
                <a:latin typeface="Gulim"/>
                <a:cs typeface="Gulim"/>
              </a:rPr>
              <a:t>도입하여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10</a:t>
            </a:r>
            <a:r>
              <a:rPr sz="1800" dirty="0">
                <a:latin typeface="Gulim"/>
                <a:cs typeface="Gulim"/>
              </a:rPr>
              <a:t>억</a:t>
            </a:r>
            <a:r>
              <a:rPr sz="1800" spc="-10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토큰의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컨텍스트를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0.5</a:t>
            </a:r>
            <a:r>
              <a:rPr sz="1800" dirty="0">
                <a:latin typeface="Gulim"/>
                <a:cs typeface="Gulim"/>
              </a:rPr>
              <a:t>초에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처리하고 </a:t>
            </a:r>
            <a:r>
              <a:rPr sz="1800" dirty="0">
                <a:latin typeface="Gulim"/>
                <a:cs typeface="Gulim"/>
              </a:rPr>
              <a:t>기하급수적인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비용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증가를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선형으로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개선함</a:t>
            </a:r>
            <a:r>
              <a:rPr sz="1800" dirty="0">
                <a:latin typeface="Arial"/>
                <a:cs typeface="Arial"/>
              </a:rPr>
              <a:t>. </a:t>
            </a:r>
            <a:r>
              <a:rPr sz="1800" dirty="0">
                <a:latin typeface="Gulim"/>
                <a:cs typeface="Gulim"/>
              </a:rPr>
              <a:t>토큰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수가 </a:t>
            </a:r>
            <a:r>
              <a:rPr sz="1800" dirty="0">
                <a:latin typeface="Gulim"/>
                <a:cs typeface="Gulim"/>
              </a:rPr>
              <a:t>증가하면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비용이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증가하며</a:t>
            </a:r>
            <a:r>
              <a:rPr sz="1800" dirty="0">
                <a:latin typeface="Arial"/>
                <a:cs typeface="Arial"/>
              </a:rPr>
              <a:t>, </a:t>
            </a:r>
            <a:r>
              <a:rPr sz="1800" dirty="0">
                <a:latin typeface="Gulim"/>
                <a:cs typeface="Gulim"/>
              </a:rPr>
              <a:t>롱넷을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통해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저렴한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비용으로 </a:t>
            </a:r>
            <a:r>
              <a:rPr sz="1800" dirty="0">
                <a:latin typeface="Gulim"/>
                <a:cs typeface="Gulim"/>
              </a:rPr>
              <a:t>해리포터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1000</a:t>
            </a:r>
            <a:r>
              <a:rPr sz="1800" dirty="0">
                <a:latin typeface="Gulim"/>
                <a:cs typeface="Gulim"/>
              </a:rPr>
              <a:t>권을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0.5</a:t>
            </a:r>
            <a:r>
              <a:rPr sz="1800" dirty="0">
                <a:latin typeface="Gulim"/>
                <a:cs typeface="Gulim"/>
              </a:rPr>
              <a:t>초에</a:t>
            </a:r>
            <a:r>
              <a:rPr sz="1800" spc="-10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처리할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수</a:t>
            </a:r>
            <a:r>
              <a:rPr sz="1800" spc="-10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있게</a:t>
            </a:r>
            <a:r>
              <a:rPr sz="1800" spc="-10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되었다</a:t>
            </a:r>
            <a:r>
              <a:rPr sz="1800" dirty="0">
                <a:latin typeface="Arial"/>
                <a:cs typeface="Arial"/>
              </a:rPr>
              <a:t>. </a:t>
            </a:r>
            <a:r>
              <a:rPr sz="1800" spc="-50" dirty="0">
                <a:latin typeface="Gulim"/>
                <a:cs typeface="Gulim"/>
              </a:rPr>
              <a:t>큰 </a:t>
            </a:r>
            <a:r>
              <a:rPr sz="1800" dirty="0">
                <a:latin typeface="Gulim"/>
                <a:cs typeface="Gulim"/>
              </a:rPr>
              <a:t>컨텍스트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창은</a:t>
            </a:r>
            <a:r>
              <a:rPr sz="1800" spc="-105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LLM </a:t>
            </a:r>
            <a:r>
              <a:rPr sz="1800" dirty="0">
                <a:latin typeface="Gulim"/>
                <a:cs typeface="Gulim"/>
              </a:rPr>
              <a:t>성능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향상과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학습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기능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강화에 </a:t>
            </a:r>
            <a:r>
              <a:rPr sz="1800" dirty="0">
                <a:latin typeface="Gulim"/>
                <a:cs typeface="Gulim"/>
              </a:rPr>
              <a:t>기여하며</a:t>
            </a:r>
            <a:r>
              <a:rPr sz="1800" dirty="0">
                <a:latin typeface="Arial"/>
                <a:cs typeface="Arial"/>
              </a:rPr>
              <a:t>, </a:t>
            </a:r>
            <a:r>
              <a:rPr sz="1800" dirty="0">
                <a:latin typeface="Gulim"/>
                <a:cs typeface="Gulim"/>
              </a:rPr>
              <a:t>컨텍스트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내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학습이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더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나은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답변을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가능하게 </a:t>
            </a:r>
            <a:r>
              <a:rPr sz="1800" spc="-25" dirty="0">
                <a:latin typeface="Gulim"/>
                <a:cs typeface="Gulim"/>
              </a:rPr>
              <a:t>함</a:t>
            </a:r>
            <a:r>
              <a:rPr sz="1800" spc="-25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5225" y="66929"/>
            <a:ext cx="4629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ulim"/>
                <a:cs typeface="Gulim"/>
              </a:rPr>
              <a:t>출처</a:t>
            </a:r>
            <a:r>
              <a:rPr sz="1200" spc="-75" dirty="0">
                <a:latin typeface="Gulim"/>
                <a:cs typeface="Gulim"/>
              </a:rPr>
              <a:t> 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  <a:hlinkClick r:id="rId2"/>
              </a:rPr>
              <a:t>https://www.aitimes.com/news/articleView.html?idxno=152588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97350" y="1468575"/>
            <a:ext cx="4810725" cy="45988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1425"/>
              </a:lnSpc>
            </a:pPr>
            <a:r>
              <a:rPr dirty="0"/>
              <a:t>ChatGPT</a:t>
            </a:r>
            <a:r>
              <a:rPr spc="-50" dirty="0"/>
              <a:t> </a:t>
            </a:r>
            <a:r>
              <a:rPr dirty="0"/>
              <a:t>Prompt</a:t>
            </a:r>
            <a:r>
              <a:rPr spc="-25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dirty="0"/>
              <a:t>Research</a:t>
            </a:r>
            <a:r>
              <a:rPr spc="-25" dirty="0"/>
              <a:t> </a:t>
            </a:r>
            <a:r>
              <a:rPr dirty="0"/>
              <a:t>LAB</a:t>
            </a:r>
            <a:r>
              <a:rPr spc="-30" dirty="0"/>
              <a:t> </a:t>
            </a:r>
            <a:r>
              <a:rPr dirty="0"/>
              <a:t>Leader</a:t>
            </a:r>
            <a:r>
              <a:rPr spc="-45" dirty="0"/>
              <a:t> </a:t>
            </a:r>
            <a:r>
              <a:rPr spc="-30" dirty="0"/>
              <a:t>TAE</a:t>
            </a:r>
            <a:r>
              <a:rPr spc="-45" dirty="0"/>
              <a:t> </a:t>
            </a:r>
            <a:r>
              <a:rPr dirty="0"/>
              <a:t>YOUNG</a:t>
            </a:r>
            <a:r>
              <a:rPr spc="-25" dirty="0"/>
              <a:t> LEE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896" y="983361"/>
            <a:ext cx="2258695" cy="277495"/>
          </a:xfrm>
          <a:prstGeom prst="rect">
            <a:avLst/>
          </a:prstGeom>
          <a:solidFill>
            <a:srgbClr val="ED1A5E"/>
          </a:solidFill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200" b="1" dirty="0">
                <a:solidFill>
                  <a:srgbClr val="FFFFFF"/>
                </a:solidFill>
                <a:latin typeface="Gulim"/>
                <a:cs typeface="Gulim"/>
              </a:rPr>
              <a:t>출현</a:t>
            </a:r>
            <a:r>
              <a:rPr sz="1200" b="1" spc="-15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Gulim"/>
                <a:cs typeface="Gulim"/>
              </a:rPr>
              <a:t>배경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530335"/>
            <a:ext cx="3083560" cy="350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InstructGPT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63324" y="66929"/>
            <a:ext cx="395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ulim"/>
                <a:cs typeface="Gulim"/>
              </a:rPr>
              <a:t>출처</a:t>
            </a:r>
            <a:r>
              <a:rPr sz="1200" spc="-10" dirty="0">
                <a:latin typeface="Gulim"/>
                <a:cs typeface="Gulim"/>
              </a:rPr>
              <a:t> 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  <a:hlinkClick r:id="rId2"/>
              </a:rPr>
              <a:t>https://velog.io/@mmodestaa/InstructGPT-ChatGPT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1425"/>
              </a:lnSpc>
            </a:pPr>
            <a:r>
              <a:rPr dirty="0"/>
              <a:t>ChatGPT</a:t>
            </a:r>
            <a:r>
              <a:rPr spc="-50" dirty="0"/>
              <a:t> </a:t>
            </a:r>
            <a:r>
              <a:rPr dirty="0"/>
              <a:t>Prompt</a:t>
            </a:r>
            <a:r>
              <a:rPr spc="-25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dirty="0"/>
              <a:t>Research</a:t>
            </a:r>
            <a:r>
              <a:rPr spc="-25" dirty="0"/>
              <a:t> </a:t>
            </a:r>
            <a:r>
              <a:rPr dirty="0"/>
              <a:t>LAB</a:t>
            </a:r>
            <a:r>
              <a:rPr spc="-30" dirty="0"/>
              <a:t> </a:t>
            </a:r>
            <a:r>
              <a:rPr dirty="0"/>
              <a:t>Leader</a:t>
            </a:r>
            <a:r>
              <a:rPr spc="-45" dirty="0"/>
              <a:t> </a:t>
            </a:r>
            <a:r>
              <a:rPr spc="-30" dirty="0"/>
              <a:t>TAE</a:t>
            </a:r>
            <a:r>
              <a:rPr spc="-45" dirty="0"/>
              <a:t> </a:t>
            </a:r>
            <a:r>
              <a:rPr dirty="0"/>
              <a:t>YOUNG</a:t>
            </a:r>
            <a:r>
              <a:rPr spc="-25" dirty="0"/>
              <a:t> LEE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8600" y="2209800"/>
            <a:ext cx="1841500" cy="156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Zero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Prompt</a:t>
            </a:r>
            <a:endParaRPr sz="1400" dirty="0">
              <a:latin typeface="Calibri"/>
              <a:cs typeface="Calibri"/>
            </a:endParaRPr>
          </a:p>
          <a:p>
            <a:pPr marL="31750" marR="558165" indent="-3175">
              <a:lnSpc>
                <a:spcPct val="207399"/>
              </a:lnSpc>
            </a:pPr>
            <a:r>
              <a:rPr sz="1400" dirty="0">
                <a:latin typeface="Calibri"/>
                <a:cs typeface="Calibri"/>
              </a:rPr>
              <a:t>One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Prompt </a:t>
            </a:r>
            <a:r>
              <a:rPr sz="1400" dirty="0">
                <a:latin typeface="Calibri"/>
                <a:cs typeface="Calibri"/>
              </a:rPr>
              <a:t>Few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Prompt</a:t>
            </a:r>
            <a:endParaRPr sz="1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Chain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Thought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Prompt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164DF5F-8985-460F-B31C-0E94981420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3600" y="1260856"/>
            <a:ext cx="9976157" cy="448754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896" y="983361"/>
            <a:ext cx="2258695" cy="277495"/>
          </a:xfrm>
          <a:prstGeom prst="rect">
            <a:avLst/>
          </a:prstGeom>
          <a:solidFill>
            <a:srgbClr val="ED1A5E"/>
          </a:solidFill>
        </p:spPr>
        <p:txBody>
          <a:bodyPr vert="horz" wrap="square" lIns="0" tIns="31750" rIns="0" bIns="0" rtlCol="0">
            <a:spAutoFit/>
          </a:bodyPr>
          <a:lstStyle/>
          <a:p>
            <a:pPr marL="465455">
              <a:lnSpc>
                <a:spcPct val="100000"/>
              </a:lnSpc>
              <a:spcBef>
                <a:spcPts val="25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Instruction Tuning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950" y="1449240"/>
            <a:ext cx="2620645" cy="420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spc="-10" dirty="0">
                <a:latin typeface="Arial"/>
                <a:cs typeface="Arial"/>
              </a:rPr>
              <a:t>Instruction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Tuning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66150" y="66929"/>
            <a:ext cx="78905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ulim"/>
                <a:cs typeface="Gulim"/>
              </a:rPr>
              <a:t>출처</a:t>
            </a:r>
            <a:r>
              <a:rPr sz="1200" spc="-95" dirty="0">
                <a:latin typeface="Gulim"/>
                <a:cs typeface="Gulim"/>
              </a:rPr>
              <a:t> 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Wei,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Jason,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al.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"Finetuned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language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zero-</a:t>
            </a:r>
            <a:r>
              <a:rPr sz="1200" dirty="0">
                <a:latin typeface="Arial"/>
                <a:cs typeface="Arial"/>
              </a:rPr>
              <a:t>shot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learners."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arXiv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preprint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arXiv:2109.01652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(2021)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193" y="2296108"/>
            <a:ext cx="5551805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14999"/>
              </a:lnSpc>
              <a:spcBef>
                <a:spcPts val="100"/>
              </a:spcBef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Instruction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을</a:t>
            </a:r>
            <a:r>
              <a:rPr sz="1400" spc="-6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통해</a:t>
            </a:r>
            <a:r>
              <a:rPr sz="1400" spc="-3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설명된</a:t>
            </a:r>
            <a:r>
              <a:rPr sz="1400" spc="-1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데이터</a:t>
            </a:r>
            <a:r>
              <a:rPr sz="1400" spc="-1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세트</a:t>
            </a:r>
            <a:r>
              <a:rPr sz="1400" spc="-3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모음에서</a:t>
            </a:r>
            <a:r>
              <a:rPr sz="1400" spc="1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언어</a:t>
            </a:r>
            <a:r>
              <a:rPr sz="1400" spc="-3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모델을</a:t>
            </a:r>
            <a:r>
              <a:rPr sz="1400" spc="-1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Gulim"/>
                <a:cs typeface="Gulim"/>
              </a:rPr>
              <a:t>미세 조정</a:t>
            </a:r>
            <a:endParaRPr sz="1400" dirty="0">
              <a:latin typeface="Gulim"/>
              <a:cs typeface="Guli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193" y="3064204"/>
            <a:ext cx="3357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Unseen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task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에서</a:t>
            </a:r>
            <a:r>
              <a:rPr sz="1400" spc="-4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Zero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성능</a:t>
            </a:r>
            <a:r>
              <a:rPr sz="1400" spc="-4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Gulim"/>
                <a:cs typeface="Gulim"/>
              </a:rPr>
              <a:t>개선</a:t>
            </a:r>
            <a:endParaRPr sz="1400" dirty="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193" y="3522928"/>
            <a:ext cx="538162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marR="5080" indent="-334010" algn="just">
              <a:lnSpc>
                <a:spcPct val="114999"/>
              </a:lnSpc>
              <a:spcBef>
                <a:spcPts val="100"/>
              </a:spcBef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Instruction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Tuning</a:t>
            </a:r>
            <a:r>
              <a:rPr sz="1400" spc="-10" dirty="0">
                <a:solidFill>
                  <a:srgbClr val="595959"/>
                </a:solidFill>
                <a:latin typeface="Gulim"/>
                <a:cs typeface="Gulim"/>
              </a:rPr>
              <a:t>는</a:t>
            </a:r>
            <a:r>
              <a:rPr sz="1400" spc="-8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Instruction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으로</a:t>
            </a:r>
            <a:r>
              <a:rPr sz="1400" spc="-6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표현된</a:t>
            </a:r>
            <a:r>
              <a:rPr sz="1400" spc="-3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mixture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로</a:t>
            </a:r>
            <a:r>
              <a:rPr sz="1400" spc="-8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Gulim"/>
                <a:cs typeface="Gulim"/>
              </a:rPr>
              <a:t>사전 	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학습된</a:t>
            </a:r>
            <a:r>
              <a:rPr sz="1400" spc="-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언어</a:t>
            </a:r>
            <a:r>
              <a:rPr sz="1400" spc="-2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모델을</a:t>
            </a:r>
            <a:r>
              <a:rPr sz="1400" spc="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튜닝하며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추론</a:t>
            </a:r>
            <a:r>
              <a:rPr sz="1400" spc="-2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시에는</a:t>
            </a:r>
            <a:r>
              <a:rPr sz="1400" spc="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unseen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작업</a:t>
            </a:r>
            <a:r>
              <a:rPr sz="1400" spc="-2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Gulim"/>
                <a:cs typeface="Gulim"/>
              </a:rPr>
              <a:t>유형을 	평가</a:t>
            </a:r>
            <a:endParaRPr sz="1400" dirty="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193" y="4504384"/>
            <a:ext cx="5651500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5080" indent="-336550">
              <a:lnSpc>
                <a:spcPct val="114999"/>
              </a:lnSpc>
              <a:spcBef>
                <a:spcPts val="100"/>
              </a:spcBef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가지</a:t>
            </a:r>
            <a:r>
              <a:rPr sz="1400" spc="-3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unseen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작업</a:t>
            </a:r>
            <a:r>
              <a:rPr sz="1400" spc="-2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유형에</a:t>
            </a:r>
            <a:r>
              <a:rPr sz="1400" spc="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대해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zero-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shot,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few-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shot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GPT-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1400" spc="-25" dirty="0">
                <a:solidFill>
                  <a:srgbClr val="595959"/>
                </a:solidFill>
                <a:latin typeface="Gulim"/>
                <a:cs typeface="Gulim"/>
              </a:rPr>
              <a:t>과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비교하여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zero-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FLAN(Finetuned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Net)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의</a:t>
            </a:r>
            <a:r>
              <a:rPr sz="1400" spc="-6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성능을</a:t>
            </a:r>
            <a:r>
              <a:rPr sz="1400" spc="-2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Gulim"/>
                <a:cs typeface="Gulim"/>
              </a:rPr>
              <a:t>평가</a:t>
            </a:r>
            <a:endParaRPr sz="1400" dirty="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193" y="5272480"/>
            <a:ext cx="24777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작은</a:t>
            </a:r>
            <a:r>
              <a:rPr sz="1400" spc="-3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LLM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에서도</a:t>
            </a:r>
            <a:r>
              <a:rPr sz="1400" spc="-5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595959"/>
                </a:solidFill>
                <a:latin typeface="Gulim"/>
                <a:cs typeface="Gulim"/>
              </a:rPr>
              <a:t>좋은</a:t>
            </a:r>
            <a:r>
              <a:rPr sz="1400" spc="-30" dirty="0">
                <a:solidFill>
                  <a:srgbClr val="595959"/>
                </a:solidFill>
                <a:latin typeface="Gulim"/>
                <a:cs typeface="Gulim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Gulim"/>
                <a:cs typeface="Gulim"/>
              </a:rPr>
              <a:t>성능</a:t>
            </a:r>
            <a:endParaRPr sz="14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62599" y="2053875"/>
            <a:ext cx="1117600" cy="519430"/>
          </a:xfrm>
          <a:prstGeom prst="rect">
            <a:avLst/>
          </a:prstGeom>
          <a:solidFill>
            <a:srgbClr val="E7E6E6"/>
          </a:solidFill>
          <a:ln w="9524">
            <a:solidFill>
              <a:srgbClr val="44546A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367665">
              <a:lnSpc>
                <a:spcPct val="100000"/>
              </a:lnSpc>
              <a:spcBef>
                <a:spcPts val="885"/>
              </a:spcBef>
            </a:pPr>
            <a:r>
              <a:rPr sz="1800" spc="-25" dirty="0">
                <a:latin typeface="Calibri"/>
                <a:cs typeface="Calibri"/>
              </a:rPr>
              <a:t>LMs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2274" y="2909699"/>
            <a:ext cx="2667000" cy="1078230"/>
          </a:xfrm>
          <a:prstGeom prst="rect">
            <a:avLst/>
          </a:prstGeom>
          <a:solidFill>
            <a:srgbClr val="E7E6E6"/>
          </a:solidFill>
          <a:ln w="9524">
            <a:solidFill>
              <a:srgbClr val="44546A"/>
            </a:solidFill>
          </a:ln>
        </p:spPr>
        <p:txBody>
          <a:bodyPr vert="horz" wrap="square" lIns="0" tIns="113665" rIns="0" bIns="0" rtlCol="0">
            <a:spAutoFit/>
          </a:bodyPr>
          <a:lstStyle/>
          <a:p>
            <a:pPr marL="165100" marR="157480" algn="ctr">
              <a:lnSpc>
                <a:spcPct val="100699"/>
              </a:lnSpc>
              <a:spcBef>
                <a:spcPts val="895"/>
              </a:spcBef>
            </a:pPr>
            <a:r>
              <a:rPr sz="1800" spc="-25" dirty="0">
                <a:latin typeface="Calibri"/>
                <a:cs typeface="Calibri"/>
              </a:rPr>
              <a:t>Task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</a:t>
            </a:r>
            <a:r>
              <a:rPr sz="1800" spc="-25" dirty="0">
                <a:latin typeface="Gulim"/>
                <a:cs typeface="Gulim"/>
              </a:rPr>
              <a:t>의 </a:t>
            </a:r>
            <a:r>
              <a:rPr sz="1800" spc="-10" dirty="0">
                <a:latin typeface="Calibri"/>
                <a:cs typeface="Calibri"/>
              </a:rPr>
              <a:t>instructions/templates</a:t>
            </a:r>
            <a:r>
              <a:rPr sz="1800" spc="-10" dirty="0">
                <a:latin typeface="Gulim"/>
                <a:cs typeface="Gulim"/>
              </a:rPr>
              <a:t>로 </a:t>
            </a:r>
            <a:r>
              <a:rPr sz="1800" spc="-20" dirty="0">
                <a:latin typeface="Calibri"/>
                <a:cs typeface="Calibri"/>
              </a:rPr>
              <a:t>LM</a:t>
            </a:r>
            <a:r>
              <a:rPr sz="1800" spc="-20" dirty="0">
                <a:latin typeface="Gulim"/>
                <a:cs typeface="Gulim"/>
              </a:rPr>
              <a:t>학습</a:t>
            </a:r>
            <a:endParaRPr sz="1800" dirty="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45625" y="4246700"/>
            <a:ext cx="2258695" cy="519430"/>
          </a:xfrm>
          <a:prstGeom prst="rect">
            <a:avLst/>
          </a:prstGeom>
          <a:solidFill>
            <a:srgbClr val="E7E6E6"/>
          </a:solidFill>
          <a:ln w="9524">
            <a:solidFill>
              <a:srgbClr val="44546A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885"/>
              </a:spcBef>
            </a:pPr>
            <a:r>
              <a:rPr sz="1800" spc="-25" dirty="0">
                <a:latin typeface="Calibri"/>
                <a:cs typeface="Calibri"/>
              </a:rPr>
              <a:t>Task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dirty="0">
                <a:latin typeface="Gulim"/>
                <a:cs typeface="Gulim"/>
              </a:rPr>
              <a:t>에</a:t>
            </a:r>
            <a:r>
              <a:rPr sz="1800" spc="-19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대해</a:t>
            </a:r>
            <a:r>
              <a:rPr sz="1800" spc="-195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추론</a:t>
            </a:r>
            <a:endParaRPr sz="1800" dirty="0">
              <a:latin typeface="Gulim"/>
              <a:cs typeface="Gulim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16587" y="2568412"/>
            <a:ext cx="1249680" cy="332740"/>
            <a:chOff x="8416587" y="2568412"/>
            <a:chExt cx="1249680" cy="332740"/>
          </a:xfrm>
        </p:grpSpPr>
        <p:sp>
          <p:nvSpPr>
            <p:cNvPr id="14" name="object 14"/>
            <p:cNvSpPr/>
            <p:nvPr/>
          </p:nvSpPr>
          <p:spPr>
            <a:xfrm>
              <a:off x="8421350" y="2573174"/>
              <a:ext cx="1224915" cy="280035"/>
            </a:xfrm>
            <a:custGeom>
              <a:avLst/>
              <a:gdLst/>
              <a:ahLst/>
              <a:cxnLst/>
              <a:rect l="l" t="t" r="r" b="b"/>
              <a:pathLst>
                <a:path w="1224915" h="280035">
                  <a:moveTo>
                    <a:pt x="0" y="0"/>
                  </a:moveTo>
                  <a:lnTo>
                    <a:pt x="0" y="168262"/>
                  </a:lnTo>
                  <a:lnTo>
                    <a:pt x="1224299" y="168262"/>
                  </a:lnTo>
                  <a:lnTo>
                    <a:pt x="1224299" y="279449"/>
                  </a:lnTo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29917" y="28526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29917" y="28526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9640862" y="3982837"/>
            <a:ext cx="1155065" cy="255270"/>
            <a:chOff x="9640862" y="3982837"/>
            <a:chExt cx="1155065" cy="255270"/>
          </a:xfrm>
        </p:grpSpPr>
        <p:sp>
          <p:nvSpPr>
            <p:cNvPr id="18" name="object 18"/>
            <p:cNvSpPr/>
            <p:nvPr/>
          </p:nvSpPr>
          <p:spPr>
            <a:xfrm>
              <a:off x="9645625" y="3987600"/>
              <a:ext cx="1129665" cy="202565"/>
            </a:xfrm>
            <a:custGeom>
              <a:avLst/>
              <a:gdLst/>
              <a:ahLst/>
              <a:cxnLst/>
              <a:rect l="l" t="t" r="r" b="b"/>
              <a:pathLst>
                <a:path w="1129665" h="202564">
                  <a:moveTo>
                    <a:pt x="0" y="0"/>
                  </a:moveTo>
                  <a:lnTo>
                    <a:pt x="0" y="129550"/>
                  </a:lnTo>
                  <a:lnTo>
                    <a:pt x="1129199" y="129550"/>
                  </a:lnTo>
                  <a:lnTo>
                    <a:pt x="1129199" y="202049"/>
                  </a:lnTo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59092" y="418965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59092" y="418965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0090" y="4868051"/>
            <a:ext cx="5225177" cy="1371608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1425"/>
              </a:lnSpc>
            </a:pPr>
            <a:r>
              <a:rPr dirty="0"/>
              <a:t>ChatGPT</a:t>
            </a:r>
            <a:r>
              <a:rPr spc="-50" dirty="0"/>
              <a:t> </a:t>
            </a:r>
            <a:r>
              <a:rPr dirty="0"/>
              <a:t>Prompt</a:t>
            </a:r>
            <a:r>
              <a:rPr spc="-25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dirty="0"/>
              <a:t>Research</a:t>
            </a:r>
            <a:r>
              <a:rPr spc="-25" dirty="0"/>
              <a:t> </a:t>
            </a:r>
            <a:r>
              <a:rPr dirty="0"/>
              <a:t>LAB</a:t>
            </a:r>
            <a:r>
              <a:rPr spc="-30" dirty="0"/>
              <a:t> </a:t>
            </a:r>
            <a:r>
              <a:rPr dirty="0"/>
              <a:t>Leader</a:t>
            </a:r>
            <a:r>
              <a:rPr spc="-45" dirty="0"/>
              <a:t> </a:t>
            </a:r>
            <a:r>
              <a:rPr spc="-30" dirty="0"/>
              <a:t>TAE</a:t>
            </a:r>
            <a:r>
              <a:rPr spc="-45" dirty="0"/>
              <a:t> </a:t>
            </a:r>
            <a:r>
              <a:rPr dirty="0"/>
              <a:t>YOUNG</a:t>
            </a:r>
            <a:r>
              <a:rPr spc="-25" dirty="0"/>
              <a:t> LEE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3896" y="983361"/>
            <a:ext cx="2258695" cy="277495"/>
          </a:xfrm>
          <a:prstGeom prst="rect">
            <a:avLst/>
          </a:prstGeom>
          <a:solidFill>
            <a:srgbClr val="ED1A5E"/>
          </a:solidFill>
        </p:spPr>
        <p:txBody>
          <a:bodyPr vert="horz" wrap="square" lIns="0" tIns="31750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25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sz="1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200" b="1" dirty="0">
                <a:solidFill>
                  <a:srgbClr val="FFFFFF"/>
                </a:solidFill>
                <a:latin typeface="Gulim"/>
                <a:cs typeface="Gulim"/>
              </a:rPr>
              <a:t>의</a:t>
            </a:r>
            <a:r>
              <a:rPr sz="1200" b="1" spc="-80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Gulim"/>
                <a:cs typeface="Gulim"/>
              </a:rPr>
              <a:t>중요성</a:t>
            </a:r>
            <a:endParaRPr sz="1200" dirty="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49575" y="66929"/>
            <a:ext cx="4370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ulim"/>
                <a:cs typeface="Gulim"/>
              </a:rPr>
              <a:t>출처</a:t>
            </a:r>
            <a:r>
              <a:rPr sz="1200" spc="-75" dirty="0">
                <a:latin typeface="Gulim"/>
                <a:cs typeface="Gulim"/>
              </a:rPr>
              <a:t> 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-10" dirty="0">
                <a:latin typeface="Arial"/>
                <a:cs typeface="Arial"/>
              </a:rPr>
              <a:t> https://twitter.com/karpathy/status/1655994367033884672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945" y="1584689"/>
            <a:ext cx="11010616" cy="43930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>
              <a:lnSpc>
                <a:spcPts val="1425"/>
              </a:lnSpc>
            </a:pPr>
            <a:r>
              <a:rPr dirty="0"/>
              <a:t>ChatGPT</a:t>
            </a:r>
            <a:r>
              <a:rPr spc="-50" dirty="0"/>
              <a:t> </a:t>
            </a:r>
            <a:r>
              <a:rPr dirty="0"/>
              <a:t>Prompt</a:t>
            </a:r>
            <a:r>
              <a:rPr spc="-25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dirty="0"/>
              <a:t>Research</a:t>
            </a:r>
            <a:r>
              <a:rPr spc="-25" dirty="0"/>
              <a:t> </a:t>
            </a:r>
            <a:r>
              <a:rPr dirty="0"/>
              <a:t>LAB</a:t>
            </a:r>
            <a:r>
              <a:rPr spc="-30" dirty="0"/>
              <a:t> </a:t>
            </a:r>
            <a:r>
              <a:rPr dirty="0"/>
              <a:t>Leader</a:t>
            </a:r>
            <a:r>
              <a:rPr spc="-45" dirty="0"/>
              <a:t> </a:t>
            </a:r>
            <a:r>
              <a:rPr spc="-30" dirty="0"/>
              <a:t>TAE</a:t>
            </a:r>
            <a:r>
              <a:rPr spc="-45" dirty="0"/>
              <a:t> </a:t>
            </a:r>
            <a:r>
              <a:rPr dirty="0"/>
              <a:t>YOUNG</a:t>
            </a:r>
            <a:r>
              <a:rPr spc="-25" dirty="0"/>
              <a:t> LEE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3647</Words>
  <Application>Microsoft Office PowerPoint</Application>
  <PresentationFormat>와이드스크린</PresentationFormat>
  <Paragraphs>577</Paragraphs>
  <Slides>52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7" baseType="lpstr">
      <vt:lpstr>Jost SemiBold</vt:lpstr>
      <vt:lpstr>Gulim</vt:lpstr>
      <vt:lpstr>Malgun Gothic</vt:lpstr>
      <vt:lpstr>Malgun Gothic</vt:lpstr>
      <vt:lpstr>Arial</vt:lpstr>
      <vt:lpstr>Calibri</vt:lpstr>
      <vt:lpstr>Cambria Math</vt:lpstr>
      <vt:lpstr>Century Gothic</vt:lpstr>
      <vt:lpstr>Lato</vt:lpstr>
      <vt:lpstr>Montserrat</vt:lpstr>
      <vt:lpstr>Montserrat Thin</vt:lpstr>
      <vt:lpstr>Raleway</vt:lpstr>
      <vt:lpstr>Roboto</vt:lpstr>
      <vt:lpstr>Tahoma</vt:lpstr>
      <vt:lpstr>Office Theme</vt:lpstr>
      <vt:lpstr>차별성 1 – 독보적인 성능</vt:lpstr>
      <vt:lpstr>PowerPoint 프레젠테이션</vt:lpstr>
      <vt:lpstr>Generative AI: Your Mileage May Vary</vt:lpstr>
      <vt:lpstr>State of the Art (2/2) Generative AI: Know Your Use Case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Abstract</vt:lpstr>
      <vt:lpstr>GPT-3: Larger model</vt:lpstr>
      <vt:lpstr>GPT-3: Performance</vt:lpstr>
      <vt:lpstr>PET: Without Knowledge Distillation</vt:lpstr>
      <vt:lpstr>iPET</vt:lpstr>
      <vt:lpstr>PET vs. GPT-3</vt:lpstr>
      <vt:lpstr>LLaMA 2 - Model Evaluations</vt:lpstr>
      <vt:lpstr>PowerPoint 프레젠테이션</vt:lpstr>
      <vt:lpstr>PowerPoint 프레젠테이션</vt:lpstr>
      <vt:lpstr>InstructGPT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준호</cp:lastModifiedBy>
  <cp:revision>20</cp:revision>
  <dcterms:created xsi:type="dcterms:W3CDTF">2025-05-29T02:33:22Z</dcterms:created>
  <dcterms:modified xsi:type="dcterms:W3CDTF">2026-05-20T11:25:03Z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2024-10-29T00:00:00Z</vt:filetime>
  </property>
  <property fmtid="{D5CDD505-2E9C-101B-9397-08002B2CF9AE}" pid="3" name="LastSaved">
    <vt:filetime>2025-05-29T00:00:00Z</vt:filetime>
  </property>
</Properties>
</file>